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1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6000"/>
          </a:blip>
          <a:stretch>
            <a:fillRect/>
          </a:stretch>
        </p:blipFill>
        <p:spPr>
          <a:xfrm>
            <a:off x="8138160" y="1554480"/>
            <a:ext cx="5852160" cy="58521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822960"/>
            <a:ext cx="402336" cy="402336"/>
          </a:xfrm>
          <a:prstGeom prst="ellipse">
            <a:avLst/>
          </a:prstGeom>
          <a:solidFill>
            <a:srgbClr val="E23A63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371600" y="786384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MGS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228600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&amp; Operating Costs</a:t>
            </a:r>
            <a:endParaRPr lang="en-US" sz="46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3977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2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costs to run the platform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48006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monthly and one-time costs for the third-party services the app depends on. </a:t>
            </a:r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C9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estimates, not fixed quotes.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to the Technology &amp; Architecture Proposal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September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2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CATALOGUE  ·  1 OF 3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&amp; hosting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MGS</a:t>
            </a:r>
            <a:pPr indent="0" marL="0">
              <a:buNone/>
            </a:pPr>
            <a:r>
              <a:rPr lang="en-US" sz="8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Dating Application — Third-Party &amp; Operating Costs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11057839" cy="548640"/>
          </a:xfrm>
          <a:prstGeom prst="roundRect">
            <a:avLst>
              <a:gd name="adj" fmla="val 15000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874520"/>
            <a:ext cx="365760" cy="365760"/>
          </a:xfrm>
          <a:prstGeom prst="ellipse">
            <a:avLst/>
          </a:prstGeom>
          <a:solidFill>
            <a:srgbClr val="E2F3F3"/>
          </a:solidFill>
          <a:ln w="12700">
            <a:solidFill>
              <a:srgbClr val="0E9AA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275" y="1991563"/>
            <a:ext cx="131674" cy="13167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25296" y="1783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Server / VPS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544568" y="17830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E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 </a:t>
            </a:r>
            <a:pPr indent="0" marL="0">
              <a:buNone/>
            </a:pPr>
            <a:r>
              <a:rPr lang="en-US" sz="9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Application + database server</a:t>
            </a:r>
            <a:endParaRPr lang="en-US" sz="800" dirty="0"/>
          </a:p>
        </p:txBody>
      </p:sp>
      <p:sp>
        <p:nvSpPr>
          <p:cNvPr id="11" name="Text 8"/>
          <p:cNvSpPr txBox="1"/>
          <p:nvPr/>
        </p:nvSpPr>
        <p:spPr>
          <a:xfrm>
            <a:off x="8744407" y="17830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E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$50–$200 / mo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66928" y="2377440"/>
            <a:ext cx="11057839" cy="548640"/>
          </a:xfrm>
          <a:prstGeom prst="roundRect">
            <a:avLst>
              <a:gd name="adj" fmla="val 15000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13232" y="2468880"/>
            <a:ext cx="365760" cy="365760"/>
          </a:xfrm>
          <a:prstGeom prst="ellipse">
            <a:avLst/>
          </a:prstGeom>
          <a:solidFill>
            <a:srgbClr val="E2F3F3"/>
          </a:solidFill>
          <a:ln w="12700">
            <a:solidFill>
              <a:srgbClr val="0E9AA0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275" y="2585923"/>
            <a:ext cx="131674" cy="13167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225296" y="23774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4544568" y="23774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E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 </a:t>
            </a:r>
            <a:pPr indent="0" marL="0">
              <a:buNone/>
            </a:pPr>
            <a:r>
              <a:rPr lang="en-US" sz="9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.com domain</a:t>
            </a:r>
            <a:endParaRPr lang="en-US" sz="800" dirty="0"/>
          </a:p>
        </p:txBody>
      </p:sp>
      <p:sp>
        <p:nvSpPr>
          <p:cNvPr id="17" name="Text 13"/>
          <p:cNvSpPr txBox="1"/>
          <p:nvPr/>
        </p:nvSpPr>
        <p:spPr>
          <a:xfrm>
            <a:off x="8744407" y="23774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E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$10–$30 / yr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566928" y="2971800"/>
            <a:ext cx="11057839" cy="548640"/>
          </a:xfrm>
          <a:prstGeom prst="roundRect">
            <a:avLst>
              <a:gd name="adj" fmla="val 15000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13232" y="3063240"/>
            <a:ext cx="365760" cy="365760"/>
          </a:xfrm>
          <a:prstGeom prst="ellipse">
            <a:avLst/>
          </a:prstGeom>
          <a:solidFill>
            <a:srgbClr val="E2F3F3"/>
          </a:solidFill>
          <a:ln w="12700">
            <a:solidFill>
              <a:srgbClr val="0E9AA0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" y="3180283"/>
            <a:ext cx="131674" cy="13167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225296" y="2971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Certificate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4544568" y="29718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E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 </a:t>
            </a:r>
            <a:pPr indent="0" marL="0">
              <a:buNone/>
            </a:pPr>
            <a:r>
              <a:rPr lang="en-US" sz="9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Let's Encrypt or paid SSL</a:t>
            </a:r>
            <a:endParaRPr lang="en-US" sz="800" dirty="0"/>
          </a:p>
        </p:txBody>
      </p:sp>
      <p:sp>
        <p:nvSpPr>
          <p:cNvPr id="23" name="Text 18"/>
          <p:cNvSpPr txBox="1"/>
          <p:nvPr/>
        </p:nvSpPr>
        <p:spPr>
          <a:xfrm>
            <a:off x="8744407" y="29718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E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$0–$100 / yr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566928" y="3566160"/>
            <a:ext cx="11057839" cy="548640"/>
          </a:xfrm>
          <a:prstGeom prst="roundRect">
            <a:avLst>
              <a:gd name="adj" fmla="val 15000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713232" y="3657600"/>
            <a:ext cx="365760" cy="365760"/>
          </a:xfrm>
          <a:prstGeom prst="ellipse">
            <a:avLst/>
          </a:prstGeom>
          <a:solidFill>
            <a:srgbClr val="E2F3F3"/>
          </a:solidFill>
          <a:ln w="12700">
            <a:solidFill>
              <a:srgbClr val="0E9AA0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" y="3774643"/>
            <a:ext cx="131674" cy="131674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225296" y="35661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</a:t>
            </a:r>
            <a:endParaRPr lang="en-US" sz="1100" dirty="0"/>
          </a:p>
        </p:txBody>
      </p:sp>
      <p:sp>
        <p:nvSpPr>
          <p:cNvPr id="28" name="Text 22"/>
          <p:cNvSpPr txBox="1"/>
          <p:nvPr/>
        </p:nvSpPr>
        <p:spPr>
          <a:xfrm>
            <a:off x="4544568" y="35661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E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 </a:t>
            </a:r>
            <a:pPr indent="0" marL="0">
              <a:buNone/>
            </a:pPr>
            <a:r>
              <a:rPr lang="en-US" sz="9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User photos &amp; videos</a:t>
            </a:r>
            <a:endParaRPr lang="en-US" sz="800" dirty="0"/>
          </a:p>
        </p:txBody>
      </p:sp>
      <p:sp>
        <p:nvSpPr>
          <p:cNvPr id="29" name="Text 23"/>
          <p:cNvSpPr txBox="1"/>
          <p:nvPr/>
        </p:nvSpPr>
        <p:spPr>
          <a:xfrm>
            <a:off x="8744407" y="35661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E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$10–$100+ / mo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566928" y="4160520"/>
            <a:ext cx="11057839" cy="548640"/>
          </a:xfrm>
          <a:prstGeom prst="roundRect">
            <a:avLst>
              <a:gd name="adj" fmla="val 15000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713232" y="4251960"/>
            <a:ext cx="365760" cy="365760"/>
          </a:xfrm>
          <a:prstGeom prst="ellipse">
            <a:avLst/>
          </a:prstGeom>
          <a:solidFill>
            <a:srgbClr val="E2F3F3"/>
          </a:solidFill>
          <a:ln w="12700">
            <a:solidFill>
              <a:srgbClr val="0E9AA0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275" y="4369003"/>
            <a:ext cx="131674" cy="131674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1225296" y="41605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 / Security</a:t>
            </a:r>
            <a:endParaRPr lang="en-US" sz="1100" dirty="0"/>
          </a:p>
        </p:txBody>
      </p:sp>
      <p:sp>
        <p:nvSpPr>
          <p:cNvPr id="34" name="Text 27"/>
          <p:cNvSpPr txBox="1"/>
          <p:nvPr/>
        </p:nvSpPr>
        <p:spPr>
          <a:xfrm>
            <a:off x="4544568" y="41605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E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 </a:t>
            </a:r>
            <a:pPr indent="0" marL="0">
              <a:buNone/>
            </a:pPr>
            <a:r>
              <a:rPr lang="en-US" sz="9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CDN, DDoS protection, WAF</a:t>
            </a:r>
            <a:endParaRPr lang="en-US" sz="800" dirty="0"/>
          </a:p>
        </p:txBody>
      </p:sp>
      <p:sp>
        <p:nvSpPr>
          <p:cNvPr id="35" name="Text 28"/>
          <p:cNvSpPr txBox="1"/>
          <p:nvPr/>
        </p:nvSpPr>
        <p:spPr>
          <a:xfrm>
            <a:off x="8744407" y="41605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E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$0–$100 / mo</a:t>
            </a:r>
            <a:endParaRPr lang="en-US" sz="1150" dirty="0"/>
          </a:p>
        </p:txBody>
      </p:sp>
      <p:sp>
        <p:nvSpPr>
          <p:cNvPr id="36" name="Shape 29"/>
          <p:cNvSpPr/>
          <p:nvPr/>
        </p:nvSpPr>
        <p:spPr>
          <a:xfrm>
            <a:off x="566928" y="4754880"/>
            <a:ext cx="11057839" cy="548640"/>
          </a:xfrm>
          <a:prstGeom prst="roundRect">
            <a:avLst>
              <a:gd name="adj" fmla="val 15000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713232" y="4846320"/>
            <a:ext cx="365760" cy="365760"/>
          </a:xfrm>
          <a:prstGeom prst="ellipse">
            <a:avLst/>
          </a:prstGeom>
          <a:solidFill>
            <a:srgbClr val="E2F3F3"/>
          </a:solidFill>
          <a:ln w="12700">
            <a:solidFill>
              <a:srgbClr val="0E9AA0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275" y="4963363"/>
            <a:ext cx="131674" cy="131674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1225296" y="47548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Backup</a:t>
            </a:r>
            <a:endParaRPr lang="en-US" sz="1100" dirty="0"/>
          </a:p>
        </p:txBody>
      </p:sp>
      <p:sp>
        <p:nvSpPr>
          <p:cNvPr id="40" name="Text 32"/>
          <p:cNvSpPr txBox="1"/>
          <p:nvPr/>
        </p:nvSpPr>
        <p:spPr>
          <a:xfrm>
            <a:off x="4544568" y="47548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E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 </a:t>
            </a:r>
            <a:pPr indent="0" marL="0">
              <a:buNone/>
            </a:pPr>
            <a:r>
              <a:rPr lang="en-US" sz="9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Automated backups</a:t>
            </a:r>
            <a:endParaRPr lang="en-US" sz="800" dirty="0"/>
          </a:p>
        </p:txBody>
      </p:sp>
      <p:sp>
        <p:nvSpPr>
          <p:cNvPr id="41" name="Text 33"/>
          <p:cNvSpPr txBox="1"/>
          <p:nvPr/>
        </p:nvSpPr>
        <p:spPr>
          <a:xfrm>
            <a:off x="8744407" y="47548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E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$10–$50 / mo</a:t>
            </a:r>
            <a:endParaRPr lang="en-US" sz="1150" dirty="0"/>
          </a:p>
        </p:txBody>
      </p:sp>
      <p:sp>
        <p:nvSpPr>
          <p:cNvPr id="42" name="Shape 34"/>
          <p:cNvSpPr/>
          <p:nvPr/>
        </p:nvSpPr>
        <p:spPr>
          <a:xfrm>
            <a:off x="566928" y="5349240"/>
            <a:ext cx="11057839" cy="548640"/>
          </a:xfrm>
          <a:prstGeom prst="roundRect">
            <a:avLst>
              <a:gd name="adj" fmla="val 15000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</p:spPr>
      </p:sp>
      <p:sp>
        <p:nvSpPr>
          <p:cNvPr id="43" name="Shape 35"/>
          <p:cNvSpPr/>
          <p:nvPr/>
        </p:nvSpPr>
        <p:spPr>
          <a:xfrm>
            <a:off x="713232" y="5440680"/>
            <a:ext cx="365760" cy="365760"/>
          </a:xfrm>
          <a:prstGeom prst="ellipse">
            <a:avLst/>
          </a:prstGeom>
          <a:solidFill>
            <a:srgbClr val="E2F3F3"/>
          </a:solidFill>
          <a:ln w="12700">
            <a:solidFill>
              <a:srgbClr val="0E9AA0"/>
            </a:solidFill>
            <a:prstDash val="solid"/>
          </a:ln>
        </p:spPr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275" y="5557723"/>
            <a:ext cx="131674" cy="131674"/>
          </a:xfrm>
          <a:prstGeom prst="rect">
            <a:avLst/>
          </a:prstGeom>
        </p:spPr>
      </p:pic>
      <p:sp>
        <p:nvSpPr>
          <p:cNvPr id="45" name="Text 36"/>
          <p:cNvSpPr txBox="1"/>
          <p:nvPr/>
        </p:nvSpPr>
        <p:spPr>
          <a:xfrm>
            <a:off x="1225296" y="53492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/ Error Tracking</a:t>
            </a:r>
            <a:endParaRPr lang="en-US" sz="1100" dirty="0"/>
          </a:p>
        </p:txBody>
      </p:sp>
      <p:sp>
        <p:nvSpPr>
          <p:cNvPr id="46" name="Text 37"/>
          <p:cNvSpPr txBox="1"/>
          <p:nvPr/>
        </p:nvSpPr>
        <p:spPr>
          <a:xfrm>
            <a:off x="4544568" y="53492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E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 </a:t>
            </a:r>
            <a:pPr indent="0" marL="0">
              <a:buNone/>
            </a:pPr>
            <a:r>
              <a:rPr lang="en-US" sz="9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Sentry and similar</a:t>
            </a:r>
            <a:endParaRPr lang="en-US" sz="800" dirty="0"/>
          </a:p>
        </p:txBody>
      </p:sp>
      <p:sp>
        <p:nvSpPr>
          <p:cNvPr id="47" name="Text 38"/>
          <p:cNvSpPr txBox="1"/>
          <p:nvPr/>
        </p:nvSpPr>
        <p:spPr>
          <a:xfrm>
            <a:off x="8744407" y="53492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E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$0–$100 / mo</a:t>
            </a:r>
            <a:endParaRPr lang="en-US" sz="1150" dirty="0"/>
          </a:p>
        </p:txBody>
      </p:sp>
      <p:sp>
        <p:nvSpPr>
          <p:cNvPr id="48" name="Text 39"/>
          <p:cNvSpPr txBox="1"/>
          <p:nvPr/>
        </p:nvSpPr>
        <p:spPr>
          <a:xfrm>
            <a:off x="566928" y="605332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figures, not fixed quotes — usage-based services vary with active users and volume.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2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CATALOGUE  ·  2 OF 3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Communications, maps, AI &amp; analytics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MGS</a:t>
            </a:r>
            <a:pPr indent="0" marL="0">
              <a:buNone/>
            </a:pPr>
            <a:r>
              <a:rPr lang="en-US" sz="8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Dating Application — Third-Party &amp; Operating Costs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11057839" cy="548640"/>
          </a:xfrm>
          <a:prstGeom prst="roundRect">
            <a:avLst>
              <a:gd name="adj" fmla="val 15000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874520"/>
            <a:ext cx="365760" cy="365760"/>
          </a:xfrm>
          <a:prstGeom prst="ellipse">
            <a:avLst/>
          </a:prstGeom>
          <a:solidFill>
            <a:srgbClr val="E9EBFB"/>
          </a:solidFill>
          <a:ln w="12700">
            <a:solidFill>
              <a:srgbClr val="4A5AD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275" y="1991563"/>
            <a:ext cx="131674" cy="13167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25296" y="1783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/ OTP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544568" y="17830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A5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USAGE-BASED  </a:t>
            </a:r>
            <a:pPr indent="0" marL="0">
              <a:buNone/>
            </a:pPr>
            <a:r>
              <a:rPr lang="en-US" sz="9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Phone verification</a:t>
            </a:r>
            <a:endParaRPr lang="en-US" sz="800" dirty="0"/>
          </a:p>
        </p:txBody>
      </p:sp>
      <p:sp>
        <p:nvSpPr>
          <p:cNvPr id="11" name="Text 8"/>
          <p:cNvSpPr txBox="1"/>
          <p:nvPr/>
        </p:nvSpPr>
        <p:spPr>
          <a:xfrm>
            <a:off x="8744407" y="17830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4A5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$20–$300+ / mo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66928" y="2377440"/>
            <a:ext cx="11057839" cy="548640"/>
          </a:xfrm>
          <a:prstGeom prst="roundRect">
            <a:avLst>
              <a:gd name="adj" fmla="val 15000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13232" y="2468880"/>
            <a:ext cx="365760" cy="365760"/>
          </a:xfrm>
          <a:prstGeom prst="ellipse">
            <a:avLst/>
          </a:prstGeom>
          <a:solidFill>
            <a:srgbClr val="E9EBFB"/>
          </a:solidFill>
          <a:ln w="12700">
            <a:solidFill>
              <a:srgbClr val="4A5AD8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275" y="2585923"/>
            <a:ext cx="131674" cy="13167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225296" y="23774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Service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4544568" y="23774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A5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 </a:t>
            </a:r>
            <a:pPr indent="0" marL="0">
              <a:buNone/>
            </a:pPr>
            <a:r>
              <a:rPr lang="en-US" sz="9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Verification &amp; notifications</a:t>
            </a:r>
            <a:endParaRPr lang="en-US" sz="800" dirty="0"/>
          </a:p>
        </p:txBody>
      </p:sp>
      <p:sp>
        <p:nvSpPr>
          <p:cNvPr id="17" name="Text 13"/>
          <p:cNvSpPr txBox="1"/>
          <p:nvPr/>
        </p:nvSpPr>
        <p:spPr>
          <a:xfrm>
            <a:off x="8744407" y="23774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4A5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$0–$50 / mo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566928" y="2971800"/>
            <a:ext cx="11057839" cy="548640"/>
          </a:xfrm>
          <a:prstGeom prst="roundRect">
            <a:avLst>
              <a:gd name="adj" fmla="val 15000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13232" y="3063240"/>
            <a:ext cx="365760" cy="365760"/>
          </a:xfrm>
          <a:prstGeom prst="ellipse">
            <a:avLst/>
          </a:prstGeom>
          <a:solidFill>
            <a:srgbClr val="E9EBFB"/>
          </a:solidFill>
          <a:ln w="12700">
            <a:solidFill>
              <a:srgbClr val="4A5AD8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" y="3180283"/>
            <a:ext cx="131674" cy="13167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225296" y="2971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4544568" y="29718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A5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 </a:t>
            </a:r>
            <a:pPr indent="0" marL="0">
              <a:buNone/>
            </a:pPr>
            <a:r>
              <a:rPr lang="en-US" sz="9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Firebase / FCM</a:t>
            </a:r>
            <a:endParaRPr lang="en-US" sz="800" dirty="0"/>
          </a:p>
        </p:txBody>
      </p:sp>
      <p:sp>
        <p:nvSpPr>
          <p:cNvPr id="23" name="Text 18"/>
          <p:cNvSpPr txBox="1"/>
          <p:nvPr/>
        </p:nvSpPr>
        <p:spPr>
          <a:xfrm>
            <a:off x="8744407" y="29718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4A5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$0–$50 / mo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566928" y="3566160"/>
            <a:ext cx="11057839" cy="548640"/>
          </a:xfrm>
          <a:prstGeom prst="roundRect">
            <a:avLst>
              <a:gd name="adj" fmla="val 15000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713232" y="3657600"/>
            <a:ext cx="365760" cy="365760"/>
          </a:xfrm>
          <a:prstGeom prst="ellipse">
            <a:avLst/>
          </a:prstGeom>
          <a:solidFill>
            <a:srgbClr val="E9EBFB"/>
          </a:solidFill>
          <a:ln w="12700">
            <a:solidFill>
              <a:srgbClr val="4A5AD8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" y="3774643"/>
            <a:ext cx="131674" cy="131674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225296" y="35661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/ Geolocation API</a:t>
            </a:r>
            <a:endParaRPr lang="en-US" sz="1100" dirty="0"/>
          </a:p>
        </p:txBody>
      </p:sp>
      <p:sp>
        <p:nvSpPr>
          <p:cNvPr id="28" name="Text 22"/>
          <p:cNvSpPr txBox="1"/>
          <p:nvPr/>
        </p:nvSpPr>
        <p:spPr>
          <a:xfrm>
            <a:off x="4544568" y="35661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A5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USAGE-BASED  </a:t>
            </a:r>
            <a:pPr indent="0" marL="0">
              <a:buNone/>
            </a:pPr>
            <a:r>
              <a:rPr lang="en-US" sz="9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Location &amp; distance matching</a:t>
            </a:r>
            <a:endParaRPr lang="en-US" sz="800" dirty="0"/>
          </a:p>
        </p:txBody>
      </p:sp>
      <p:sp>
        <p:nvSpPr>
          <p:cNvPr id="29" name="Text 23"/>
          <p:cNvSpPr txBox="1"/>
          <p:nvPr/>
        </p:nvSpPr>
        <p:spPr>
          <a:xfrm>
            <a:off x="8744407" y="35661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4A5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$0–$200+ / mo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566928" y="4160520"/>
            <a:ext cx="11057839" cy="548640"/>
          </a:xfrm>
          <a:prstGeom prst="roundRect">
            <a:avLst>
              <a:gd name="adj" fmla="val 15000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713232" y="4251960"/>
            <a:ext cx="365760" cy="365760"/>
          </a:xfrm>
          <a:prstGeom prst="ellipse">
            <a:avLst/>
          </a:prstGeom>
          <a:solidFill>
            <a:srgbClr val="E9EBFB"/>
          </a:solidFill>
          <a:ln w="12700">
            <a:solidFill>
              <a:srgbClr val="4A5AD8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275" y="4369003"/>
            <a:ext cx="131674" cy="131674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1225296" y="41605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Services</a:t>
            </a:r>
            <a:endParaRPr lang="en-US" sz="1100" dirty="0"/>
          </a:p>
        </p:txBody>
      </p:sp>
      <p:sp>
        <p:nvSpPr>
          <p:cNvPr id="34" name="Text 27"/>
          <p:cNvSpPr txBox="1"/>
          <p:nvPr/>
        </p:nvSpPr>
        <p:spPr>
          <a:xfrm>
            <a:off x="4544568" y="41605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A5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USAGE-BASED  </a:t>
            </a:r>
            <a:pPr indent="0" marL="0">
              <a:buNone/>
            </a:pPr>
            <a:r>
              <a:rPr lang="en-US" sz="9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Verification, matching, recommendations</a:t>
            </a:r>
            <a:endParaRPr lang="en-US" sz="800" dirty="0"/>
          </a:p>
        </p:txBody>
      </p:sp>
      <p:sp>
        <p:nvSpPr>
          <p:cNvPr id="35" name="Text 28"/>
          <p:cNvSpPr txBox="1"/>
          <p:nvPr/>
        </p:nvSpPr>
        <p:spPr>
          <a:xfrm>
            <a:off x="8744407" y="41605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4A5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$50–$500+ / mo</a:t>
            </a:r>
            <a:endParaRPr lang="en-US" sz="1150" dirty="0"/>
          </a:p>
        </p:txBody>
      </p:sp>
      <p:sp>
        <p:nvSpPr>
          <p:cNvPr id="36" name="Shape 29"/>
          <p:cNvSpPr/>
          <p:nvPr/>
        </p:nvSpPr>
        <p:spPr>
          <a:xfrm>
            <a:off x="566928" y="4754880"/>
            <a:ext cx="11057839" cy="548640"/>
          </a:xfrm>
          <a:prstGeom prst="roundRect">
            <a:avLst>
              <a:gd name="adj" fmla="val 15000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713232" y="4846320"/>
            <a:ext cx="365760" cy="365760"/>
          </a:xfrm>
          <a:prstGeom prst="ellipse">
            <a:avLst/>
          </a:prstGeom>
          <a:solidFill>
            <a:srgbClr val="E9EBFB"/>
          </a:solidFill>
          <a:ln w="12700">
            <a:solidFill>
              <a:srgbClr val="4A5AD8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275" y="4963363"/>
            <a:ext cx="131674" cy="131674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1225296" y="47548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/ Video Calling</a:t>
            </a:r>
            <a:endParaRPr lang="en-US" sz="1100" dirty="0"/>
          </a:p>
        </p:txBody>
      </p:sp>
      <p:sp>
        <p:nvSpPr>
          <p:cNvPr id="40" name="Text 32"/>
          <p:cNvSpPr txBox="1"/>
          <p:nvPr/>
        </p:nvSpPr>
        <p:spPr>
          <a:xfrm>
            <a:off x="4544568" y="47548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A5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USAGE-BASED  </a:t>
            </a:r>
            <a:pPr indent="0" marL="0">
              <a:buNone/>
            </a:pPr>
            <a:r>
              <a:rPr lang="en-US" sz="9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WebRTC / Agora-type service</a:t>
            </a:r>
            <a:endParaRPr lang="en-US" sz="800" dirty="0"/>
          </a:p>
        </p:txBody>
      </p:sp>
      <p:sp>
        <p:nvSpPr>
          <p:cNvPr id="41" name="Text 33"/>
          <p:cNvSpPr txBox="1"/>
          <p:nvPr/>
        </p:nvSpPr>
        <p:spPr>
          <a:xfrm>
            <a:off x="8744407" y="47548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4A5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$50–$500+ / mo</a:t>
            </a:r>
            <a:endParaRPr lang="en-US" sz="1150" dirty="0"/>
          </a:p>
        </p:txBody>
      </p:sp>
      <p:sp>
        <p:nvSpPr>
          <p:cNvPr id="42" name="Shape 34"/>
          <p:cNvSpPr/>
          <p:nvPr/>
        </p:nvSpPr>
        <p:spPr>
          <a:xfrm>
            <a:off x="566928" y="5349240"/>
            <a:ext cx="11057839" cy="548640"/>
          </a:xfrm>
          <a:prstGeom prst="roundRect">
            <a:avLst>
              <a:gd name="adj" fmla="val 15000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</p:spPr>
      </p:sp>
      <p:sp>
        <p:nvSpPr>
          <p:cNvPr id="43" name="Shape 35"/>
          <p:cNvSpPr/>
          <p:nvPr/>
        </p:nvSpPr>
        <p:spPr>
          <a:xfrm>
            <a:off x="713232" y="5440680"/>
            <a:ext cx="365760" cy="365760"/>
          </a:xfrm>
          <a:prstGeom prst="ellipse">
            <a:avLst/>
          </a:prstGeom>
          <a:solidFill>
            <a:srgbClr val="E9EBFB"/>
          </a:solidFill>
          <a:ln w="12700">
            <a:solidFill>
              <a:srgbClr val="4A5AD8"/>
            </a:solidFill>
            <a:prstDash val="solid"/>
          </a:ln>
        </p:spPr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275" y="5557723"/>
            <a:ext cx="131674" cy="131674"/>
          </a:xfrm>
          <a:prstGeom prst="rect">
            <a:avLst/>
          </a:prstGeom>
        </p:spPr>
      </p:pic>
      <p:sp>
        <p:nvSpPr>
          <p:cNvPr id="45" name="Text 36"/>
          <p:cNvSpPr txBox="1"/>
          <p:nvPr/>
        </p:nvSpPr>
        <p:spPr>
          <a:xfrm>
            <a:off x="1225296" y="53492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100" dirty="0"/>
          </a:p>
        </p:txBody>
      </p:sp>
      <p:sp>
        <p:nvSpPr>
          <p:cNvPr id="46" name="Text 37"/>
          <p:cNvSpPr txBox="1"/>
          <p:nvPr/>
        </p:nvSpPr>
        <p:spPr>
          <a:xfrm>
            <a:off x="4544568" y="53492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A5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 </a:t>
            </a:r>
            <a:pPr indent="0" marL="0">
              <a:buNone/>
            </a:pPr>
            <a:r>
              <a:rPr lang="en-US" sz="9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Product &amp; user analytics</a:t>
            </a:r>
            <a:endParaRPr lang="en-US" sz="800" dirty="0"/>
          </a:p>
        </p:txBody>
      </p:sp>
      <p:sp>
        <p:nvSpPr>
          <p:cNvPr id="47" name="Text 38"/>
          <p:cNvSpPr txBox="1"/>
          <p:nvPr/>
        </p:nvSpPr>
        <p:spPr>
          <a:xfrm>
            <a:off x="8744407" y="53492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4A5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$0–$100 / mo</a:t>
            </a:r>
            <a:endParaRPr lang="en-US" sz="1150" dirty="0"/>
          </a:p>
        </p:txBody>
      </p:sp>
      <p:sp>
        <p:nvSpPr>
          <p:cNvPr id="48" name="Text 39"/>
          <p:cNvSpPr txBox="1"/>
          <p:nvPr/>
        </p:nvSpPr>
        <p:spPr>
          <a:xfrm>
            <a:off x="566928" y="605332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figures, not fixed quotes — usage-based services vary with active users and volume.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2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CATALOGUE  ·  3 OF 3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Distribution, payments &amp; operations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MGS</a:t>
            </a:r>
            <a:pPr indent="0" marL="0">
              <a:buNone/>
            </a:pPr>
            <a:r>
              <a:rPr lang="en-US" sz="8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Dating Application — Third-Party &amp; Operating Costs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11057839" cy="548640"/>
          </a:xfrm>
          <a:prstGeom prst="roundRect">
            <a:avLst>
              <a:gd name="adj" fmla="val 15000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874520"/>
            <a:ext cx="365760" cy="365760"/>
          </a:xfrm>
          <a:prstGeom prst="ellipse">
            <a:avLst/>
          </a:prstGeom>
          <a:solidFill>
            <a:srgbClr val="FAF0E3"/>
          </a:solidFill>
          <a:ln w="12700">
            <a:solidFill>
              <a:srgbClr val="D9832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275" y="1991563"/>
            <a:ext cx="131674" cy="13167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25296" y="1783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Developer Account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544568" y="17830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 </a:t>
            </a:r>
            <a:pPr indent="0" marL="0">
              <a:buNone/>
            </a:pPr>
            <a:r>
              <a:rPr lang="en-US" sz="9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iOS App Store</a:t>
            </a:r>
            <a:endParaRPr lang="en-US" sz="800" dirty="0"/>
          </a:p>
        </p:txBody>
      </p:sp>
      <p:sp>
        <p:nvSpPr>
          <p:cNvPr id="11" name="Text 8"/>
          <p:cNvSpPr txBox="1"/>
          <p:nvPr/>
        </p:nvSpPr>
        <p:spPr>
          <a:xfrm>
            <a:off x="8744407" y="17830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D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$99 / yr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66928" y="2377440"/>
            <a:ext cx="11057839" cy="548640"/>
          </a:xfrm>
          <a:prstGeom prst="roundRect">
            <a:avLst>
              <a:gd name="adj" fmla="val 15000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13232" y="2468880"/>
            <a:ext cx="365760" cy="365760"/>
          </a:xfrm>
          <a:prstGeom prst="ellipse">
            <a:avLst/>
          </a:prstGeom>
          <a:solidFill>
            <a:srgbClr val="FAF0E3"/>
          </a:solidFill>
          <a:ln w="12700">
            <a:solidFill>
              <a:srgbClr val="D9832A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275" y="2585923"/>
            <a:ext cx="131674" cy="13167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225296" y="23774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Play Console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4544568" y="23774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 </a:t>
            </a:r>
            <a:pPr indent="0" marL="0">
              <a:buNone/>
            </a:pPr>
            <a:r>
              <a:rPr lang="en-US" sz="9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Android publishing</a:t>
            </a:r>
            <a:endParaRPr lang="en-US" sz="800" dirty="0"/>
          </a:p>
        </p:txBody>
      </p:sp>
      <p:sp>
        <p:nvSpPr>
          <p:cNvPr id="17" name="Text 13"/>
          <p:cNvSpPr txBox="1"/>
          <p:nvPr/>
        </p:nvSpPr>
        <p:spPr>
          <a:xfrm>
            <a:off x="8744407" y="23774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D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 one-time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566928" y="2971800"/>
            <a:ext cx="11057839" cy="548640"/>
          </a:xfrm>
          <a:prstGeom prst="roundRect">
            <a:avLst>
              <a:gd name="adj" fmla="val 15000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13232" y="3063240"/>
            <a:ext cx="365760" cy="365760"/>
          </a:xfrm>
          <a:prstGeom prst="ellipse">
            <a:avLst/>
          </a:prstGeom>
          <a:solidFill>
            <a:srgbClr val="FAF0E3"/>
          </a:solidFill>
          <a:ln w="12700">
            <a:solidFill>
              <a:srgbClr val="D9832A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" y="3180283"/>
            <a:ext cx="131674" cy="13167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225296" y="2971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 / Play Store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4544568" y="29718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 </a:t>
            </a:r>
            <a:pPr indent="0" marL="0">
              <a:buNone/>
            </a:pPr>
            <a:r>
              <a:rPr lang="en-US" sz="9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Subscription &amp; app purchases</a:t>
            </a:r>
            <a:endParaRPr lang="en-US" sz="800" dirty="0"/>
          </a:p>
        </p:txBody>
      </p:sp>
      <p:sp>
        <p:nvSpPr>
          <p:cNvPr id="23" name="Text 18"/>
          <p:cNvSpPr txBox="1"/>
          <p:nvPr/>
        </p:nvSpPr>
        <p:spPr>
          <a:xfrm>
            <a:off x="8744407" y="29718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D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~15–30% of revenue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566928" y="3566160"/>
            <a:ext cx="11057839" cy="548640"/>
          </a:xfrm>
          <a:prstGeom prst="roundRect">
            <a:avLst>
              <a:gd name="adj" fmla="val 15000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713232" y="3657600"/>
            <a:ext cx="365760" cy="365760"/>
          </a:xfrm>
          <a:prstGeom prst="ellipse">
            <a:avLst/>
          </a:prstGeom>
          <a:solidFill>
            <a:srgbClr val="FAF0E3"/>
          </a:solidFill>
          <a:ln w="12700">
            <a:solidFill>
              <a:srgbClr val="D9832A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" y="3774643"/>
            <a:ext cx="131674" cy="131674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225296" y="35661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</a:t>
            </a:r>
            <a:endParaRPr lang="en-US" sz="1100" dirty="0"/>
          </a:p>
        </p:txBody>
      </p:sp>
      <p:sp>
        <p:nvSpPr>
          <p:cNvPr id="28" name="Text 22"/>
          <p:cNvSpPr txBox="1"/>
          <p:nvPr/>
        </p:nvSpPr>
        <p:spPr>
          <a:xfrm>
            <a:off x="4544568" y="35661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TRANSACTION  </a:t>
            </a:r>
            <a:pPr indent="0" marL="0">
              <a:buNone/>
            </a:pPr>
            <a:r>
              <a:rPr lang="en-US" sz="9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Subscription payments</a:t>
            </a:r>
            <a:endParaRPr lang="en-US" sz="800" dirty="0"/>
          </a:p>
        </p:txBody>
      </p:sp>
      <p:sp>
        <p:nvSpPr>
          <p:cNvPr id="29" name="Text 23"/>
          <p:cNvSpPr txBox="1"/>
          <p:nvPr/>
        </p:nvSpPr>
        <p:spPr>
          <a:xfrm>
            <a:off x="8744407" y="35661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D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~2–4% per txn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566928" y="4160520"/>
            <a:ext cx="11057839" cy="548640"/>
          </a:xfrm>
          <a:prstGeom prst="roundRect">
            <a:avLst>
              <a:gd name="adj" fmla="val 15000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713232" y="4251960"/>
            <a:ext cx="365760" cy="365760"/>
          </a:xfrm>
          <a:prstGeom prst="ellipse">
            <a:avLst/>
          </a:prstGeom>
          <a:solidFill>
            <a:srgbClr val="FAF0E3"/>
          </a:solidFill>
          <a:ln w="12700">
            <a:solidFill>
              <a:srgbClr val="D9832A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275" y="4369003"/>
            <a:ext cx="131674" cy="131674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1225296" y="41605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 Tools</a:t>
            </a:r>
            <a:endParaRPr lang="en-US" sz="1100" dirty="0"/>
          </a:p>
        </p:txBody>
      </p:sp>
      <p:sp>
        <p:nvSpPr>
          <p:cNvPr id="34" name="Text 27"/>
          <p:cNvSpPr txBox="1"/>
          <p:nvPr/>
        </p:nvSpPr>
        <p:spPr>
          <a:xfrm>
            <a:off x="4544568" y="41605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 </a:t>
            </a:r>
            <a:pPr indent="0" marL="0">
              <a:buNone/>
            </a:pPr>
            <a:r>
              <a:rPr lang="en-US" sz="9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Support / ticket system</a:t>
            </a:r>
            <a:endParaRPr lang="en-US" sz="800" dirty="0"/>
          </a:p>
        </p:txBody>
      </p:sp>
      <p:sp>
        <p:nvSpPr>
          <p:cNvPr id="35" name="Text 28"/>
          <p:cNvSpPr txBox="1"/>
          <p:nvPr/>
        </p:nvSpPr>
        <p:spPr>
          <a:xfrm>
            <a:off x="8744407" y="41605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D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$0–$100 / mo</a:t>
            </a:r>
            <a:endParaRPr lang="en-US" sz="1150" dirty="0"/>
          </a:p>
        </p:txBody>
      </p:sp>
      <p:sp>
        <p:nvSpPr>
          <p:cNvPr id="36" name="Shape 29"/>
          <p:cNvSpPr/>
          <p:nvPr/>
        </p:nvSpPr>
        <p:spPr>
          <a:xfrm>
            <a:off x="566928" y="4754880"/>
            <a:ext cx="11057839" cy="548640"/>
          </a:xfrm>
          <a:prstGeom prst="roundRect">
            <a:avLst>
              <a:gd name="adj" fmla="val 15000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713232" y="4846320"/>
            <a:ext cx="365760" cy="365760"/>
          </a:xfrm>
          <a:prstGeom prst="ellipse">
            <a:avLst/>
          </a:prstGeom>
          <a:solidFill>
            <a:srgbClr val="FAF0E3"/>
          </a:solidFill>
          <a:ln w="12700">
            <a:solidFill>
              <a:srgbClr val="D9832A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275" y="4963363"/>
            <a:ext cx="131674" cy="131674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1225296" y="47548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/ Privacy / Compliance</a:t>
            </a:r>
            <a:endParaRPr lang="en-US" sz="1100" dirty="0"/>
          </a:p>
        </p:txBody>
      </p:sp>
      <p:sp>
        <p:nvSpPr>
          <p:cNvPr id="40" name="Text 32"/>
          <p:cNvSpPr txBox="1"/>
          <p:nvPr/>
        </p:nvSpPr>
        <p:spPr>
          <a:xfrm>
            <a:off x="4544568" y="47548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+ ANNUAL  </a:t>
            </a:r>
            <a:pPr indent="0" marL="0">
              <a:buNone/>
            </a:pPr>
            <a:r>
              <a:rPr lang="en-US" sz="9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Policies, contracts, compliance</a:t>
            </a:r>
            <a:endParaRPr lang="en-US" sz="800" dirty="0"/>
          </a:p>
        </p:txBody>
      </p:sp>
      <p:sp>
        <p:nvSpPr>
          <p:cNvPr id="41" name="Text 33"/>
          <p:cNvSpPr txBox="1"/>
          <p:nvPr/>
        </p:nvSpPr>
        <p:spPr>
          <a:xfrm>
            <a:off x="8744407" y="47548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D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$500–$3,000+</a:t>
            </a:r>
            <a:endParaRPr lang="en-US" sz="1150" dirty="0"/>
          </a:p>
        </p:txBody>
      </p:sp>
      <p:sp>
        <p:nvSpPr>
          <p:cNvPr id="42" name="Shape 34"/>
          <p:cNvSpPr/>
          <p:nvPr/>
        </p:nvSpPr>
        <p:spPr>
          <a:xfrm>
            <a:off x="566928" y="5349240"/>
            <a:ext cx="11057839" cy="548640"/>
          </a:xfrm>
          <a:prstGeom prst="roundRect">
            <a:avLst>
              <a:gd name="adj" fmla="val 15000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</p:spPr>
      </p:sp>
      <p:sp>
        <p:nvSpPr>
          <p:cNvPr id="43" name="Shape 35"/>
          <p:cNvSpPr/>
          <p:nvPr/>
        </p:nvSpPr>
        <p:spPr>
          <a:xfrm>
            <a:off x="713232" y="5440680"/>
            <a:ext cx="365760" cy="365760"/>
          </a:xfrm>
          <a:prstGeom prst="ellipse">
            <a:avLst/>
          </a:prstGeom>
          <a:solidFill>
            <a:srgbClr val="FAF0E3"/>
          </a:solidFill>
          <a:ln w="12700">
            <a:solidFill>
              <a:srgbClr val="D9832A"/>
            </a:solidFill>
            <a:prstDash val="solid"/>
          </a:ln>
        </p:spPr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275" y="5557723"/>
            <a:ext cx="131674" cy="131674"/>
          </a:xfrm>
          <a:prstGeom prst="rect">
            <a:avLst/>
          </a:prstGeom>
        </p:spPr>
      </p:pic>
      <p:sp>
        <p:nvSpPr>
          <p:cNvPr id="45" name="Text 36"/>
          <p:cNvSpPr txBox="1"/>
          <p:nvPr/>
        </p:nvSpPr>
        <p:spPr>
          <a:xfrm>
            <a:off x="1225296" y="53492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Maintenance &amp; Infra</a:t>
            </a:r>
            <a:endParaRPr lang="en-US" sz="1100" dirty="0"/>
          </a:p>
        </p:txBody>
      </p:sp>
      <p:sp>
        <p:nvSpPr>
          <p:cNvPr id="46" name="Text 37"/>
          <p:cNvSpPr txBox="1"/>
          <p:nvPr/>
        </p:nvSpPr>
        <p:spPr>
          <a:xfrm>
            <a:off x="4544568" y="53492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 </a:t>
            </a:r>
            <a:pPr indent="0" marL="0">
              <a:buNone/>
            </a:pPr>
            <a:r>
              <a:rPr lang="en-US" sz="9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Updates, monitoring, fixes</a:t>
            </a:r>
            <a:endParaRPr lang="en-US" sz="800" dirty="0"/>
          </a:p>
        </p:txBody>
      </p:sp>
      <p:sp>
        <p:nvSpPr>
          <p:cNvPr id="47" name="Text 38"/>
          <p:cNvSpPr txBox="1"/>
          <p:nvPr/>
        </p:nvSpPr>
        <p:spPr>
          <a:xfrm>
            <a:off x="8744407" y="53492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D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$200–$1,000+ / mo</a:t>
            </a:r>
            <a:endParaRPr lang="en-US" sz="1150" dirty="0"/>
          </a:p>
        </p:txBody>
      </p:sp>
      <p:sp>
        <p:nvSpPr>
          <p:cNvPr id="48" name="Text 39"/>
          <p:cNvSpPr txBox="1"/>
          <p:nvPr/>
        </p:nvSpPr>
        <p:spPr>
          <a:xfrm>
            <a:off x="566928" y="605332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figures, not fixed quotes — usage-based services vary with active users and volume.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2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 NUMBER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 overall budget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MGS</a:t>
            </a:r>
            <a:pPr indent="0" marL="0">
              <a:buNone/>
            </a:pPr>
            <a:r>
              <a:rPr lang="en-US" sz="8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Dating Application — Third-Party &amp; Operating Costs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57276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new dating app with a small-to-medium user base, MGS would guide the client to expect: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1993392"/>
            <a:ext cx="11057839" cy="731520"/>
          </a:xfrm>
          <a:prstGeom prst="roundRect">
            <a:avLst>
              <a:gd name="adj" fmla="val 11250"/>
            </a:avLst>
          </a:prstGeom>
          <a:solidFill>
            <a:srgbClr val="F2E9F8"/>
          </a:solidFill>
          <a:ln w="12700">
            <a:solidFill>
              <a:srgbClr val="F2E9F8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4672" y="2139696"/>
            <a:ext cx="457200" cy="457200"/>
          </a:xfrm>
          <a:prstGeom prst="ellipse">
            <a:avLst/>
          </a:prstGeom>
          <a:solidFill>
            <a:srgbClr val="F2E9F8"/>
          </a:solidFill>
          <a:ln w="12700">
            <a:solidFill>
              <a:srgbClr val="8A3FB5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286000"/>
            <a:ext cx="164592" cy="16459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527048" y="1993392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setup / registration   </a:t>
            </a:r>
            <a:pPr indent="0" marL="0">
              <a:buNone/>
            </a:pPr>
            <a:r>
              <a:rPr lang="en-US" sz="95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8332927" y="199339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3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$150 – $500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66928" y="283464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— SCALES WITH THE USER BASE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66928" y="3108960"/>
            <a:ext cx="7315200" cy="658368"/>
          </a:xfrm>
          <a:prstGeom prst="roundRect">
            <a:avLst>
              <a:gd name="adj" fmla="val 12500"/>
            </a:avLst>
          </a:prstGeom>
          <a:solidFill>
            <a:srgbClr val="E2F3F3"/>
          </a:solidFill>
          <a:ln w="13970">
            <a:solidFill>
              <a:srgbClr val="0E9AA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41248" y="3108960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infrastructure   </a:t>
            </a:r>
            <a:pPr indent="0" marL="0">
              <a:buNone/>
            </a:pPr>
            <a:r>
              <a:rPr lang="en-US" sz="9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live, few users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047488" y="310896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$100 – $500 / mo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66928" y="3858768"/>
            <a:ext cx="8595360" cy="658368"/>
          </a:xfrm>
          <a:prstGeom prst="roundRect">
            <a:avLst>
              <a:gd name="adj" fmla="val 12500"/>
            </a:avLst>
          </a:prstGeom>
          <a:solidFill>
            <a:srgbClr val="E9EBFB"/>
          </a:solidFill>
          <a:ln w="13970">
            <a:solidFill>
              <a:srgbClr val="4A5AD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41248" y="3858768"/>
            <a:ext cx="5577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usage   </a:t>
            </a:r>
            <a:pPr indent="0" marL="0">
              <a:buNone/>
            </a:pPr>
            <a:r>
              <a:rPr lang="en-US" sz="9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SMS + calling active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6327648" y="385876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A5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$500 – $1,500 / mo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66928" y="4608576"/>
            <a:ext cx="9875520" cy="658368"/>
          </a:xfrm>
          <a:prstGeom prst="roundRect">
            <a:avLst>
              <a:gd name="adj" fmla="val 12500"/>
            </a:avLst>
          </a:prstGeom>
          <a:solidFill>
            <a:srgbClr val="FAF0E3"/>
          </a:solidFill>
          <a:ln w="13970">
            <a:solidFill>
              <a:srgbClr val="D9832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41248" y="4608576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app   </a:t>
            </a:r>
            <a:pPr indent="0" marL="0">
              <a:buNone/>
            </a:pPr>
            <a:r>
              <a:rPr lang="en-US" sz="9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user base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7607808" y="4608576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$1,500 – $5,000+ / mo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66928" y="5358384"/>
            <a:ext cx="11055096" cy="658368"/>
          </a:xfrm>
          <a:prstGeom prst="roundRect">
            <a:avLst>
              <a:gd name="adj" fmla="val 12500"/>
            </a:avLst>
          </a:prstGeom>
          <a:solidFill>
            <a:srgbClr val="FBE7EC"/>
          </a:solidFill>
          <a:ln w="13970">
            <a:solidFill>
              <a:srgbClr val="E23A6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41248" y="5358384"/>
            <a:ext cx="8037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platform   </a:t>
            </a:r>
            <a:pPr indent="0" marL="0">
              <a:buNone/>
            </a:pPr>
            <a:r>
              <a:rPr lang="en-US" sz="9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traffic &amp; volume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8787384" y="5358384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2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$5,000 – $20,000+ / mo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566928" y="615391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cost scales with active users, AI usage, SMS volume and call minutes — not with a fixed plan.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2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MGS RECOMMENDS STRUCTURING IT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the quote predictable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MGS</a:t>
            </a:r>
            <a:pPr indent="0" marL="0">
              <a:buNone/>
            </a:pPr>
            <a:r>
              <a:rPr lang="en-US" sz="8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Dating Application — Third-Party &amp; Operating Costs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1965960"/>
            <a:ext cx="5394960" cy="1691640"/>
          </a:xfrm>
          <a:prstGeom prst="roundRect">
            <a:avLst>
              <a:gd name="adj" fmla="val 4865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2240280"/>
            <a:ext cx="658368" cy="658368"/>
          </a:xfrm>
          <a:prstGeom prst="ellipse">
            <a:avLst/>
          </a:prstGeom>
          <a:solidFill>
            <a:srgbClr val="FBE7EC"/>
          </a:solidFill>
          <a:ln w="12700">
            <a:solidFill>
              <a:srgbClr val="E23A6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926" y="2450958"/>
            <a:ext cx="237012" cy="23701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82496" y="2203704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is quoted separately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289864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MGS build quotation covers design and engineering only — it does not absorb running costs.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190488" y="1965960"/>
            <a:ext cx="5394960" cy="1691640"/>
          </a:xfrm>
          <a:prstGeom prst="roundRect">
            <a:avLst>
              <a:gd name="adj" fmla="val 4865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64808" y="2240280"/>
            <a:ext cx="658368" cy="658368"/>
          </a:xfrm>
          <a:prstGeom prst="ellipse">
            <a:avLst/>
          </a:prstGeom>
          <a:solidFill>
            <a:srgbClr val="E9EBFB"/>
          </a:solidFill>
          <a:ln w="12700">
            <a:solidFill>
              <a:srgbClr val="4A5AD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486" y="2450958"/>
            <a:ext cx="237012" cy="23701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306056" y="2203704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services billed at actuals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6483096" y="289864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SMS, AI, storage, calling, payment processing and cloud infrastructure are paid directly by the client or billed at real usage.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66928" y="3886200"/>
            <a:ext cx="5394960" cy="1691640"/>
          </a:xfrm>
          <a:prstGeom prst="roundRect">
            <a:avLst>
              <a:gd name="adj" fmla="val 4865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1248" y="4160520"/>
            <a:ext cx="658368" cy="658368"/>
          </a:xfrm>
          <a:prstGeom prst="ellipse">
            <a:avLst/>
          </a:prstGeom>
          <a:solidFill>
            <a:srgbClr val="E2F3F3"/>
          </a:solidFill>
          <a:ln w="12700">
            <a:solidFill>
              <a:srgbClr val="0E9AA0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926" y="4371198"/>
            <a:ext cx="237012" cy="23701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682496" y="4123944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hidden markup on usage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859536" y="481888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keeps the development quotation free of unpredictable, volume-driven costs that neither side can forecast precisely.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6190488" y="3886200"/>
            <a:ext cx="5394960" cy="1691640"/>
          </a:xfrm>
          <a:prstGeom prst="roundRect">
            <a:avLst>
              <a:gd name="adj" fmla="val 4865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464808" y="4160520"/>
            <a:ext cx="658368" cy="658368"/>
          </a:xfrm>
          <a:prstGeom prst="ellipse">
            <a:avLst/>
          </a:prstGeom>
          <a:solidFill>
            <a:srgbClr val="FAF0E3"/>
          </a:solidFill>
          <a:ln w="12700">
            <a:solidFill>
              <a:srgbClr val="D9832A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486" y="4371198"/>
            <a:ext cx="237012" cy="23701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306056" y="4123944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are indicative</a:t>
            </a:r>
            <a:endParaRPr lang="en-US" sz="1250" dirty="0"/>
          </a:p>
        </p:txBody>
      </p:sp>
      <p:sp>
        <p:nvSpPr>
          <p:cNvPr id="25" name="Text 19"/>
          <p:cNvSpPr txBox="1"/>
          <p:nvPr/>
        </p:nvSpPr>
        <p:spPr>
          <a:xfrm>
            <a:off x="6483096" y="481888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amount here is a planning estimate. Actual invoices depend on providers chosen and the app's real traffic.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21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6000"/>
          </a:blip>
          <a:stretch>
            <a:fillRect/>
          </a:stretch>
        </p:blipFill>
        <p:spPr>
          <a:xfrm>
            <a:off x="8686800" y="1920240"/>
            <a:ext cx="5486400" cy="54864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2788920"/>
            <a:ext cx="402336" cy="402336"/>
          </a:xfrm>
          <a:prstGeom prst="ellipse">
            <a:avLst/>
          </a:prstGeom>
          <a:solidFill>
            <a:srgbClr val="E23A63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133856" y="2743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MGS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320040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4434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Dating Application — Third-Party &amp; Operating Costs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MGS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Dating Application — Third-Party &amp; Operating Costs</dc:title>
  <dc:subject>PptxGenJS Presentation</dc:subject>
  <dc:creator>MGS</dc:creator>
  <cp:lastModifiedBy>MGS</cp:lastModifiedBy>
  <cp:revision>1</cp:revision>
  <dcterms:created xsi:type="dcterms:W3CDTF">2026-09-04T04:50:52Z</dcterms:created>
  <dcterms:modified xsi:type="dcterms:W3CDTF">2026-09-04T04:50:52Z</dcterms:modified>
</cp:coreProperties>
</file>