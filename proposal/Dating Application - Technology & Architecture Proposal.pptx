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</p:sldIdLst>
  <p:notesMasterIdLst>
    <p:notesMasterId r:id="rId3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notesMaster" Target="notesMasters/notesMaster1.xml"/><Relationship Id="rId32" Type="http://schemas.openxmlformats.org/officeDocument/2006/relationships/presProps" Target="presProps.xml"/><Relationship Id="rId33" Type="http://schemas.openxmlformats.org/officeDocument/2006/relationships/viewProps" Target="viewProps.xml"/><Relationship Id="rId34" Type="http://schemas.openxmlformats.org/officeDocument/2006/relationships/theme" Target="theme/theme1.xml"/><Relationship Id="rId3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image" Target="../media/image-3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image" Target="../media/image-5-8.png"/><Relationship Id="rId9" Type="http://schemas.openxmlformats.org/officeDocument/2006/relationships/image" Target="../media/image-5-9.png"/><Relationship Id="rId10" Type="http://schemas.openxmlformats.org/officeDocument/2006/relationships/image" Target="../media/image-5-10.png"/><Relationship Id="rId11" Type="http://schemas.openxmlformats.org/officeDocument/2006/relationships/image" Target="../media/image-5-11.png"/><Relationship Id="rId12" Type="http://schemas.openxmlformats.org/officeDocument/2006/relationships/image" Target="../media/image-5-12.png"/><Relationship Id="rId13" Type="http://schemas.openxmlformats.org/officeDocument/2006/relationships/image" Target="../media/image-5-13.png"/><Relationship Id="rId14" Type="http://schemas.openxmlformats.org/officeDocument/2006/relationships/slideLayout" Target="../slideLayouts/slideLayout1.xml"/><Relationship Id="rId1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image" Target="../media/image-10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image" Target="../media/image-1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image" Target="../media/image-1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image" Target="../media/image-16-4.png"/><Relationship Id="rId5" Type="http://schemas.openxmlformats.org/officeDocument/2006/relationships/image" Target="../media/image-16-5.png"/><Relationship Id="rId6" Type="http://schemas.openxmlformats.org/officeDocument/2006/relationships/image" Target="../media/image-16-6.png"/><Relationship Id="rId7" Type="http://schemas.openxmlformats.org/officeDocument/2006/relationships/image" Target="../media/image-16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image" Target="../media/image-18-3.png"/><Relationship Id="rId4" Type="http://schemas.openxmlformats.org/officeDocument/2006/relationships/image" Target="../media/image-18-4.png"/><Relationship Id="rId5" Type="http://schemas.openxmlformats.org/officeDocument/2006/relationships/image" Target="../media/image-18-5.png"/><Relationship Id="rId6" Type="http://schemas.openxmlformats.org/officeDocument/2006/relationships/image" Target="../media/image-18-6.png"/><Relationship Id="rId7" Type="http://schemas.openxmlformats.org/officeDocument/2006/relationships/image" Target="../media/image-18-7.png"/><Relationship Id="rId8" Type="http://schemas.openxmlformats.org/officeDocument/2006/relationships/image" Target="../media/image-18-8.png"/><Relationship Id="rId9" Type="http://schemas.openxmlformats.org/officeDocument/2006/relationships/image" Target="../media/image-18-9.png"/><Relationship Id="rId10" Type="http://schemas.openxmlformats.org/officeDocument/2006/relationships/image" Target="../media/image-18-10.png"/><Relationship Id="rId11" Type="http://schemas.openxmlformats.org/officeDocument/2006/relationships/image" Target="../media/image-18-11.png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image" Target="../media/image-19-3.png"/><Relationship Id="rId4" Type="http://schemas.openxmlformats.org/officeDocument/2006/relationships/image" Target="../media/image-19-4.png"/><Relationship Id="rId5" Type="http://schemas.openxmlformats.org/officeDocument/2006/relationships/image" Target="../media/image-19-5.png"/><Relationship Id="rId6" Type="http://schemas.openxmlformats.org/officeDocument/2006/relationships/image" Target="../media/image-19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png"/><Relationship Id="rId3" Type="http://schemas.openxmlformats.org/officeDocument/2006/relationships/image" Target="../media/image-21-3.png"/><Relationship Id="rId4" Type="http://schemas.openxmlformats.org/officeDocument/2006/relationships/image" Target="../media/image-21-4.png"/><Relationship Id="rId5" Type="http://schemas.openxmlformats.org/officeDocument/2006/relationships/image" Target="../media/image-2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22-2.png"/><Relationship Id="rId3" Type="http://schemas.openxmlformats.org/officeDocument/2006/relationships/image" Target="../media/image-22-3.png"/><Relationship Id="rId4" Type="http://schemas.openxmlformats.org/officeDocument/2006/relationships/image" Target="../media/image-22-4.png"/><Relationship Id="rId5" Type="http://schemas.openxmlformats.org/officeDocument/2006/relationships/image" Target="../media/image-22-5.png"/><Relationship Id="rId6" Type="http://schemas.openxmlformats.org/officeDocument/2006/relationships/image" Target="../media/image-22-6.png"/><Relationship Id="rId7" Type="http://schemas.openxmlformats.org/officeDocument/2006/relationships/image" Target="../media/image-22-7.png"/><Relationship Id="rId8" Type="http://schemas.openxmlformats.org/officeDocument/2006/relationships/image" Target="../media/image-22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image" Target="../media/image-23-2.png"/><Relationship Id="rId3" Type="http://schemas.openxmlformats.org/officeDocument/2006/relationships/image" Target="../media/image-23-3.png"/><Relationship Id="rId4" Type="http://schemas.openxmlformats.org/officeDocument/2006/relationships/image" Target="../media/image-2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21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alphaModFix amt="18000"/>
          </a:blip>
          <a:stretch>
            <a:fillRect/>
          </a:stretch>
        </p:blipFill>
        <p:spPr>
          <a:xfrm>
            <a:off x="8138160" y="1554480"/>
            <a:ext cx="5852160" cy="585216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822960" y="822960"/>
            <a:ext cx="402336" cy="402336"/>
          </a:xfrm>
          <a:prstGeom prst="ellipse">
            <a:avLst/>
          </a:prstGeom>
          <a:solidFill>
            <a:srgbClr val="E23A63"/>
          </a:solidFill>
          <a:ln/>
        </p:spPr>
      </p:sp>
      <p:sp>
        <p:nvSpPr>
          <p:cNvPr id="4" name="Text 1"/>
          <p:cNvSpPr txBox="1"/>
          <p:nvPr/>
        </p:nvSpPr>
        <p:spPr>
          <a:xfrm>
            <a:off x="1371600" y="786384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MGS</a:t>
            </a:r>
            <a:endParaRPr lang="en-US" sz="1300" dirty="0"/>
          </a:p>
        </p:txBody>
      </p:sp>
      <p:sp>
        <p:nvSpPr>
          <p:cNvPr id="5" name="Text 2"/>
          <p:cNvSpPr txBox="1"/>
          <p:nvPr/>
        </p:nvSpPr>
        <p:spPr>
          <a:xfrm>
            <a:off x="566928" y="214884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Dating Application</a:t>
            </a:r>
            <a:endParaRPr lang="en-US" sz="5200" dirty="0"/>
          </a:p>
        </p:txBody>
      </p:sp>
      <p:sp>
        <p:nvSpPr>
          <p:cNvPr id="6" name="Text 3"/>
          <p:cNvSpPr txBox="1"/>
          <p:nvPr/>
        </p:nvSpPr>
        <p:spPr>
          <a:xfrm>
            <a:off x="566928" y="320040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E23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&amp; Architecture Proposal</a:t>
            </a:r>
            <a:endParaRPr lang="en-US" sz="2600" dirty="0"/>
          </a:p>
        </p:txBody>
      </p:sp>
      <p:sp>
        <p:nvSpPr>
          <p:cNvPr id="7" name="Text 4"/>
          <p:cNvSpPr txBox="1"/>
          <p:nvPr/>
        </p:nvSpPr>
        <p:spPr>
          <a:xfrm>
            <a:off x="566928" y="411480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C9C9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modern, safety-first dating platform for Malaysia, the Maldives &amp; India — </a:t>
            </a:r>
            <a:pPr indent="0" marL="0">
              <a:lnSpc>
                <a:spcPct val="125000"/>
              </a:lnSpc>
              <a:buNone/>
            </a:pPr>
            <a:r>
              <a:rPr lang="en-US" sz="1350" i="1" dirty="0">
                <a:solidFill>
                  <a:srgbClr val="C9C9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for meaningful connections, not another swipe clone.</a:t>
            </a:r>
            <a:endParaRPr lang="en-US" sz="1350" dirty="0"/>
          </a:p>
        </p:txBody>
      </p:sp>
      <p:sp>
        <p:nvSpPr>
          <p:cNvPr id="8" name="Text 5"/>
          <p:cNvSpPr txBox="1"/>
          <p:nvPr/>
        </p:nvSpPr>
        <p:spPr>
          <a:xfrm>
            <a:off x="566928" y="59436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v1.0</a:t>
            </a:r>
            <a:pPr indent="0" marL="0">
              <a:buNone/>
            </a:pPr>
            <a:r>
              <a:rPr lang="en-US" sz="1050" dirty="0">
                <a:solidFill>
                  <a:srgbClr val="9A9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Prepared for client review     </a:t>
            </a:r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September 2026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02336"/>
            <a:ext cx="1105783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E23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58368"/>
            <a:ext cx="11057839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F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</a:t>
            </a:r>
            <a:endParaRPr lang="en-US" sz="29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6E71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MGS</a:t>
            </a:r>
            <a:pPr algn="l" indent="0" marL="0">
              <a:buNone/>
            </a:pPr>
            <a:r>
              <a:rPr lang="en-US" sz="850" dirty="0">
                <a:solidFill>
                  <a:srgbClr val="6E71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|   Dating Application — Technology &amp; Architecture Proposal</a:t>
            </a:r>
            <a:endParaRPr lang="en-US" sz="850" dirty="0"/>
          </a:p>
        </p:txBody>
      </p:sp>
      <p:sp>
        <p:nvSpPr>
          <p:cNvPr id="5" name="Text 3"/>
          <p:cNvSpPr txBox="1"/>
          <p:nvPr/>
        </p:nvSpPr>
        <p:spPr>
          <a:xfrm>
            <a:off x="10893247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E71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85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1783080"/>
            <a:ext cx="612648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E23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objective</a:t>
            </a:r>
            <a:endParaRPr lang="en-US" sz="1200" dirty="0"/>
          </a:p>
          <a:p>
            <a:pPr indent="0" marL="0">
              <a:lnSpc>
                <a:spcPct val="128000"/>
              </a:lnSpc>
              <a:spcAft>
                <a:spcPts val="1600"/>
              </a:spcAft>
              <a:buNone/>
            </a:pPr>
            <a:r>
              <a:rPr lang="en-US" sz="1250" dirty="0">
                <a:solidFill>
                  <a:srgbClr val="3436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 a modern dating application focused on meaningful connections, profile authenticity, smart matching and user safety — with its own branding, UI/UX and product identity.</a:t>
            </a:r>
            <a:endParaRPr lang="en-US" sz="1200" dirty="0"/>
          </a:p>
          <a:p>
            <a:pPr indent="0" marL="0">
              <a:lnSpc>
                <a:spcPct val="128000"/>
              </a:lnSpc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E23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approach</a:t>
            </a:r>
            <a:endParaRPr lang="en-US" sz="12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3436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Rather than competing head-on with Tinder or Bumble, the product targets a distinct niche / community. It is delivered in disciplined phases — a tested MVP first, then premium, communication and AI capabilities.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66928" y="5029200"/>
            <a:ext cx="6126480" cy="868680"/>
          </a:xfrm>
          <a:prstGeom prst="roundRect">
            <a:avLst>
              <a:gd name="adj" fmla="val 10526"/>
            </a:avLst>
          </a:prstGeom>
          <a:solidFill>
            <a:srgbClr val="F7F7FB"/>
          </a:solidFill>
          <a:ln w="12700">
            <a:solidFill>
              <a:srgbClr val="E6E6F0"/>
            </a:solidFill>
            <a:prstDash val="solid"/>
          </a:ln>
          <a:effectLst>
            <a:outerShdw sx="100000" sy="100000" kx="0" ky="0" algn="bl" rotWithShape="0" blurRad="88900" dist="25400" dir="5400000">
              <a:srgbClr val="9A9AB5">
                <a:alpha val="2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841248" y="5230368"/>
            <a:ext cx="475488" cy="475488"/>
          </a:xfrm>
          <a:prstGeom prst="ellipse">
            <a:avLst/>
          </a:prstGeom>
          <a:solidFill>
            <a:srgbClr val="FBE7EC"/>
          </a:solidFill>
          <a:ln w="12700">
            <a:solidFill>
              <a:srgbClr val="E23A63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8159" y="5387279"/>
            <a:ext cx="161666" cy="161666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1481328" y="5029200"/>
            <a:ext cx="5029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i="1" dirty="0">
                <a:solidFill>
                  <a:srgbClr val="3436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Safety, verification and matching quality are the product's differentiators.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7040880" y="1828800"/>
            <a:ext cx="4617720" cy="932688"/>
          </a:xfrm>
          <a:prstGeom prst="roundRect">
            <a:avLst>
              <a:gd name="adj" fmla="val 9804"/>
            </a:avLst>
          </a:prstGeom>
          <a:solidFill>
            <a:srgbClr val="FBE7EC"/>
          </a:solidFill>
          <a:ln w="12700">
            <a:solidFill>
              <a:srgbClr val="FBE7EC"/>
            </a:solidFill>
            <a:prstDash val="solid"/>
          </a:ln>
          <a:effectLst>
            <a:outerShdw sx="100000" sy="100000" kx="0" ky="0" algn="bl" rotWithShape="0" blurRad="88900" dist="25400" dir="5400000">
              <a:srgbClr val="9A9AB5">
                <a:alpha val="22000"/>
              </a:srgbClr>
            </a:outerShdw>
          </a:effectLst>
        </p:spPr>
      </p:sp>
      <p:sp>
        <p:nvSpPr>
          <p:cNvPr id="12" name="Text 9"/>
          <p:cNvSpPr txBox="1"/>
          <p:nvPr/>
        </p:nvSpPr>
        <p:spPr>
          <a:xfrm>
            <a:off x="7333488" y="1828800"/>
            <a:ext cx="173736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E23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800" dirty="0"/>
          </a:p>
        </p:txBody>
      </p:sp>
      <p:sp>
        <p:nvSpPr>
          <p:cNvPr id="13" name="Text 10"/>
          <p:cNvSpPr txBox="1"/>
          <p:nvPr/>
        </p:nvSpPr>
        <p:spPr>
          <a:xfrm>
            <a:off x="9006840" y="1828800"/>
            <a:ext cx="242316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436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markets — phased rollout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7040880" y="3017520"/>
            <a:ext cx="4617720" cy="932688"/>
          </a:xfrm>
          <a:prstGeom prst="roundRect">
            <a:avLst>
              <a:gd name="adj" fmla="val 9804"/>
            </a:avLst>
          </a:prstGeom>
          <a:solidFill>
            <a:srgbClr val="E9EBFB"/>
          </a:solidFill>
          <a:ln w="12700">
            <a:solidFill>
              <a:srgbClr val="E9EBFB"/>
            </a:solidFill>
            <a:prstDash val="solid"/>
          </a:ln>
          <a:effectLst>
            <a:outerShdw sx="100000" sy="100000" kx="0" ky="0" algn="bl" rotWithShape="0" blurRad="88900" dist="25400" dir="5400000">
              <a:srgbClr val="9A9AB5">
                <a:alpha val="22000"/>
              </a:srgbClr>
            </a:outerShdw>
          </a:effectLst>
        </p:spPr>
      </p:sp>
      <p:sp>
        <p:nvSpPr>
          <p:cNvPr id="15" name="Text 12"/>
          <p:cNvSpPr txBox="1"/>
          <p:nvPr/>
        </p:nvSpPr>
        <p:spPr>
          <a:xfrm>
            <a:off x="7333488" y="3017520"/>
            <a:ext cx="173736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4A5A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2800" dirty="0"/>
          </a:p>
        </p:txBody>
      </p:sp>
      <p:sp>
        <p:nvSpPr>
          <p:cNvPr id="16" name="Text 13"/>
          <p:cNvSpPr txBox="1"/>
          <p:nvPr/>
        </p:nvSpPr>
        <p:spPr>
          <a:xfrm>
            <a:off x="9006840" y="3017520"/>
            <a:ext cx="242316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436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feature modules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7040880" y="4206240"/>
            <a:ext cx="4617720" cy="932688"/>
          </a:xfrm>
          <a:prstGeom prst="roundRect">
            <a:avLst>
              <a:gd name="adj" fmla="val 9804"/>
            </a:avLst>
          </a:prstGeom>
          <a:solidFill>
            <a:srgbClr val="E2F3F3"/>
          </a:solidFill>
          <a:ln w="12700">
            <a:solidFill>
              <a:srgbClr val="E2F3F3"/>
            </a:solidFill>
            <a:prstDash val="solid"/>
          </a:ln>
          <a:effectLst>
            <a:outerShdw sx="100000" sy="100000" kx="0" ky="0" algn="bl" rotWithShape="0" blurRad="88900" dist="25400" dir="5400000">
              <a:srgbClr val="9A9AB5">
                <a:alpha val="22000"/>
              </a:srgbClr>
            </a:outerShdw>
          </a:effectLst>
        </p:spPr>
      </p:sp>
      <p:sp>
        <p:nvSpPr>
          <p:cNvPr id="18" name="Text 15"/>
          <p:cNvSpPr txBox="1"/>
          <p:nvPr/>
        </p:nvSpPr>
        <p:spPr>
          <a:xfrm>
            <a:off x="7333488" y="4206240"/>
            <a:ext cx="173736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9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2800" dirty="0"/>
          </a:p>
        </p:txBody>
      </p:sp>
      <p:sp>
        <p:nvSpPr>
          <p:cNvPr id="19" name="Text 16"/>
          <p:cNvSpPr txBox="1"/>
          <p:nvPr/>
        </p:nvSpPr>
        <p:spPr>
          <a:xfrm>
            <a:off x="9006840" y="4206240"/>
            <a:ext cx="242316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436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phases (0 – 5)</a:t>
            </a:r>
            <a:endParaRPr lang="en-US" sz="1150" dirty="0"/>
          </a:p>
        </p:txBody>
      </p:sp>
      <p:sp>
        <p:nvSpPr>
          <p:cNvPr id="20" name="Shape 17"/>
          <p:cNvSpPr/>
          <p:nvPr/>
        </p:nvSpPr>
        <p:spPr>
          <a:xfrm>
            <a:off x="7040880" y="5394960"/>
            <a:ext cx="4617720" cy="932688"/>
          </a:xfrm>
          <a:prstGeom prst="roundRect">
            <a:avLst>
              <a:gd name="adj" fmla="val 9804"/>
            </a:avLst>
          </a:prstGeom>
          <a:solidFill>
            <a:srgbClr val="FAF0E3"/>
          </a:solidFill>
          <a:ln w="12700">
            <a:solidFill>
              <a:srgbClr val="FAF0E3"/>
            </a:solidFill>
            <a:prstDash val="solid"/>
          </a:ln>
          <a:effectLst>
            <a:outerShdw sx="100000" sy="100000" kx="0" ky="0" algn="bl" rotWithShape="0" blurRad="88900" dist="25400" dir="5400000">
              <a:srgbClr val="9A9AB5">
                <a:alpha val="22000"/>
              </a:srgbClr>
            </a:outerShdw>
          </a:effectLst>
        </p:spPr>
      </p:sp>
      <p:sp>
        <p:nvSpPr>
          <p:cNvPr id="21" name="Text 18"/>
          <p:cNvSpPr txBox="1"/>
          <p:nvPr/>
        </p:nvSpPr>
        <p:spPr>
          <a:xfrm>
            <a:off x="7333488" y="5394960"/>
            <a:ext cx="173736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D98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20–28</a:t>
            </a:r>
            <a:endParaRPr lang="en-US" sz="2800" dirty="0"/>
          </a:p>
        </p:txBody>
      </p:sp>
      <p:sp>
        <p:nvSpPr>
          <p:cNvPr id="22" name="Text 19"/>
          <p:cNvSpPr txBox="1"/>
          <p:nvPr/>
        </p:nvSpPr>
        <p:spPr>
          <a:xfrm>
            <a:off x="9006840" y="5394960"/>
            <a:ext cx="242316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436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— planning estimate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02336"/>
            <a:ext cx="1105783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E23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VISION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58368"/>
            <a:ext cx="11057839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F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Eight principles the product is built on</a:t>
            </a:r>
            <a:endParaRPr lang="en-US" sz="29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6E71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MGS</a:t>
            </a:r>
            <a:pPr algn="l" indent="0" marL="0">
              <a:buNone/>
            </a:pPr>
            <a:r>
              <a:rPr lang="en-US" sz="850" dirty="0">
                <a:solidFill>
                  <a:srgbClr val="6E71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|   Dating Application — Technology &amp; Architecture Proposal</a:t>
            </a:r>
            <a:endParaRPr lang="en-US" sz="850" dirty="0"/>
          </a:p>
        </p:txBody>
      </p:sp>
      <p:sp>
        <p:nvSpPr>
          <p:cNvPr id="5" name="Text 3"/>
          <p:cNvSpPr txBox="1"/>
          <p:nvPr/>
        </p:nvSpPr>
        <p:spPr>
          <a:xfrm>
            <a:off x="10893247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E71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566928" y="1783080"/>
            <a:ext cx="2615184" cy="1572768"/>
          </a:xfrm>
          <a:prstGeom prst="roundRect">
            <a:avLst>
              <a:gd name="adj" fmla="val 5814"/>
            </a:avLst>
          </a:prstGeom>
          <a:solidFill>
            <a:srgbClr val="F7F7FB"/>
          </a:solidFill>
          <a:ln w="12700">
            <a:solidFill>
              <a:srgbClr val="E6E6F0"/>
            </a:solidFill>
            <a:prstDash val="solid"/>
          </a:ln>
          <a:effectLst>
            <a:outerShdw sx="100000" sy="100000" kx="0" ky="0" algn="bl" rotWithShape="0" blurRad="88900" dist="25400" dir="5400000">
              <a:srgbClr val="9A9AB5">
                <a:alpha val="2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86384" y="1984248"/>
            <a:ext cx="676656" cy="676656"/>
          </a:xfrm>
          <a:prstGeom prst="ellipse">
            <a:avLst/>
          </a:prstGeom>
          <a:solidFill>
            <a:srgbClr val="FBE7EC"/>
          </a:solidFill>
          <a:ln w="12700">
            <a:solidFill>
              <a:srgbClr val="E23A63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9680" y="2207544"/>
            <a:ext cx="230063" cy="230063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786384" y="2715768"/>
            <a:ext cx="22128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F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Meaningful connections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3355848" y="1783080"/>
            <a:ext cx="2615184" cy="1572768"/>
          </a:xfrm>
          <a:prstGeom prst="roundRect">
            <a:avLst>
              <a:gd name="adj" fmla="val 5814"/>
            </a:avLst>
          </a:prstGeom>
          <a:solidFill>
            <a:srgbClr val="F7F7FB"/>
          </a:solidFill>
          <a:ln w="12700">
            <a:solidFill>
              <a:srgbClr val="E6E6F0"/>
            </a:solidFill>
            <a:prstDash val="solid"/>
          </a:ln>
          <a:effectLst>
            <a:outerShdw sx="100000" sy="100000" kx="0" ky="0" algn="bl" rotWithShape="0" blurRad="88900" dist="25400" dir="5400000">
              <a:srgbClr val="9A9AB5">
                <a:alpha val="2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575304" y="1984248"/>
            <a:ext cx="676656" cy="676656"/>
          </a:xfrm>
          <a:prstGeom prst="ellipse">
            <a:avLst/>
          </a:prstGeom>
          <a:solidFill>
            <a:srgbClr val="E2F3F3"/>
          </a:solidFill>
          <a:ln w="12700">
            <a:solidFill>
              <a:srgbClr val="0E9AA0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98600" y="2207544"/>
            <a:ext cx="230063" cy="230063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3575304" y="2715768"/>
            <a:ext cx="22128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F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 authenticity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6144768" y="1783080"/>
            <a:ext cx="2615184" cy="1572768"/>
          </a:xfrm>
          <a:prstGeom prst="roundRect">
            <a:avLst>
              <a:gd name="adj" fmla="val 5814"/>
            </a:avLst>
          </a:prstGeom>
          <a:solidFill>
            <a:srgbClr val="F7F7FB"/>
          </a:solidFill>
          <a:ln w="12700">
            <a:solidFill>
              <a:srgbClr val="E6E6F0"/>
            </a:solidFill>
            <a:prstDash val="solid"/>
          </a:ln>
          <a:effectLst>
            <a:outerShdw sx="100000" sy="100000" kx="0" ky="0" algn="bl" rotWithShape="0" blurRad="88900" dist="25400" dir="5400000">
              <a:srgbClr val="9A9AB5">
                <a:alpha val="2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364224" y="1984248"/>
            <a:ext cx="676656" cy="676656"/>
          </a:xfrm>
          <a:prstGeom prst="ellipse">
            <a:avLst/>
          </a:prstGeom>
          <a:solidFill>
            <a:srgbClr val="E9EBFB"/>
          </a:solidFill>
          <a:ln w="12700">
            <a:solidFill>
              <a:srgbClr val="4A5AD8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7520" y="2207544"/>
            <a:ext cx="230063" cy="230063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6364224" y="2715768"/>
            <a:ext cx="22128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F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matching</a:t>
            </a:r>
            <a:endParaRPr lang="en-US" sz="1200" dirty="0"/>
          </a:p>
        </p:txBody>
      </p:sp>
      <p:sp>
        <p:nvSpPr>
          <p:cNvPr id="18" name="Shape 13"/>
          <p:cNvSpPr/>
          <p:nvPr/>
        </p:nvSpPr>
        <p:spPr>
          <a:xfrm>
            <a:off x="8933688" y="1783080"/>
            <a:ext cx="2615184" cy="1572768"/>
          </a:xfrm>
          <a:prstGeom prst="roundRect">
            <a:avLst>
              <a:gd name="adj" fmla="val 5814"/>
            </a:avLst>
          </a:prstGeom>
          <a:solidFill>
            <a:srgbClr val="F7F7FB"/>
          </a:solidFill>
          <a:ln w="12700">
            <a:solidFill>
              <a:srgbClr val="E6E6F0"/>
            </a:solidFill>
            <a:prstDash val="solid"/>
          </a:ln>
          <a:effectLst>
            <a:outerShdw sx="100000" sy="100000" kx="0" ky="0" algn="bl" rotWithShape="0" blurRad="88900" dist="25400" dir="5400000">
              <a:srgbClr val="9A9AB5">
                <a:alpha val="22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9153144" y="1984248"/>
            <a:ext cx="676656" cy="676656"/>
          </a:xfrm>
          <a:prstGeom prst="ellipse">
            <a:avLst/>
          </a:prstGeom>
          <a:solidFill>
            <a:srgbClr val="FAF0E3"/>
          </a:solidFill>
          <a:ln w="12700">
            <a:solidFill>
              <a:srgbClr val="D9832A"/>
            </a:solidFill>
            <a:prstDash val="solid"/>
          </a:ln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76440" y="2207544"/>
            <a:ext cx="230063" cy="230063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9153144" y="2715768"/>
            <a:ext cx="22128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F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Location-based discovery</a:t>
            </a:r>
            <a:endParaRPr lang="en-US" sz="1200" dirty="0"/>
          </a:p>
        </p:txBody>
      </p:sp>
      <p:sp>
        <p:nvSpPr>
          <p:cNvPr id="22" name="Shape 16"/>
          <p:cNvSpPr/>
          <p:nvPr/>
        </p:nvSpPr>
        <p:spPr>
          <a:xfrm>
            <a:off x="566928" y="3739896"/>
            <a:ext cx="2615184" cy="1572768"/>
          </a:xfrm>
          <a:prstGeom prst="roundRect">
            <a:avLst>
              <a:gd name="adj" fmla="val 5814"/>
            </a:avLst>
          </a:prstGeom>
          <a:solidFill>
            <a:srgbClr val="F7F7FB"/>
          </a:solidFill>
          <a:ln w="12700">
            <a:solidFill>
              <a:srgbClr val="E6E6F0"/>
            </a:solidFill>
            <a:prstDash val="solid"/>
          </a:ln>
          <a:effectLst>
            <a:outerShdw sx="100000" sy="100000" kx="0" ky="0" algn="bl" rotWithShape="0" blurRad="88900" dist="25400" dir="5400000">
              <a:srgbClr val="9A9AB5">
                <a:alpha val="22000"/>
              </a:srgbClr>
            </a:outerShdw>
          </a:effectLst>
        </p:spPr>
      </p:sp>
      <p:sp>
        <p:nvSpPr>
          <p:cNvPr id="23" name="Shape 17"/>
          <p:cNvSpPr/>
          <p:nvPr/>
        </p:nvSpPr>
        <p:spPr>
          <a:xfrm>
            <a:off x="786384" y="3941064"/>
            <a:ext cx="676656" cy="676656"/>
          </a:xfrm>
          <a:prstGeom prst="ellipse">
            <a:avLst/>
          </a:prstGeom>
          <a:solidFill>
            <a:srgbClr val="F2E9F8"/>
          </a:solidFill>
          <a:ln w="12700">
            <a:solidFill>
              <a:srgbClr val="8A3FB5"/>
            </a:solidFill>
            <a:prstDash val="solid"/>
          </a:ln>
        </p:spPr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9680" y="4164360"/>
            <a:ext cx="230063" cy="230063"/>
          </a:xfrm>
          <a:prstGeom prst="rect">
            <a:avLst/>
          </a:prstGeom>
        </p:spPr>
      </p:pic>
      <p:sp>
        <p:nvSpPr>
          <p:cNvPr id="25" name="Text 18"/>
          <p:cNvSpPr txBox="1"/>
          <p:nvPr/>
        </p:nvSpPr>
        <p:spPr>
          <a:xfrm>
            <a:off x="786384" y="4672584"/>
            <a:ext cx="22128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F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communication</a:t>
            </a:r>
            <a:endParaRPr lang="en-US" sz="1200" dirty="0"/>
          </a:p>
        </p:txBody>
      </p:sp>
      <p:sp>
        <p:nvSpPr>
          <p:cNvPr id="26" name="Shape 19"/>
          <p:cNvSpPr/>
          <p:nvPr/>
        </p:nvSpPr>
        <p:spPr>
          <a:xfrm>
            <a:off x="3355848" y="3739896"/>
            <a:ext cx="2615184" cy="1572768"/>
          </a:xfrm>
          <a:prstGeom prst="roundRect">
            <a:avLst>
              <a:gd name="adj" fmla="val 5814"/>
            </a:avLst>
          </a:prstGeom>
          <a:solidFill>
            <a:srgbClr val="F7F7FB"/>
          </a:solidFill>
          <a:ln w="12700">
            <a:solidFill>
              <a:srgbClr val="E6E6F0"/>
            </a:solidFill>
            <a:prstDash val="solid"/>
          </a:ln>
          <a:effectLst>
            <a:outerShdw sx="100000" sy="100000" kx="0" ky="0" algn="bl" rotWithShape="0" blurRad="88900" dist="25400" dir="5400000">
              <a:srgbClr val="9A9AB5">
                <a:alpha val="22000"/>
              </a:srgbClr>
            </a:outerShdw>
          </a:effectLst>
        </p:spPr>
      </p:sp>
      <p:sp>
        <p:nvSpPr>
          <p:cNvPr id="27" name="Shape 20"/>
          <p:cNvSpPr/>
          <p:nvPr/>
        </p:nvSpPr>
        <p:spPr>
          <a:xfrm>
            <a:off x="3575304" y="3941064"/>
            <a:ext cx="676656" cy="676656"/>
          </a:xfrm>
          <a:prstGeom prst="ellipse">
            <a:avLst/>
          </a:prstGeom>
          <a:solidFill>
            <a:srgbClr val="E4F4EC"/>
          </a:solidFill>
          <a:ln w="12700">
            <a:solidFill>
              <a:srgbClr val="2E9C68"/>
            </a:solidFill>
            <a:prstDash val="solid"/>
          </a:ln>
        </p:spPr>
      </p:sp>
      <p:pic>
        <p:nvPicPr>
          <p:cNvPr id="2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98600" y="4164360"/>
            <a:ext cx="230063" cy="230063"/>
          </a:xfrm>
          <a:prstGeom prst="rect">
            <a:avLst/>
          </a:prstGeom>
        </p:spPr>
      </p:pic>
      <p:sp>
        <p:nvSpPr>
          <p:cNvPr id="29" name="Text 21"/>
          <p:cNvSpPr txBox="1"/>
          <p:nvPr/>
        </p:nvSpPr>
        <p:spPr>
          <a:xfrm>
            <a:off x="3575304" y="4672584"/>
            <a:ext cx="22128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F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safety</a:t>
            </a:r>
            <a:endParaRPr lang="en-US" sz="1200" dirty="0"/>
          </a:p>
        </p:txBody>
      </p:sp>
      <p:sp>
        <p:nvSpPr>
          <p:cNvPr id="30" name="Shape 22"/>
          <p:cNvSpPr/>
          <p:nvPr/>
        </p:nvSpPr>
        <p:spPr>
          <a:xfrm>
            <a:off x="6144768" y="3739896"/>
            <a:ext cx="2615184" cy="1572768"/>
          </a:xfrm>
          <a:prstGeom prst="roundRect">
            <a:avLst>
              <a:gd name="adj" fmla="val 5814"/>
            </a:avLst>
          </a:prstGeom>
          <a:solidFill>
            <a:srgbClr val="F7F7FB"/>
          </a:solidFill>
          <a:ln w="12700">
            <a:solidFill>
              <a:srgbClr val="E6E6F0"/>
            </a:solidFill>
            <a:prstDash val="solid"/>
          </a:ln>
          <a:effectLst>
            <a:outerShdw sx="100000" sy="100000" kx="0" ky="0" algn="bl" rotWithShape="0" blurRad="88900" dist="25400" dir="5400000">
              <a:srgbClr val="9A9AB5">
                <a:alpha val="22000"/>
              </a:srgbClr>
            </a:outerShdw>
          </a:effectLst>
        </p:spPr>
      </p:sp>
      <p:sp>
        <p:nvSpPr>
          <p:cNvPr id="31" name="Shape 23"/>
          <p:cNvSpPr/>
          <p:nvPr/>
        </p:nvSpPr>
        <p:spPr>
          <a:xfrm>
            <a:off x="6364224" y="3941064"/>
            <a:ext cx="676656" cy="676656"/>
          </a:xfrm>
          <a:prstGeom prst="ellipse">
            <a:avLst/>
          </a:prstGeom>
          <a:solidFill>
            <a:srgbClr val="FBE7EC"/>
          </a:solidFill>
          <a:ln w="12700">
            <a:solidFill>
              <a:srgbClr val="E23A63"/>
            </a:solidFill>
            <a:prstDash val="solid"/>
          </a:ln>
        </p:spPr>
      </p:sp>
      <p:pic>
        <p:nvPicPr>
          <p:cNvPr id="32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87520" y="4164360"/>
            <a:ext cx="230063" cy="230063"/>
          </a:xfrm>
          <a:prstGeom prst="rect">
            <a:avLst/>
          </a:prstGeom>
        </p:spPr>
      </p:pic>
      <p:sp>
        <p:nvSpPr>
          <p:cNvPr id="33" name="Text 24"/>
          <p:cNvSpPr txBox="1"/>
          <p:nvPr/>
        </p:nvSpPr>
        <p:spPr>
          <a:xfrm>
            <a:off x="6364224" y="4672584"/>
            <a:ext cx="22128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F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 features</a:t>
            </a:r>
            <a:endParaRPr lang="en-US" sz="1200" dirty="0"/>
          </a:p>
        </p:txBody>
      </p:sp>
      <p:sp>
        <p:nvSpPr>
          <p:cNvPr id="34" name="Shape 25"/>
          <p:cNvSpPr/>
          <p:nvPr/>
        </p:nvSpPr>
        <p:spPr>
          <a:xfrm>
            <a:off x="8933688" y="3739896"/>
            <a:ext cx="2615184" cy="1572768"/>
          </a:xfrm>
          <a:prstGeom prst="roundRect">
            <a:avLst>
              <a:gd name="adj" fmla="val 5814"/>
            </a:avLst>
          </a:prstGeom>
          <a:solidFill>
            <a:srgbClr val="F7F7FB"/>
          </a:solidFill>
          <a:ln w="12700">
            <a:solidFill>
              <a:srgbClr val="E6E6F0"/>
            </a:solidFill>
            <a:prstDash val="solid"/>
          </a:ln>
          <a:effectLst>
            <a:outerShdw sx="100000" sy="100000" kx="0" ky="0" algn="bl" rotWithShape="0" blurRad="88900" dist="25400" dir="5400000">
              <a:srgbClr val="9A9AB5">
                <a:alpha val="22000"/>
              </a:srgbClr>
            </a:outerShdw>
          </a:effectLst>
        </p:spPr>
      </p:sp>
      <p:sp>
        <p:nvSpPr>
          <p:cNvPr id="35" name="Shape 26"/>
          <p:cNvSpPr/>
          <p:nvPr/>
        </p:nvSpPr>
        <p:spPr>
          <a:xfrm>
            <a:off x="9153144" y="3941064"/>
            <a:ext cx="676656" cy="676656"/>
          </a:xfrm>
          <a:prstGeom prst="ellipse">
            <a:avLst/>
          </a:prstGeom>
          <a:solidFill>
            <a:srgbClr val="E9EBFB"/>
          </a:solidFill>
          <a:ln w="12700">
            <a:solidFill>
              <a:srgbClr val="4A5AD8"/>
            </a:solidFill>
            <a:prstDash val="solid"/>
          </a:ln>
        </p:spPr>
      </p:sp>
      <p:pic>
        <p:nvPicPr>
          <p:cNvPr id="36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376440" y="4164360"/>
            <a:ext cx="230063" cy="230063"/>
          </a:xfrm>
          <a:prstGeom prst="rect">
            <a:avLst/>
          </a:prstGeom>
        </p:spPr>
      </p:pic>
      <p:sp>
        <p:nvSpPr>
          <p:cNvPr id="37" name="Text 27"/>
          <p:cNvSpPr txBox="1"/>
          <p:nvPr/>
        </p:nvSpPr>
        <p:spPr>
          <a:xfrm>
            <a:off x="9153144" y="4672584"/>
            <a:ext cx="22128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F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AI capabilities</a:t>
            </a:r>
            <a:endParaRPr lang="en-US" sz="1200" dirty="0"/>
          </a:p>
        </p:txBody>
      </p:sp>
      <p:sp>
        <p:nvSpPr>
          <p:cNvPr id="38" name="Text 28"/>
          <p:cNvSpPr txBox="1"/>
          <p:nvPr/>
        </p:nvSpPr>
        <p:spPr>
          <a:xfrm>
            <a:off x="566928" y="557784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E71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Its own branding, UI/UX and product identity — not a direct visual or functional copy of Tinder or Bumble.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02336"/>
            <a:ext cx="1105783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E23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POSITIONING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58368"/>
            <a:ext cx="11057839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F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distinct identity — and a focused market</a:t>
            </a:r>
            <a:endParaRPr lang="en-US" sz="29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6E71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MGS</a:t>
            </a:r>
            <a:pPr algn="l" indent="0" marL="0">
              <a:buNone/>
            </a:pPr>
            <a:r>
              <a:rPr lang="en-US" sz="850" dirty="0">
                <a:solidFill>
                  <a:srgbClr val="6E71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|   Dating Application — Technology &amp; Architecture Proposal</a:t>
            </a:r>
            <a:endParaRPr lang="en-US" sz="850" dirty="0"/>
          </a:p>
        </p:txBody>
      </p:sp>
      <p:sp>
        <p:nvSpPr>
          <p:cNvPr id="5" name="Text 3"/>
          <p:cNvSpPr txBox="1"/>
          <p:nvPr/>
        </p:nvSpPr>
        <p:spPr>
          <a:xfrm>
            <a:off x="10893247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E71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566928" y="1828800"/>
            <a:ext cx="5669280" cy="3931920"/>
          </a:xfrm>
          <a:prstGeom prst="roundRect">
            <a:avLst>
              <a:gd name="adj" fmla="val 2326"/>
            </a:avLst>
          </a:prstGeom>
          <a:solidFill>
            <a:srgbClr val="F7F7FB"/>
          </a:solidFill>
          <a:ln w="12700">
            <a:solidFill>
              <a:srgbClr val="E6E6F0"/>
            </a:solidFill>
            <a:prstDash val="solid"/>
          </a:ln>
          <a:effectLst>
            <a:outerShdw sx="100000" sy="100000" kx="0" ky="0" algn="bl" rotWithShape="0" blurRad="88900" dist="25400" dir="5400000">
              <a:srgbClr val="9A9AB5">
                <a:alpha val="2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59536" y="2103120"/>
            <a:ext cx="713232" cy="713232"/>
          </a:xfrm>
          <a:prstGeom prst="ellipse">
            <a:avLst/>
          </a:prstGeom>
          <a:solidFill>
            <a:srgbClr val="FBE7EC"/>
          </a:solidFill>
          <a:ln w="12700">
            <a:solidFill>
              <a:srgbClr val="E23A63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4903" y="2338487"/>
            <a:ext cx="242499" cy="242499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709928" y="2212848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identity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877824" y="292608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E71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product carves out its own space: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877824" y="3310128"/>
            <a:ext cx="51206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1100"/>
              </a:spcAft>
              <a:buSzPct val="100000"/>
              <a:buChar char="•"/>
            </a:pPr>
            <a:r>
              <a:rPr lang="en-US" sz="1150" dirty="0">
                <a:solidFill>
                  <a:srgbClr val="3436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 direct visual or functional copy of Tinder / Bumble</a:t>
            </a:r>
            <a:endParaRPr lang="en-US" sz="1200" dirty="0"/>
          </a:p>
          <a:p>
            <a:pPr marL="152400" indent="-152400">
              <a:spcAft>
                <a:spcPts val="1100"/>
              </a:spcAft>
              <a:buSzPct val="100000"/>
              <a:buChar char="•"/>
            </a:pPr>
            <a:r>
              <a:rPr lang="en-US" sz="1150" dirty="0">
                <a:solidFill>
                  <a:srgbClr val="3436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Its own branding, UI/UX and product identity</a:t>
            </a:r>
            <a:endParaRPr lang="en-US" sz="1200" dirty="0"/>
          </a:p>
          <a:p>
            <a:pPr marL="152400" indent="-152400">
              <a:spcAft>
                <a:spcPts val="1100"/>
              </a:spcAft>
              <a:buSzPct val="100000"/>
              <a:buChar char="•"/>
            </a:pPr>
            <a:r>
              <a:rPr lang="en-US" sz="1150" dirty="0">
                <a:solidFill>
                  <a:srgbClr val="3436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 on a distinct niche / community — not competing head-on with large platforms</a:t>
            </a:r>
            <a:endParaRPr lang="en-US" sz="1200" dirty="0"/>
          </a:p>
          <a:p>
            <a:pPr marL="152400" indent="-152400">
              <a:spcAft>
                <a:spcPts val="1100"/>
              </a:spcAft>
              <a:buSzPct val="100000"/>
              <a:buChar char="•"/>
            </a:pPr>
            <a:r>
              <a:rPr lang="en-US" sz="1150" dirty="0">
                <a:solidFill>
                  <a:srgbClr val="3436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Differentiation through safety, verification and matching quality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6446520" y="1828800"/>
            <a:ext cx="5193792" cy="3931920"/>
          </a:xfrm>
          <a:prstGeom prst="roundRect">
            <a:avLst>
              <a:gd name="adj" fmla="val 2326"/>
            </a:avLst>
          </a:prstGeom>
          <a:solidFill>
            <a:srgbClr val="E9EBFB"/>
          </a:solidFill>
          <a:ln w="12700">
            <a:solidFill>
              <a:srgbClr val="E9EBFB"/>
            </a:solidFill>
            <a:prstDash val="solid"/>
          </a:ln>
          <a:effectLst>
            <a:outerShdw sx="100000" sy="100000" kx="0" ky="0" algn="bl" rotWithShape="0" blurRad="88900" dist="25400" dir="5400000">
              <a:srgbClr val="9A9AB5">
                <a:alpha val="22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6739128" y="2103120"/>
            <a:ext cx="713232" cy="713232"/>
          </a:xfrm>
          <a:prstGeom prst="ellipse">
            <a:avLst/>
          </a:prstGeom>
          <a:solidFill>
            <a:srgbClr val="E9EBFB"/>
          </a:solidFill>
          <a:ln w="12700">
            <a:solidFill>
              <a:srgbClr val="4A5AD8"/>
            </a:solidFill>
            <a:prstDash val="solid"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74495" y="2338487"/>
            <a:ext cx="242499" cy="242499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7589520" y="2212848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market</a:t>
            </a:r>
            <a:endParaRPr lang="en-US" sz="1400" dirty="0"/>
          </a:p>
        </p:txBody>
      </p:sp>
      <p:sp>
        <p:nvSpPr>
          <p:cNvPr id="16" name="Shape 12"/>
          <p:cNvSpPr/>
          <p:nvPr/>
        </p:nvSpPr>
        <p:spPr>
          <a:xfrm>
            <a:off x="6766560" y="3017520"/>
            <a:ext cx="4526280" cy="585216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D8DBF5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67728" y="3172968"/>
            <a:ext cx="292608" cy="292608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7424928" y="3017520"/>
            <a:ext cx="21945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436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Malaysia</a:t>
            </a:r>
            <a:endParaRPr lang="en-US" sz="1250" dirty="0"/>
          </a:p>
        </p:txBody>
      </p:sp>
      <p:sp>
        <p:nvSpPr>
          <p:cNvPr id="19" name="Text 14"/>
          <p:cNvSpPr txBox="1"/>
          <p:nvPr/>
        </p:nvSpPr>
        <p:spPr>
          <a:xfrm>
            <a:off x="9144000" y="3017520"/>
            <a:ext cx="20116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100" kern="0" dirty="0">
                <a:solidFill>
                  <a:srgbClr val="4A5A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market</a:t>
            </a:r>
            <a:endParaRPr lang="en-US" sz="900" dirty="0"/>
          </a:p>
        </p:txBody>
      </p:sp>
      <p:sp>
        <p:nvSpPr>
          <p:cNvPr id="20" name="Shape 15"/>
          <p:cNvSpPr/>
          <p:nvPr/>
        </p:nvSpPr>
        <p:spPr>
          <a:xfrm>
            <a:off x="6766560" y="3730752"/>
            <a:ext cx="4526280" cy="585216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D8DBF5"/>
            </a:solidFill>
            <a:prstDash val="solid"/>
          </a:ln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67728" y="3886200"/>
            <a:ext cx="292608" cy="292608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7424928" y="3730752"/>
            <a:ext cx="21945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436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Maldives</a:t>
            </a:r>
            <a:endParaRPr lang="en-US" sz="1250" dirty="0"/>
          </a:p>
        </p:txBody>
      </p:sp>
      <p:sp>
        <p:nvSpPr>
          <p:cNvPr id="23" name="Text 17"/>
          <p:cNvSpPr txBox="1"/>
          <p:nvPr/>
        </p:nvSpPr>
        <p:spPr>
          <a:xfrm>
            <a:off x="9144000" y="3730752"/>
            <a:ext cx="20116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100" kern="0" dirty="0">
                <a:solidFill>
                  <a:srgbClr val="6E71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</a:t>
            </a:r>
            <a:endParaRPr lang="en-US" sz="900" dirty="0"/>
          </a:p>
        </p:txBody>
      </p:sp>
      <p:sp>
        <p:nvSpPr>
          <p:cNvPr id="24" name="Shape 18"/>
          <p:cNvSpPr/>
          <p:nvPr/>
        </p:nvSpPr>
        <p:spPr>
          <a:xfrm>
            <a:off x="6766560" y="4443984"/>
            <a:ext cx="4526280" cy="585216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D8DBF5"/>
            </a:solidFill>
            <a:prstDash val="solid"/>
          </a:ln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67728" y="4599432"/>
            <a:ext cx="292608" cy="292608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7424928" y="4443984"/>
            <a:ext cx="21945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436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</a:t>
            </a:r>
            <a:endParaRPr lang="en-US" sz="1250" dirty="0"/>
          </a:p>
        </p:txBody>
      </p:sp>
      <p:sp>
        <p:nvSpPr>
          <p:cNvPr id="27" name="Text 20"/>
          <p:cNvSpPr txBox="1"/>
          <p:nvPr/>
        </p:nvSpPr>
        <p:spPr>
          <a:xfrm>
            <a:off x="9144000" y="4443984"/>
            <a:ext cx="20116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100" kern="0" dirty="0">
                <a:solidFill>
                  <a:srgbClr val="6E71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</a:t>
            </a:r>
            <a:endParaRPr lang="en-US" sz="900" dirty="0"/>
          </a:p>
        </p:txBody>
      </p:sp>
      <p:sp>
        <p:nvSpPr>
          <p:cNvPr id="28" name="Text 21"/>
          <p:cNvSpPr txBox="1"/>
          <p:nvPr/>
        </p:nvSpPr>
        <p:spPr>
          <a:xfrm>
            <a:off x="6766560" y="528523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E71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Phased rollout — Malaysia first, then the Maldives and India.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02336"/>
            <a:ext cx="1105783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E23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FUNCTIONAL SCOPE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58368"/>
            <a:ext cx="11057839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F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Thirteen mobile feature modules</a:t>
            </a:r>
            <a:endParaRPr lang="en-US" sz="29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6E71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MGS</a:t>
            </a:r>
            <a:pPr algn="l" indent="0" marL="0">
              <a:buNone/>
            </a:pPr>
            <a:r>
              <a:rPr lang="en-US" sz="850" dirty="0">
                <a:solidFill>
                  <a:srgbClr val="6E71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|   Dating Application — Technology &amp; Architecture Proposal</a:t>
            </a:r>
            <a:endParaRPr lang="en-US" sz="850" dirty="0"/>
          </a:p>
        </p:txBody>
      </p:sp>
      <p:sp>
        <p:nvSpPr>
          <p:cNvPr id="5" name="Text 3"/>
          <p:cNvSpPr txBox="1"/>
          <p:nvPr/>
        </p:nvSpPr>
        <p:spPr>
          <a:xfrm>
            <a:off x="10893247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E71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566928" y="1965960"/>
            <a:ext cx="2103120" cy="932688"/>
          </a:xfrm>
          <a:prstGeom prst="roundRect">
            <a:avLst>
              <a:gd name="adj" fmla="val 9804"/>
            </a:avLst>
          </a:prstGeom>
          <a:solidFill>
            <a:srgbClr val="F7F7FB"/>
          </a:solidFill>
          <a:ln w="12700">
            <a:solidFill>
              <a:srgbClr val="E6E6F0"/>
            </a:solidFill>
            <a:prstDash val="solid"/>
          </a:ln>
          <a:effectLst>
            <a:outerShdw sx="100000" sy="100000" kx="0" ky="0" algn="bl" rotWithShape="0" blurRad="88900" dist="25400" dir="5400000">
              <a:srgbClr val="9A9AB5">
                <a:alpha val="2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13232" y="2167128"/>
            <a:ext cx="530352" cy="530352"/>
          </a:xfrm>
          <a:prstGeom prst="ellipse">
            <a:avLst/>
          </a:prstGeom>
          <a:solidFill>
            <a:srgbClr val="FBE7EC"/>
          </a:solidFill>
          <a:ln w="12700">
            <a:solidFill>
              <a:srgbClr val="E23A63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8248" y="2342144"/>
            <a:ext cx="180320" cy="18032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353312" y="1965960"/>
            <a:ext cx="1207008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F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2816352" y="1965960"/>
            <a:ext cx="2103120" cy="932688"/>
          </a:xfrm>
          <a:prstGeom prst="roundRect">
            <a:avLst>
              <a:gd name="adj" fmla="val 9804"/>
            </a:avLst>
          </a:prstGeom>
          <a:solidFill>
            <a:srgbClr val="F7F7FB"/>
          </a:solidFill>
          <a:ln w="12700">
            <a:solidFill>
              <a:srgbClr val="E6E6F0"/>
            </a:solidFill>
            <a:prstDash val="solid"/>
          </a:ln>
          <a:effectLst>
            <a:outerShdw sx="100000" sy="100000" kx="0" ky="0" algn="bl" rotWithShape="0" blurRad="88900" dist="25400" dir="5400000">
              <a:srgbClr val="9A9AB5">
                <a:alpha val="2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2962656" y="2167128"/>
            <a:ext cx="530352" cy="530352"/>
          </a:xfrm>
          <a:prstGeom prst="ellipse">
            <a:avLst/>
          </a:prstGeom>
          <a:solidFill>
            <a:srgbClr val="E2F3F3"/>
          </a:solidFill>
          <a:ln w="12700">
            <a:solidFill>
              <a:srgbClr val="0E9AA0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37672" y="2342144"/>
            <a:ext cx="180320" cy="18032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3602736" y="1965960"/>
            <a:ext cx="1207008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F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Onboarding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5065776" y="1965960"/>
            <a:ext cx="2103120" cy="932688"/>
          </a:xfrm>
          <a:prstGeom prst="roundRect">
            <a:avLst>
              <a:gd name="adj" fmla="val 9804"/>
            </a:avLst>
          </a:prstGeom>
          <a:solidFill>
            <a:srgbClr val="F7F7FB"/>
          </a:solidFill>
          <a:ln w="12700">
            <a:solidFill>
              <a:srgbClr val="E6E6F0"/>
            </a:solidFill>
            <a:prstDash val="solid"/>
          </a:ln>
          <a:effectLst>
            <a:outerShdw sx="100000" sy="100000" kx="0" ky="0" algn="bl" rotWithShape="0" blurRad="88900" dist="25400" dir="5400000">
              <a:srgbClr val="9A9AB5">
                <a:alpha val="2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5212080" y="2167128"/>
            <a:ext cx="530352" cy="530352"/>
          </a:xfrm>
          <a:prstGeom prst="ellipse">
            <a:avLst/>
          </a:prstGeom>
          <a:solidFill>
            <a:srgbClr val="E9EBFB"/>
          </a:solidFill>
          <a:ln w="12700">
            <a:solidFill>
              <a:srgbClr val="4A5AD8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87096" y="2342144"/>
            <a:ext cx="180320" cy="18032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5852160" y="1965960"/>
            <a:ext cx="1207008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F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</a:t>
            </a:r>
            <a:endParaRPr lang="en-US" sz="1050" dirty="0"/>
          </a:p>
        </p:txBody>
      </p:sp>
      <p:sp>
        <p:nvSpPr>
          <p:cNvPr id="18" name="Shape 13"/>
          <p:cNvSpPr/>
          <p:nvPr/>
        </p:nvSpPr>
        <p:spPr>
          <a:xfrm>
            <a:off x="7315200" y="1965960"/>
            <a:ext cx="2103120" cy="932688"/>
          </a:xfrm>
          <a:prstGeom prst="roundRect">
            <a:avLst>
              <a:gd name="adj" fmla="val 9804"/>
            </a:avLst>
          </a:prstGeom>
          <a:solidFill>
            <a:srgbClr val="F7F7FB"/>
          </a:solidFill>
          <a:ln w="12700">
            <a:solidFill>
              <a:srgbClr val="E6E6F0"/>
            </a:solidFill>
            <a:prstDash val="solid"/>
          </a:ln>
          <a:effectLst>
            <a:outerShdw sx="100000" sy="100000" kx="0" ky="0" algn="bl" rotWithShape="0" blurRad="88900" dist="25400" dir="5400000">
              <a:srgbClr val="9A9AB5">
                <a:alpha val="22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7461504" y="2167128"/>
            <a:ext cx="530352" cy="530352"/>
          </a:xfrm>
          <a:prstGeom prst="ellipse">
            <a:avLst/>
          </a:prstGeom>
          <a:solidFill>
            <a:srgbClr val="FAF0E3"/>
          </a:solidFill>
          <a:ln w="12700">
            <a:solidFill>
              <a:srgbClr val="D9832A"/>
            </a:solidFill>
            <a:prstDash val="solid"/>
          </a:ln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36520" y="2342144"/>
            <a:ext cx="180320" cy="180320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8101584" y="1965960"/>
            <a:ext cx="1207008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F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Discovery</a:t>
            </a:r>
            <a:endParaRPr lang="en-US" sz="1050" dirty="0"/>
          </a:p>
        </p:txBody>
      </p:sp>
      <p:sp>
        <p:nvSpPr>
          <p:cNvPr id="22" name="Shape 16"/>
          <p:cNvSpPr/>
          <p:nvPr/>
        </p:nvSpPr>
        <p:spPr>
          <a:xfrm>
            <a:off x="9564624" y="1965960"/>
            <a:ext cx="2103120" cy="932688"/>
          </a:xfrm>
          <a:prstGeom prst="roundRect">
            <a:avLst>
              <a:gd name="adj" fmla="val 9804"/>
            </a:avLst>
          </a:prstGeom>
          <a:solidFill>
            <a:srgbClr val="F7F7FB"/>
          </a:solidFill>
          <a:ln w="12700">
            <a:solidFill>
              <a:srgbClr val="E6E6F0"/>
            </a:solidFill>
            <a:prstDash val="solid"/>
          </a:ln>
          <a:effectLst>
            <a:outerShdw sx="100000" sy="100000" kx="0" ky="0" algn="bl" rotWithShape="0" blurRad="88900" dist="25400" dir="5400000">
              <a:srgbClr val="9A9AB5">
                <a:alpha val="22000"/>
              </a:srgbClr>
            </a:outerShdw>
          </a:effectLst>
        </p:spPr>
      </p:sp>
      <p:sp>
        <p:nvSpPr>
          <p:cNvPr id="23" name="Shape 17"/>
          <p:cNvSpPr/>
          <p:nvPr/>
        </p:nvSpPr>
        <p:spPr>
          <a:xfrm>
            <a:off x="9710928" y="2167128"/>
            <a:ext cx="530352" cy="530352"/>
          </a:xfrm>
          <a:prstGeom prst="ellipse">
            <a:avLst/>
          </a:prstGeom>
          <a:solidFill>
            <a:srgbClr val="F2E9F8"/>
          </a:solidFill>
          <a:ln w="12700">
            <a:solidFill>
              <a:srgbClr val="8A3FB5"/>
            </a:solidFill>
            <a:prstDash val="solid"/>
          </a:ln>
        </p:spPr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85944" y="2342144"/>
            <a:ext cx="180320" cy="180320"/>
          </a:xfrm>
          <a:prstGeom prst="rect">
            <a:avLst/>
          </a:prstGeom>
        </p:spPr>
      </p:pic>
      <p:sp>
        <p:nvSpPr>
          <p:cNvPr id="25" name="Text 18"/>
          <p:cNvSpPr txBox="1"/>
          <p:nvPr/>
        </p:nvSpPr>
        <p:spPr>
          <a:xfrm>
            <a:off x="10351008" y="1965960"/>
            <a:ext cx="1207008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F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Matching</a:t>
            </a:r>
            <a:endParaRPr lang="en-US" sz="1050" dirty="0"/>
          </a:p>
        </p:txBody>
      </p:sp>
      <p:sp>
        <p:nvSpPr>
          <p:cNvPr id="26" name="Shape 19"/>
          <p:cNvSpPr/>
          <p:nvPr/>
        </p:nvSpPr>
        <p:spPr>
          <a:xfrm>
            <a:off x="566928" y="3154680"/>
            <a:ext cx="2103120" cy="932688"/>
          </a:xfrm>
          <a:prstGeom prst="roundRect">
            <a:avLst>
              <a:gd name="adj" fmla="val 9804"/>
            </a:avLst>
          </a:prstGeom>
          <a:solidFill>
            <a:srgbClr val="F7F7FB"/>
          </a:solidFill>
          <a:ln w="12700">
            <a:solidFill>
              <a:srgbClr val="E6E6F0"/>
            </a:solidFill>
            <a:prstDash val="solid"/>
          </a:ln>
          <a:effectLst>
            <a:outerShdw sx="100000" sy="100000" kx="0" ky="0" algn="bl" rotWithShape="0" blurRad="88900" dist="25400" dir="5400000">
              <a:srgbClr val="9A9AB5">
                <a:alpha val="22000"/>
              </a:srgbClr>
            </a:outerShdw>
          </a:effectLst>
        </p:spPr>
      </p:sp>
      <p:sp>
        <p:nvSpPr>
          <p:cNvPr id="27" name="Shape 20"/>
          <p:cNvSpPr/>
          <p:nvPr/>
        </p:nvSpPr>
        <p:spPr>
          <a:xfrm>
            <a:off x="713232" y="3355848"/>
            <a:ext cx="530352" cy="530352"/>
          </a:xfrm>
          <a:prstGeom prst="ellipse">
            <a:avLst/>
          </a:prstGeom>
          <a:solidFill>
            <a:srgbClr val="E4F4EC"/>
          </a:solidFill>
          <a:ln w="12700">
            <a:solidFill>
              <a:srgbClr val="2E9C68"/>
            </a:solidFill>
            <a:prstDash val="solid"/>
          </a:ln>
        </p:spPr>
      </p:sp>
      <p:pic>
        <p:nvPicPr>
          <p:cNvPr id="2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8248" y="3530864"/>
            <a:ext cx="180320" cy="180320"/>
          </a:xfrm>
          <a:prstGeom prst="rect">
            <a:avLst/>
          </a:prstGeom>
        </p:spPr>
      </p:pic>
      <p:sp>
        <p:nvSpPr>
          <p:cNvPr id="29" name="Text 21"/>
          <p:cNvSpPr txBox="1"/>
          <p:nvPr/>
        </p:nvSpPr>
        <p:spPr>
          <a:xfrm>
            <a:off x="1353312" y="3154680"/>
            <a:ext cx="1207008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F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</a:t>
            </a:r>
            <a:endParaRPr lang="en-US" sz="1050" dirty="0"/>
          </a:p>
        </p:txBody>
      </p:sp>
      <p:sp>
        <p:nvSpPr>
          <p:cNvPr id="30" name="Shape 22"/>
          <p:cNvSpPr/>
          <p:nvPr/>
        </p:nvSpPr>
        <p:spPr>
          <a:xfrm>
            <a:off x="2816352" y="3154680"/>
            <a:ext cx="2103120" cy="932688"/>
          </a:xfrm>
          <a:prstGeom prst="roundRect">
            <a:avLst>
              <a:gd name="adj" fmla="val 9804"/>
            </a:avLst>
          </a:prstGeom>
          <a:solidFill>
            <a:srgbClr val="F7F7FB"/>
          </a:solidFill>
          <a:ln w="12700">
            <a:solidFill>
              <a:srgbClr val="E6E6F0"/>
            </a:solidFill>
            <a:prstDash val="solid"/>
          </a:ln>
          <a:effectLst>
            <a:outerShdw sx="100000" sy="100000" kx="0" ky="0" algn="bl" rotWithShape="0" blurRad="88900" dist="25400" dir="5400000">
              <a:srgbClr val="9A9AB5">
                <a:alpha val="22000"/>
              </a:srgbClr>
            </a:outerShdw>
          </a:effectLst>
        </p:spPr>
      </p:sp>
      <p:sp>
        <p:nvSpPr>
          <p:cNvPr id="31" name="Shape 23"/>
          <p:cNvSpPr/>
          <p:nvPr/>
        </p:nvSpPr>
        <p:spPr>
          <a:xfrm>
            <a:off x="2962656" y="3355848"/>
            <a:ext cx="530352" cy="530352"/>
          </a:xfrm>
          <a:prstGeom prst="ellipse">
            <a:avLst/>
          </a:prstGeom>
          <a:solidFill>
            <a:srgbClr val="FBE7EC"/>
          </a:solidFill>
          <a:ln w="12700">
            <a:solidFill>
              <a:srgbClr val="E23A63"/>
            </a:solidFill>
            <a:prstDash val="solid"/>
          </a:ln>
        </p:spPr>
      </p:sp>
      <p:pic>
        <p:nvPicPr>
          <p:cNvPr id="32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137672" y="3530864"/>
            <a:ext cx="180320" cy="180320"/>
          </a:xfrm>
          <a:prstGeom prst="rect">
            <a:avLst/>
          </a:prstGeom>
        </p:spPr>
      </p:pic>
      <p:sp>
        <p:nvSpPr>
          <p:cNvPr id="33" name="Text 24"/>
          <p:cNvSpPr txBox="1"/>
          <p:nvPr/>
        </p:nvSpPr>
        <p:spPr>
          <a:xfrm>
            <a:off x="3602736" y="3154680"/>
            <a:ext cx="1207008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F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Notifications</a:t>
            </a:r>
            <a:endParaRPr lang="en-US" sz="1050" dirty="0"/>
          </a:p>
        </p:txBody>
      </p:sp>
      <p:sp>
        <p:nvSpPr>
          <p:cNvPr id="34" name="Shape 25"/>
          <p:cNvSpPr/>
          <p:nvPr/>
        </p:nvSpPr>
        <p:spPr>
          <a:xfrm>
            <a:off x="5065776" y="3154680"/>
            <a:ext cx="2103120" cy="932688"/>
          </a:xfrm>
          <a:prstGeom prst="roundRect">
            <a:avLst>
              <a:gd name="adj" fmla="val 9804"/>
            </a:avLst>
          </a:prstGeom>
          <a:solidFill>
            <a:srgbClr val="F7F7FB"/>
          </a:solidFill>
          <a:ln w="12700">
            <a:solidFill>
              <a:srgbClr val="E6E6F0"/>
            </a:solidFill>
            <a:prstDash val="solid"/>
          </a:ln>
          <a:effectLst>
            <a:outerShdw sx="100000" sy="100000" kx="0" ky="0" algn="bl" rotWithShape="0" blurRad="88900" dist="25400" dir="5400000">
              <a:srgbClr val="9A9AB5">
                <a:alpha val="22000"/>
              </a:srgbClr>
            </a:outerShdw>
          </a:effectLst>
        </p:spPr>
      </p:sp>
      <p:sp>
        <p:nvSpPr>
          <p:cNvPr id="35" name="Shape 26"/>
          <p:cNvSpPr/>
          <p:nvPr/>
        </p:nvSpPr>
        <p:spPr>
          <a:xfrm>
            <a:off x="5212080" y="3355848"/>
            <a:ext cx="530352" cy="530352"/>
          </a:xfrm>
          <a:prstGeom prst="ellipse">
            <a:avLst/>
          </a:prstGeom>
          <a:solidFill>
            <a:srgbClr val="E2F3F3"/>
          </a:solidFill>
          <a:ln w="12700">
            <a:solidFill>
              <a:srgbClr val="0E9AA0"/>
            </a:solidFill>
            <a:prstDash val="solid"/>
          </a:ln>
        </p:spPr>
      </p:sp>
      <p:pic>
        <p:nvPicPr>
          <p:cNvPr id="36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387096" y="3530864"/>
            <a:ext cx="180320" cy="180320"/>
          </a:xfrm>
          <a:prstGeom prst="rect">
            <a:avLst/>
          </a:prstGeom>
        </p:spPr>
      </p:pic>
      <p:sp>
        <p:nvSpPr>
          <p:cNvPr id="37" name="Text 27"/>
          <p:cNvSpPr txBox="1"/>
          <p:nvPr/>
        </p:nvSpPr>
        <p:spPr>
          <a:xfrm>
            <a:off x="5852160" y="3154680"/>
            <a:ext cx="1207008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F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Subscriptions</a:t>
            </a:r>
            <a:endParaRPr lang="en-US" sz="1050" dirty="0"/>
          </a:p>
        </p:txBody>
      </p:sp>
      <p:sp>
        <p:nvSpPr>
          <p:cNvPr id="38" name="Shape 28"/>
          <p:cNvSpPr/>
          <p:nvPr/>
        </p:nvSpPr>
        <p:spPr>
          <a:xfrm>
            <a:off x="7315200" y="3154680"/>
            <a:ext cx="2103120" cy="932688"/>
          </a:xfrm>
          <a:prstGeom prst="roundRect">
            <a:avLst>
              <a:gd name="adj" fmla="val 9804"/>
            </a:avLst>
          </a:prstGeom>
          <a:solidFill>
            <a:srgbClr val="F7F7FB"/>
          </a:solidFill>
          <a:ln w="12700">
            <a:solidFill>
              <a:srgbClr val="E6E6F0"/>
            </a:solidFill>
            <a:prstDash val="solid"/>
          </a:ln>
          <a:effectLst>
            <a:outerShdw sx="100000" sy="100000" kx="0" ky="0" algn="bl" rotWithShape="0" blurRad="88900" dist="25400" dir="5400000">
              <a:srgbClr val="9A9AB5">
                <a:alpha val="22000"/>
              </a:srgbClr>
            </a:outerShdw>
          </a:effectLst>
        </p:spPr>
      </p:sp>
      <p:sp>
        <p:nvSpPr>
          <p:cNvPr id="39" name="Shape 29"/>
          <p:cNvSpPr/>
          <p:nvPr/>
        </p:nvSpPr>
        <p:spPr>
          <a:xfrm>
            <a:off x="7461504" y="3355848"/>
            <a:ext cx="530352" cy="530352"/>
          </a:xfrm>
          <a:prstGeom prst="ellipse">
            <a:avLst/>
          </a:prstGeom>
          <a:solidFill>
            <a:srgbClr val="E9EBFB"/>
          </a:solidFill>
          <a:ln w="12700">
            <a:solidFill>
              <a:srgbClr val="4A5AD8"/>
            </a:solidFill>
            <a:prstDash val="solid"/>
          </a:ln>
        </p:spPr>
      </p:sp>
      <p:pic>
        <p:nvPicPr>
          <p:cNvPr id="40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636520" y="3530864"/>
            <a:ext cx="180320" cy="180320"/>
          </a:xfrm>
          <a:prstGeom prst="rect">
            <a:avLst/>
          </a:prstGeom>
        </p:spPr>
      </p:pic>
      <p:sp>
        <p:nvSpPr>
          <p:cNvPr id="41" name="Text 30"/>
          <p:cNvSpPr txBox="1"/>
          <p:nvPr/>
        </p:nvSpPr>
        <p:spPr>
          <a:xfrm>
            <a:off x="8101584" y="3154680"/>
            <a:ext cx="1207008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F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</a:t>
            </a:r>
            <a:endParaRPr lang="en-US" sz="1050" dirty="0"/>
          </a:p>
        </p:txBody>
      </p:sp>
      <p:sp>
        <p:nvSpPr>
          <p:cNvPr id="42" name="Shape 31"/>
          <p:cNvSpPr/>
          <p:nvPr/>
        </p:nvSpPr>
        <p:spPr>
          <a:xfrm>
            <a:off x="9564624" y="3154680"/>
            <a:ext cx="2103120" cy="932688"/>
          </a:xfrm>
          <a:prstGeom prst="roundRect">
            <a:avLst>
              <a:gd name="adj" fmla="val 9804"/>
            </a:avLst>
          </a:prstGeom>
          <a:solidFill>
            <a:srgbClr val="F7F7FB"/>
          </a:solidFill>
          <a:ln w="12700">
            <a:solidFill>
              <a:srgbClr val="E6E6F0"/>
            </a:solidFill>
            <a:prstDash val="solid"/>
          </a:ln>
          <a:effectLst>
            <a:outerShdw sx="100000" sy="100000" kx="0" ky="0" algn="bl" rotWithShape="0" blurRad="88900" dist="25400" dir="5400000">
              <a:srgbClr val="9A9AB5">
                <a:alpha val="22000"/>
              </a:srgbClr>
            </a:outerShdw>
          </a:effectLst>
        </p:spPr>
      </p:sp>
      <p:sp>
        <p:nvSpPr>
          <p:cNvPr id="43" name="Shape 32"/>
          <p:cNvSpPr/>
          <p:nvPr/>
        </p:nvSpPr>
        <p:spPr>
          <a:xfrm>
            <a:off x="9710928" y="3355848"/>
            <a:ext cx="530352" cy="530352"/>
          </a:xfrm>
          <a:prstGeom prst="ellipse">
            <a:avLst/>
          </a:prstGeom>
          <a:solidFill>
            <a:srgbClr val="FAF0E3"/>
          </a:solidFill>
          <a:ln w="12700">
            <a:solidFill>
              <a:srgbClr val="D9832A"/>
            </a:solidFill>
            <a:prstDash val="solid"/>
          </a:ln>
        </p:spPr>
      </p:sp>
      <p:pic>
        <p:nvPicPr>
          <p:cNvPr id="44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885944" y="3530864"/>
            <a:ext cx="180320" cy="180320"/>
          </a:xfrm>
          <a:prstGeom prst="rect">
            <a:avLst/>
          </a:prstGeom>
        </p:spPr>
      </p:pic>
      <p:sp>
        <p:nvSpPr>
          <p:cNvPr id="45" name="Text 33"/>
          <p:cNvSpPr txBox="1"/>
          <p:nvPr/>
        </p:nvSpPr>
        <p:spPr>
          <a:xfrm>
            <a:off x="10351008" y="3154680"/>
            <a:ext cx="1207008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F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Calls</a:t>
            </a:r>
            <a:endParaRPr lang="en-US" sz="1050" dirty="0"/>
          </a:p>
        </p:txBody>
      </p:sp>
      <p:sp>
        <p:nvSpPr>
          <p:cNvPr id="46" name="Shape 34"/>
          <p:cNvSpPr/>
          <p:nvPr/>
        </p:nvSpPr>
        <p:spPr>
          <a:xfrm>
            <a:off x="566928" y="4343400"/>
            <a:ext cx="2103120" cy="932688"/>
          </a:xfrm>
          <a:prstGeom prst="roundRect">
            <a:avLst>
              <a:gd name="adj" fmla="val 9804"/>
            </a:avLst>
          </a:prstGeom>
          <a:solidFill>
            <a:srgbClr val="F7F7FB"/>
          </a:solidFill>
          <a:ln w="12700">
            <a:solidFill>
              <a:srgbClr val="E6E6F0"/>
            </a:solidFill>
            <a:prstDash val="solid"/>
          </a:ln>
          <a:effectLst>
            <a:outerShdw sx="100000" sy="100000" kx="0" ky="0" algn="bl" rotWithShape="0" blurRad="88900" dist="25400" dir="5400000">
              <a:srgbClr val="9A9AB5">
                <a:alpha val="22000"/>
              </a:srgbClr>
            </a:outerShdw>
          </a:effectLst>
        </p:spPr>
      </p:sp>
      <p:sp>
        <p:nvSpPr>
          <p:cNvPr id="47" name="Shape 35"/>
          <p:cNvSpPr/>
          <p:nvPr/>
        </p:nvSpPr>
        <p:spPr>
          <a:xfrm>
            <a:off x="713232" y="4544568"/>
            <a:ext cx="530352" cy="530352"/>
          </a:xfrm>
          <a:prstGeom prst="ellipse">
            <a:avLst/>
          </a:prstGeom>
          <a:solidFill>
            <a:srgbClr val="F2E9F8"/>
          </a:solidFill>
          <a:ln w="12700">
            <a:solidFill>
              <a:srgbClr val="8A3FB5"/>
            </a:solidFill>
            <a:prstDash val="solid"/>
          </a:ln>
        </p:spPr>
      </p:sp>
      <p:pic>
        <p:nvPicPr>
          <p:cNvPr id="48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88248" y="4719584"/>
            <a:ext cx="180320" cy="180320"/>
          </a:xfrm>
          <a:prstGeom prst="rect">
            <a:avLst/>
          </a:prstGeom>
        </p:spPr>
      </p:pic>
      <p:sp>
        <p:nvSpPr>
          <p:cNvPr id="49" name="Text 36"/>
          <p:cNvSpPr txBox="1"/>
          <p:nvPr/>
        </p:nvSpPr>
        <p:spPr>
          <a:xfrm>
            <a:off x="1353312" y="4343400"/>
            <a:ext cx="1207008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F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</a:t>
            </a:r>
            <a:endParaRPr lang="en-US" sz="1050" dirty="0"/>
          </a:p>
        </p:txBody>
      </p:sp>
      <p:sp>
        <p:nvSpPr>
          <p:cNvPr id="50" name="Shape 37"/>
          <p:cNvSpPr/>
          <p:nvPr/>
        </p:nvSpPr>
        <p:spPr>
          <a:xfrm>
            <a:off x="2816352" y="4343400"/>
            <a:ext cx="2103120" cy="932688"/>
          </a:xfrm>
          <a:prstGeom prst="roundRect">
            <a:avLst>
              <a:gd name="adj" fmla="val 9804"/>
            </a:avLst>
          </a:prstGeom>
          <a:solidFill>
            <a:srgbClr val="F7F7FB"/>
          </a:solidFill>
          <a:ln w="12700">
            <a:solidFill>
              <a:srgbClr val="E6E6F0"/>
            </a:solidFill>
            <a:prstDash val="solid"/>
          </a:ln>
          <a:effectLst>
            <a:outerShdw sx="100000" sy="100000" kx="0" ky="0" algn="bl" rotWithShape="0" blurRad="88900" dist="25400" dir="5400000">
              <a:srgbClr val="9A9AB5">
                <a:alpha val="22000"/>
              </a:srgbClr>
            </a:outerShdw>
          </a:effectLst>
        </p:spPr>
      </p:sp>
      <p:sp>
        <p:nvSpPr>
          <p:cNvPr id="51" name="Shape 38"/>
          <p:cNvSpPr/>
          <p:nvPr/>
        </p:nvSpPr>
        <p:spPr>
          <a:xfrm>
            <a:off x="2962656" y="4544568"/>
            <a:ext cx="530352" cy="530352"/>
          </a:xfrm>
          <a:prstGeom prst="ellipse">
            <a:avLst/>
          </a:prstGeom>
          <a:solidFill>
            <a:srgbClr val="E4F4EC"/>
          </a:solidFill>
          <a:ln w="12700">
            <a:solidFill>
              <a:srgbClr val="2E9C68"/>
            </a:solidFill>
            <a:prstDash val="solid"/>
          </a:ln>
        </p:spPr>
      </p:sp>
      <p:pic>
        <p:nvPicPr>
          <p:cNvPr id="52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137672" y="4719584"/>
            <a:ext cx="180320" cy="180320"/>
          </a:xfrm>
          <a:prstGeom prst="rect">
            <a:avLst/>
          </a:prstGeom>
        </p:spPr>
      </p:pic>
      <p:sp>
        <p:nvSpPr>
          <p:cNvPr id="53" name="Text 39"/>
          <p:cNvSpPr txBox="1"/>
          <p:nvPr/>
        </p:nvSpPr>
        <p:spPr>
          <a:xfrm>
            <a:off x="3602736" y="4343400"/>
            <a:ext cx="1207008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F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Settings</a:t>
            </a:r>
            <a:endParaRPr lang="en-US" sz="1050" dirty="0"/>
          </a:p>
        </p:txBody>
      </p:sp>
      <p:sp>
        <p:nvSpPr>
          <p:cNvPr id="54" name="Shape 40"/>
          <p:cNvSpPr/>
          <p:nvPr/>
        </p:nvSpPr>
        <p:spPr>
          <a:xfrm>
            <a:off x="5065776" y="4343400"/>
            <a:ext cx="2103120" cy="932688"/>
          </a:xfrm>
          <a:prstGeom prst="roundRect">
            <a:avLst>
              <a:gd name="adj" fmla="val 9804"/>
            </a:avLst>
          </a:prstGeom>
          <a:solidFill>
            <a:srgbClr val="F7F7FB"/>
          </a:solidFill>
          <a:ln w="12700">
            <a:solidFill>
              <a:srgbClr val="E6E6F0"/>
            </a:solidFill>
            <a:prstDash val="solid"/>
          </a:ln>
          <a:effectLst>
            <a:outerShdw sx="100000" sy="100000" kx="0" ky="0" algn="bl" rotWithShape="0" blurRad="88900" dist="25400" dir="5400000">
              <a:srgbClr val="9A9AB5">
                <a:alpha val="22000"/>
              </a:srgbClr>
            </a:outerShdw>
          </a:effectLst>
        </p:spPr>
      </p:sp>
      <p:sp>
        <p:nvSpPr>
          <p:cNvPr id="55" name="Shape 41"/>
          <p:cNvSpPr/>
          <p:nvPr/>
        </p:nvSpPr>
        <p:spPr>
          <a:xfrm>
            <a:off x="5212080" y="4544568"/>
            <a:ext cx="530352" cy="530352"/>
          </a:xfrm>
          <a:prstGeom prst="ellipse">
            <a:avLst/>
          </a:prstGeom>
          <a:solidFill>
            <a:srgbClr val="FBE7EC"/>
          </a:solidFill>
          <a:ln w="12700">
            <a:solidFill>
              <a:srgbClr val="E23A63"/>
            </a:solidFill>
            <a:prstDash val="solid"/>
          </a:ln>
        </p:spPr>
      </p:sp>
      <p:pic>
        <p:nvPicPr>
          <p:cNvPr id="56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387096" y="4719584"/>
            <a:ext cx="180320" cy="180320"/>
          </a:xfrm>
          <a:prstGeom prst="rect">
            <a:avLst/>
          </a:prstGeom>
        </p:spPr>
      </p:pic>
      <p:sp>
        <p:nvSpPr>
          <p:cNvPr id="57" name="Text 42"/>
          <p:cNvSpPr txBox="1"/>
          <p:nvPr/>
        </p:nvSpPr>
        <p:spPr>
          <a:xfrm>
            <a:off x="5852160" y="4343400"/>
            <a:ext cx="1207008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F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Geolocation</a:t>
            </a:r>
            <a:endParaRPr lang="en-US" sz="1050" dirty="0"/>
          </a:p>
        </p:txBody>
      </p:sp>
      <p:sp>
        <p:nvSpPr>
          <p:cNvPr id="58" name="Text 43"/>
          <p:cNvSpPr txBox="1"/>
          <p:nvPr/>
        </p:nvSpPr>
        <p:spPr>
          <a:xfrm>
            <a:off x="566928" y="562356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E71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Feature-first structure — each module owns its presentation, domain and data layers.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02336"/>
            <a:ext cx="1105783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E23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58368"/>
            <a:ext cx="11057839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F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Proven, production-grade components</a:t>
            </a:r>
            <a:endParaRPr lang="en-US" sz="29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6E71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MGS</a:t>
            </a:r>
            <a:pPr algn="l" indent="0" marL="0">
              <a:buNone/>
            </a:pPr>
            <a:r>
              <a:rPr lang="en-US" sz="850" dirty="0">
                <a:solidFill>
                  <a:srgbClr val="6E71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|   Dating Application — Technology &amp; Architecture Proposal</a:t>
            </a:r>
            <a:endParaRPr lang="en-US" sz="850" dirty="0"/>
          </a:p>
        </p:txBody>
      </p:sp>
      <p:sp>
        <p:nvSpPr>
          <p:cNvPr id="5" name="Text 3"/>
          <p:cNvSpPr txBox="1"/>
          <p:nvPr/>
        </p:nvSpPr>
        <p:spPr>
          <a:xfrm>
            <a:off x="10893247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E71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85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828800"/>
          <a:ext cx="5486400" cy="914400"/>
        </p:xfrm>
        <a:graphic>
          <a:graphicData uri="http://schemas.openxmlformats.org/drawingml/2006/table">
            <a:tbl>
              <a:tblPr/>
              <a:tblGrid>
                <a:gridCol w="1783080"/>
                <a:gridCol w="370332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Component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1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Technology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13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3436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Mobile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436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Flutter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3436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Backend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436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Laravel 12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3436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Language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436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PHP 8.3+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3436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Database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436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PostgreSQL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3436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Cache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436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Redis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3436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API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436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REST API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3436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Authentication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436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Laravel Sanctum + OAuth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3436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Real-time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436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Laravel Reverb / WebSockets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3436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436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S3-compatible storage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3436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Push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436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Firebase Cloud Messaging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355080" y="1828800"/>
          <a:ext cx="5285232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3547872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Component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1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Technology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13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3436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436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OpenAI API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3436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Voice / Video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436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WebRTC / Agora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3436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Maps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436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Google Maps / Mapbox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3436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Admin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436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Laravel + Filament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3436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Containers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436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Docker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3436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Version control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436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GitHub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3436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 / CD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436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GitHub Actions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3436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Monitoring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436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Sentry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3436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Web server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436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Nginx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02336"/>
            <a:ext cx="1105783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E23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58368"/>
            <a:ext cx="11057839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F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pieces fit together</a:t>
            </a:r>
            <a:endParaRPr lang="en-US" sz="29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6E71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MGS</a:t>
            </a:r>
            <a:pPr algn="l" indent="0" marL="0">
              <a:buNone/>
            </a:pPr>
            <a:r>
              <a:rPr lang="en-US" sz="850" dirty="0">
                <a:solidFill>
                  <a:srgbClr val="6E71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|   Dating Application — Technology &amp; Architecture Proposal</a:t>
            </a:r>
            <a:endParaRPr lang="en-US" sz="850" dirty="0"/>
          </a:p>
        </p:txBody>
      </p:sp>
      <p:sp>
        <p:nvSpPr>
          <p:cNvPr id="5" name="Text 3"/>
          <p:cNvSpPr txBox="1"/>
          <p:nvPr/>
        </p:nvSpPr>
        <p:spPr>
          <a:xfrm>
            <a:off x="10893247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E71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4632808" y="1572768"/>
            <a:ext cx="2926080" cy="621792"/>
          </a:xfrm>
          <a:prstGeom prst="roundRect">
            <a:avLst>
              <a:gd name="adj" fmla="val 11765"/>
            </a:avLst>
          </a:prstGeom>
          <a:solidFill>
            <a:srgbClr val="FBE7EC"/>
          </a:solidFill>
          <a:ln w="15875">
            <a:solidFill>
              <a:srgbClr val="E23A6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632808" y="1572768"/>
            <a:ext cx="2926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 ·  Android / iOS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632808" y="2340864"/>
            <a:ext cx="2926080" cy="621792"/>
          </a:xfrm>
          <a:prstGeom prst="roundRect">
            <a:avLst>
              <a:gd name="adj" fmla="val 11765"/>
            </a:avLst>
          </a:prstGeom>
          <a:solidFill>
            <a:srgbClr val="FBE7EC"/>
          </a:solidFill>
          <a:ln w="15875">
            <a:solidFill>
              <a:srgbClr val="E23A63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632808" y="2340864"/>
            <a:ext cx="2926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Flutter App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804008" y="3108960"/>
            <a:ext cx="6583680" cy="1280160"/>
          </a:xfrm>
          <a:prstGeom prst="roundRect">
            <a:avLst>
              <a:gd name="adj" fmla="val 5714"/>
            </a:avLst>
          </a:prstGeom>
          <a:solidFill>
            <a:srgbClr val="E9EBFB"/>
          </a:solidFill>
          <a:ln w="17780">
            <a:solidFill>
              <a:srgbClr val="4A5AD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804008" y="3218688"/>
            <a:ext cx="6583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F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Laravel API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2986888" y="3611880"/>
            <a:ext cx="6217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3436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 · Profiles · Discovery · Matching · Chat · Subscriptions · Safety · AI Integration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2849728" y="4681728"/>
            <a:ext cx="1965960" cy="585216"/>
          </a:xfrm>
          <a:prstGeom prst="roundRect">
            <a:avLst>
              <a:gd name="adj" fmla="val 12500"/>
            </a:avLst>
          </a:prstGeom>
          <a:solidFill>
            <a:srgbClr val="E2F3F3"/>
          </a:solidFill>
          <a:ln w="15875">
            <a:solidFill>
              <a:srgbClr val="0E9AA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2849728" y="4681728"/>
            <a:ext cx="19659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112868" y="4681728"/>
            <a:ext cx="1965960" cy="585216"/>
          </a:xfrm>
          <a:prstGeom prst="roundRect">
            <a:avLst>
              <a:gd name="adj" fmla="val 12500"/>
            </a:avLst>
          </a:prstGeom>
          <a:solidFill>
            <a:srgbClr val="E2F3F3"/>
          </a:solidFill>
          <a:ln w="15875">
            <a:solidFill>
              <a:srgbClr val="0E9AA0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112868" y="4681728"/>
            <a:ext cx="19659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7376008" y="4681728"/>
            <a:ext cx="1965960" cy="585216"/>
          </a:xfrm>
          <a:prstGeom prst="roundRect">
            <a:avLst>
              <a:gd name="adj" fmla="val 12500"/>
            </a:avLst>
          </a:prstGeom>
          <a:solidFill>
            <a:srgbClr val="E2F3F3"/>
          </a:solidFill>
          <a:ln w="15875">
            <a:solidFill>
              <a:srgbClr val="0E9AA0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376008" y="4681728"/>
            <a:ext cx="19659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 storage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2849728" y="5449824"/>
            <a:ext cx="1965960" cy="585216"/>
          </a:xfrm>
          <a:prstGeom prst="roundRect">
            <a:avLst>
              <a:gd name="adj" fmla="val 12500"/>
            </a:avLst>
          </a:prstGeom>
          <a:solidFill>
            <a:srgbClr val="FAF0E3"/>
          </a:solidFill>
          <a:ln w="15875">
            <a:solidFill>
              <a:srgbClr val="D9832A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2849728" y="5449824"/>
            <a:ext cx="19659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112868" y="5449824"/>
            <a:ext cx="1965960" cy="585216"/>
          </a:xfrm>
          <a:prstGeom prst="roundRect">
            <a:avLst>
              <a:gd name="adj" fmla="val 12500"/>
            </a:avLst>
          </a:prstGeom>
          <a:solidFill>
            <a:srgbClr val="FAF0E3"/>
          </a:solidFill>
          <a:ln w="15875">
            <a:solidFill>
              <a:srgbClr val="D9832A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5112868" y="5449824"/>
            <a:ext cx="19659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7376008" y="5449824"/>
            <a:ext cx="1965960" cy="585216"/>
          </a:xfrm>
          <a:prstGeom prst="roundRect">
            <a:avLst>
              <a:gd name="adj" fmla="val 12500"/>
            </a:avLst>
          </a:prstGeom>
          <a:solidFill>
            <a:srgbClr val="FAF0E3"/>
          </a:solidFill>
          <a:ln w="15875">
            <a:solidFill>
              <a:srgbClr val="D9832A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376008" y="5449824"/>
            <a:ext cx="19659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Realtime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095848" y="2194560"/>
            <a:ext cx="0" cy="146304"/>
          </a:xfrm>
          <a:prstGeom prst="line">
            <a:avLst/>
          </a:prstGeom>
          <a:noFill/>
          <a:ln w="22225">
            <a:solidFill>
              <a:srgbClr val="6E7191"/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6095848" y="2962656"/>
            <a:ext cx="0" cy="146304"/>
          </a:xfrm>
          <a:prstGeom prst="line">
            <a:avLst/>
          </a:prstGeom>
          <a:noFill/>
          <a:ln w="22225">
            <a:solidFill>
              <a:srgbClr val="6E7191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6095848" y="4389120"/>
            <a:ext cx="0" cy="292608"/>
          </a:xfrm>
          <a:prstGeom prst="line">
            <a:avLst/>
          </a:prstGeom>
          <a:noFill/>
          <a:ln w="22225">
            <a:solidFill>
              <a:srgbClr val="6E7191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3832708" y="5266944"/>
            <a:ext cx="0" cy="182880"/>
          </a:xfrm>
          <a:prstGeom prst="line">
            <a:avLst/>
          </a:prstGeom>
          <a:noFill/>
          <a:ln w="22225">
            <a:solidFill>
              <a:srgbClr val="E6E6F0"/>
            </a:solidFill>
            <a:prstDash val="solid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6095848" y="5266944"/>
            <a:ext cx="0" cy="182880"/>
          </a:xfrm>
          <a:prstGeom prst="line">
            <a:avLst/>
          </a:prstGeom>
          <a:noFill/>
          <a:ln w="22225">
            <a:solidFill>
              <a:srgbClr val="E6E6F0"/>
            </a:solidFill>
            <a:prstDash val="solid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8358988" y="5266944"/>
            <a:ext cx="0" cy="182880"/>
          </a:xfrm>
          <a:prstGeom prst="line">
            <a:avLst/>
          </a:prstGeom>
          <a:noFill/>
          <a:ln w="22225">
            <a:solidFill>
              <a:srgbClr val="E6E6F0"/>
            </a:solidFill>
            <a:prstDash val="solid"/>
            <a:tailEnd type="triangle"/>
          </a:ln>
        </p:spPr>
      </p:sp>
      <p:sp>
        <p:nvSpPr>
          <p:cNvPr id="31" name="Text 29"/>
          <p:cNvSpPr txBox="1"/>
          <p:nvPr/>
        </p:nvSpPr>
        <p:spPr>
          <a:xfrm>
            <a:off x="7924648" y="2926080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E71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 / WebSocket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02336"/>
            <a:ext cx="1105783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E23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APPLICATION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58368"/>
            <a:ext cx="11057839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F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Feature-first + Clean Architecture</a:t>
            </a:r>
            <a:endParaRPr lang="en-US" sz="29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6E71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MGS</a:t>
            </a:r>
            <a:pPr algn="l" indent="0" marL="0">
              <a:buNone/>
            </a:pPr>
            <a:r>
              <a:rPr lang="en-US" sz="850" dirty="0">
                <a:solidFill>
                  <a:srgbClr val="6E71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|   Dating Application — Technology &amp; Architecture Proposal</a:t>
            </a:r>
            <a:endParaRPr lang="en-US" sz="850" dirty="0"/>
          </a:p>
        </p:txBody>
      </p:sp>
      <p:sp>
        <p:nvSpPr>
          <p:cNvPr id="5" name="Text 3"/>
          <p:cNvSpPr txBox="1"/>
          <p:nvPr/>
        </p:nvSpPr>
        <p:spPr>
          <a:xfrm>
            <a:off x="10893247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E71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566928" y="1828800"/>
            <a:ext cx="5212080" cy="3794760"/>
          </a:xfrm>
          <a:prstGeom prst="roundRect">
            <a:avLst>
              <a:gd name="adj" fmla="val 2410"/>
            </a:avLst>
          </a:prstGeom>
          <a:solidFill>
            <a:srgbClr val="F7F7FB"/>
          </a:solidFill>
          <a:ln w="12700">
            <a:solidFill>
              <a:srgbClr val="E6E6F0"/>
            </a:solidFill>
            <a:prstDash val="solid"/>
          </a:ln>
          <a:effectLst>
            <a:outerShdw sx="100000" sy="100000" kx="0" ky="0" algn="bl" rotWithShape="0" blurRad="88900" dist="25400" dir="5400000">
              <a:srgbClr val="9A9AB5">
                <a:alpha val="22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859536" y="202996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lib/ module layout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932688" y="2395728"/>
            <a:ext cx="466344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27000" indent="-127000">
              <a:spcAft>
                <a:spcPts val="350"/>
              </a:spcAft>
              <a:buSzPct val="100000"/>
              <a:buChar char="–"/>
            </a:pPr>
            <a:r>
              <a:rPr lang="en-US" sz="1050" dirty="0">
                <a:solidFill>
                  <a:srgbClr val="34365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core/</a:t>
            </a:r>
            <a:endParaRPr lang="en-US" sz="1050" dirty="0"/>
          </a:p>
          <a:p>
            <a:pPr marL="127000" indent="-127000">
              <a:spcAft>
                <a:spcPts val="350"/>
              </a:spcAft>
              <a:buSzPct val="100000"/>
              <a:buChar char="–"/>
            </a:pPr>
            <a:r>
              <a:rPr lang="en-US" sz="1050" dirty="0">
                <a:solidFill>
                  <a:srgbClr val="34365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authentication/</a:t>
            </a:r>
            <a:endParaRPr lang="en-US" sz="1050" dirty="0"/>
          </a:p>
          <a:p>
            <a:pPr marL="127000" indent="-127000">
              <a:spcAft>
                <a:spcPts val="350"/>
              </a:spcAft>
              <a:buSzPct val="100000"/>
              <a:buChar char="–"/>
            </a:pPr>
            <a:r>
              <a:rPr lang="en-US" sz="1050" dirty="0">
                <a:solidFill>
                  <a:srgbClr val="34365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onboarding/</a:t>
            </a:r>
            <a:endParaRPr lang="en-US" sz="1050" dirty="0"/>
          </a:p>
          <a:p>
            <a:pPr marL="127000" indent="-127000">
              <a:spcAft>
                <a:spcPts val="350"/>
              </a:spcAft>
              <a:buSzPct val="100000"/>
              <a:buChar char="–"/>
            </a:pPr>
            <a:r>
              <a:rPr lang="en-US" sz="1050" dirty="0">
                <a:solidFill>
                  <a:srgbClr val="34365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profile/</a:t>
            </a:r>
            <a:endParaRPr lang="en-US" sz="1050" dirty="0"/>
          </a:p>
          <a:p>
            <a:pPr marL="127000" indent="-127000">
              <a:spcAft>
                <a:spcPts val="350"/>
              </a:spcAft>
              <a:buSzPct val="100000"/>
              <a:buChar char="–"/>
            </a:pPr>
            <a:r>
              <a:rPr lang="en-US" sz="1050" dirty="0">
                <a:solidFill>
                  <a:srgbClr val="34365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discovery/</a:t>
            </a:r>
            <a:endParaRPr lang="en-US" sz="1050" dirty="0"/>
          </a:p>
          <a:p>
            <a:pPr marL="127000" indent="-127000">
              <a:spcAft>
                <a:spcPts val="350"/>
              </a:spcAft>
              <a:buSzPct val="100000"/>
              <a:buChar char="–"/>
            </a:pPr>
            <a:r>
              <a:rPr lang="en-US" sz="1050" dirty="0">
                <a:solidFill>
                  <a:srgbClr val="34365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matching/</a:t>
            </a:r>
            <a:endParaRPr lang="en-US" sz="1050" dirty="0"/>
          </a:p>
          <a:p>
            <a:pPr marL="127000" indent="-127000">
              <a:spcAft>
                <a:spcPts val="350"/>
              </a:spcAft>
              <a:buSzPct val="100000"/>
              <a:buChar char="–"/>
            </a:pPr>
            <a:r>
              <a:rPr lang="en-US" sz="1050" dirty="0">
                <a:solidFill>
                  <a:srgbClr val="34365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chat/</a:t>
            </a:r>
            <a:endParaRPr lang="en-US" sz="1050" dirty="0"/>
          </a:p>
          <a:p>
            <a:pPr marL="127000" indent="-127000">
              <a:spcAft>
                <a:spcPts val="350"/>
              </a:spcAft>
              <a:buSzPct val="100000"/>
              <a:buChar char="–"/>
            </a:pPr>
            <a:r>
              <a:rPr lang="en-US" sz="1050" dirty="0">
                <a:solidFill>
                  <a:srgbClr val="34365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notifications/</a:t>
            </a:r>
            <a:endParaRPr lang="en-US" sz="1050" dirty="0"/>
          </a:p>
          <a:p>
            <a:pPr marL="127000" indent="-127000">
              <a:spcAft>
                <a:spcPts val="350"/>
              </a:spcAft>
              <a:buSzPct val="100000"/>
              <a:buChar char="–"/>
            </a:pPr>
            <a:r>
              <a:rPr lang="en-US" sz="1050" dirty="0">
                <a:solidFill>
                  <a:srgbClr val="34365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subscriptions/</a:t>
            </a:r>
            <a:endParaRPr lang="en-US" sz="1050" dirty="0"/>
          </a:p>
          <a:p>
            <a:pPr marL="127000" indent="-127000">
              <a:spcAft>
                <a:spcPts val="350"/>
              </a:spcAft>
              <a:buSzPct val="100000"/>
              <a:buChar char="–"/>
            </a:pPr>
            <a:r>
              <a:rPr lang="en-US" sz="1050" dirty="0">
                <a:solidFill>
                  <a:srgbClr val="34365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verification/</a:t>
            </a:r>
            <a:endParaRPr lang="en-US" sz="1050" dirty="0"/>
          </a:p>
          <a:p>
            <a:pPr marL="127000" indent="-127000">
              <a:spcAft>
                <a:spcPts val="350"/>
              </a:spcAft>
              <a:buSzPct val="100000"/>
              <a:buChar char="–"/>
            </a:pPr>
            <a:r>
              <a:rPr lang="en-US" sz="1050" dirty="0">
                <a:solidFill>
                  <a:srgbClr val="34365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calls/</a:t>
            </a:r>
            <a:endParaRPr lang="en-US" sz="1050" dirty="0"/>
          </a:p>
          <a:p>
            <a:pPr marL="127000" indent="-127000">
              <a:spcAft>
                <a:spcPts val="350"/>
              </a:spcAft>
              <a:buSzPct val="100000"/>
              <a:buChar char="–"/>
            </a:pPr>
            <a:r>
              <a:rPr lang="en-US" sz="1050" dirty="0">
                <a:solidFill>
                  <a:srgbClr val="34365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safety/</a:t>
            </a:r>
            <a:endParaRPr lang="en-US" sz="1050" dirty="0"/>
          </a:p>
          <a:p>
            <a:pPr marL="127000" indent="-127000">
              <a:spcAft>
                <a:spcPts val="350"/>
              </a:spcAft>
              <a:buSzPct val="100000"/>
              <a:buChar char="–"/>
            </a:pPr>
            <a:r>
              <a:rPr lang="en-US" sz="1050" dirty="0">
                <a:solidFill>
                  <a:srgbClr val="34365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settings/</a:t>
            </a:r>
            <a:endParaRPr lang="en-U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6492240" y="187452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feature is self-contained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492240" y="2487168"/>
            <a:ext cx="5120640" cy="868680"/>
          </a:xfrm>
          <a:prstGeom prst="roundRect">
            <a:avLst>
              <a:gd name="adj" fmla="val 8421"/>
            </a:avLst>
          </a:prstGeom>
          <a:solidFill>
            <a:srgbClr val="FBE7EC"/>
          </a:solidFill>
          <a:ln w="12700">
            <a:solidFill>
              <a:srgbClr val="E23A6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748272" y="2578608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1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presentation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6748272" y="2916936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436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UI, state, widgets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9052560" y="3355848"/>
            <a:ext cx="0" cy="182880"/>
          </a:xfrm>
          <a:prstGeom prst="line">
            <a:avLst/>
          </a:prstGeom>
          <a:noFill/>
          <a:ln w="22225">
            <a:solidFill>
              <a:srgbClr val="6E7191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6492240" y="3511296"/>
            <a:ext cx="5120640" cy="868680"/>
          </a:xfrm>
          <a:prstGeom prst="roundRect">
            <a:avLst>
              <a:gd name="adj" fmla="val 8421"/>
            </a:avLst>
          </a:prstGeom>
          <a:solidFill>
            <a:srgbClr val="E9EBFB"/>
          </a:solidFill>
          <a:ln w="12700">
            <a:solidFill>
              <a:srgbClr val="4A5AD8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748272" y="3602736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1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domain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6748272" y="3941064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436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entities, use cases, contracts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052560" y="4379976"/>
            <a:ext cx="0" cy="182880"/>
          </a:xfrm>
          <a:prstGeom prst="line">
            <a:avLst/>
          </a:prstGeom>
          <a:noFill/>
          <a:ln w="22225">
            <a:solidFill>
              <a:srgbClr val="6E7191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6492240" y="4535424"/>
            <a:ext cx="5120640" cy="868680"/>
          </a:xfrm>
          <a:prstGeom prst="roundRect">
            <a:avLst>
              <a:gd name="adj" fmla="val 8421"/>
            </a:avLst>
          </a:prstGeom>
          <a:solidFill>
            <a:srgbClr val="E2F3F3"/>
          </a:solidFill>
          <a:ln w="12700">
            <a:solidFill>
              <a:srgbClr val="0E9AA0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748272" y="4626864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1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6748272" y="4965192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436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APIs, models, repositories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6492240" y="5504688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E71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Feature-first + Clean Architecture keeps modules independently testable and shippable phase by phase.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02336"/>
            <a:ext cx="1105783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E23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58368"/>
            <a:ext cx="11057839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F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Sign-in options and account controls</a:t>
            </a:r>
            <a:endParaRPr lang="en-US" sz="29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6E71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MGS</a:t>
            </a:r>
            <a:pPr algn="l" indent="0" marL="0">
              <a:buNone/>
            </a:pPr>
            <a:r>
              <a:rPr lang="en-US" sz="850" dirty="0">
                <a:solidFill>
                  <a:srgbClr val="6E71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|   Dating Application — Technology &amp; Architecture Proposal</a:t>
            </a:r>
            <a:endParaRPr lang="en-US" sz="850" dirty="0"/>
          </a:p>
        </p:txBody>
      </p:sp>
      <p:sp>
        <p:nvSpPr>
          <p:cNvPr id="5" name="Text 3"/>
          <p:cNvSpPr txBox="1"/>
          <p:nvPr/>
        </p:nvSpPr>
        <p:spPr>
          <a:xfrm>
            <a:off x="10893247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E71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566928" y="1965960"/>
            <a:ext cx="5623560" cy="3429000"/>
          </a:xfrm>
          <a:prstGeom prst="roundRect">
            <a:avLst>
              <a:gd name="adj" fmla="val 2667"/>
            </a:avLst>
          </a:prstGeom>
          <a:solidFill>
            <a:srgbClr val="FBE7EC"/>
          </a:solidFill>
          <a:ln w="12700">
            <a:solidFill>
              <a:srgbClr val="FBE7EC"/>
            </a:solidFill>
            <a:prstDash val="solid"/>
          </a:ln>
          <a:effectLst>
            <a:outerShdw sx="100000" sy="100000" kx="0" ky="0" algn="bl" rotWithShape="0" blurRad="88900" dist="25400" dir="5400000">
              <a:srgbClr val="9A9AB5">
                <a:alpha val="2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59536" y="2258568"/>
            <a:ext cx="713232" cy="713232"/>
          </a:xfrm>
          <a:prstGeom prst="ellipse">
            <a:avLst/>
          </a:prstGeom>
          <a:solidFill>
            <a:srgbClr val="FBE7EC"/>
          </a:solidFill>
          <a:ln w="12700">
            <a:solidFill>
              <a:srgbClr val="E23A63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4903" y="2493935"/>
            <a:ext cx="242499" cy="242499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709928" y="2368296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 — client core features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896112" y="3154680"/>
            <a:ext cx="49377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3436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login</a:t>
            </a:r>
            <a:endParaRPr lang="en-US" sz="1200" dirty="0"/>
          </a:p>
          <a:p>
            <a:pPr marL="152400" indent="-152400"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3436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 number login</a:t>
            </a:r>
            <a:endParaRPr lang="en-US" sz="1200" dirty="0"/>
          </a:p>
          <a:p>
            <a:pPr marL="152400" indent="-152400"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3436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OTP verification</a:t>
            </a:r>
            <a:endParaRPr lang="en-US" sz="1200" dirty="0"/>
          </a:p>
          <a:p>
            <a:pPr marL="152400" indent="-152400"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3436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login</a:t>
            </a:r>
            <a:endParaRPr lang="en-US" sz="1200" dirty="0"/>
          </a:p>
          <a:p>
            <a:pPr marL="152400" indent="-152400"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3436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Apple login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6400800" y="1965960"/>
            <a:ext cx="5239512" cy="3429000"/>
          </a:xfrm>
          <a:prstGeom prst="roundRect">
            <a:avLst>
              <a:gd name="adj" fmla="val 2667"/>
            </a:avLst>
          </a:prstGeom>
          <a:solidFill>
            <a:srgbClr val="F7F7FB"/>
          </a:solidFill>
          <a:ln w="12700">
            <a:solidFill>
              <a:srgbClr val="E6E6F0"/>
            </a:solidFill>
            <a:prstDash val="solid"/>
          </a:ln>
          <a:effectLst>
            <a:outerShdw sx="100000" sy="100000" kx="0" ky="0" algn="bl" rotWithShape="0" blurRad="88900" dist="25400" dir="5400000">
              <a:srgbClr val="9A9AB5">
                <a:alpha val="2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693408" y="2258568"/>
            <a:ext cx="713232" cy="713232"/>
          </a:xfrm>
          <a:prstGeom prst="ellipse">
            <a:avLst/>
          </a:prstGeom>
          <a:solidFill>
            <a:srgbClr val="E9EBFB"/>
          </a:solidFill>
          <a:ln w="12700">
            <a:solidFill>
              <a:srgbClr val="4A5AD8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28775" y="2493935"/>
            <a:ext cx="242499" cy="242499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7543800" y="2368296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Additional — proposed</a:t>
            </a:r>
            <a:endParaRPr lang="en-US" sz="1300" dirty="0"/>
          </a:p>
        </p:txBody>
      </p:sp>
      <p:sp>
        <p:nvSpPr>
          <p:cNvPr id="15" name="Text 11"/>
          <p:cNvSpPr txBox="1"/>
          <p:nvPr/>
        </p:nvSpPr>
        <p:spPr>
          <a:xfrm>
            <a:off x="6729984" y="3154680"/>
            <a:ext cx="45720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3436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Logout</a:t>
            </a:r>
            <a:endParaRPr lang="en-US" sz="1200" dirty="0"/>
          </a:p>
          <a:p>
            <a:pPr marL="152400" indent="-152400"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3436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Forgot password</a:t>
            </a:r>
            <a:endParaRPr lang="en-US" sz="1200" dirty="0"/>
          </a:p>
          <a:p>
            <a:pPr marL="152400" indent="-152400"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3436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 deletion</a:t>
            </a:r>
            <a:endParaRPr lang="en-US" sz="1200" dirty="0"/>
          </a:p>
          <a:p>
            <a:pPr marL="152400" indent="-152400"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3436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management</a:t>
            </a:r>
            <a:endParaRPr lang="en-US" sz="1200" dirty="0"/>
          </a:p>
          <a:p>
            <a:pPr marL="152400" indent="-152400"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3436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 management</a:t>
            </a:r>
            <a:endParaRPr lang="en-US" sz="1200" dirty="0"/>
          </a:p>
        </p:txBody>
      </p:sp>
      <p:sp>
        <p:nvSpPr>
          <p:cNvPr id="16" name="Text 12"/>
          <p:cNvSpPr txBox="1"/>
          <p:nvPr/>
        </p:nvSpPr>
        <p:spPr>
          <a:xfrm>
            <a:off x="566928" y="557784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E71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Email, phone, OTP, Google and Apple sign-in are explicitly requested in the client's core features.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02336"/>
            <a:ext cx="1105783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E23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 MODULE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58368"/>
            <a:ext cx="11057839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F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every member can create and edit</a:t>
            </a:r>
            <a:endParaRPr lang="en-US" sz="29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6E71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MGS</a:t>
            </a:r>
            <a:pPr algn="l" indent="0" marL="0">
              <a:buNone/>
            </a:pPr>
            <a:r>
              <a:rPr lang="en-US" sz="850" dirty="0">
                <a:solidFill>
                  <a:srgbClr val="6E71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|   Dating Application — Technology &amp; Architecture Proposal</a:t>
            </a:r>
            <a:endParaRPr lang="en-US" sz="850" dirty="0"/>
          </a:p>
        </p:txBody>
      </p:sp>
      <p:sp>
        <p:nvSpPr>
          <p:cNvPr id="5" name="Text 3"/>
          <p:cNvSpPr txBox="1"/>
          <p:nvPr/>
        </p:nvSpPr>
        <p:spPr>
          <a:xfrm>
            <a:off x="10893247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E71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566928" y="1783080"/>
            <a:ext cx="3200400" cy="4069080"/>
          </a:xfrm>
          <a:prstGeom prst="roundRect">
            <a:avLst>
              <a:gd name="adj" fmla="val 2857"/>
            </a:avLst>
          </a:prstGeom>
          <a:solidFill>
            <a:srgbClr val="F7F7FB"/>
          </a:solidFill>
          <a:ln w="12700">
            <a:solidFill>
              <a:srgbClr val="E6E6F0"/>
            </a:solidFill>
            <a:prstDash val="solid"/>
          </a:ln>
          <a:effectLst>
            <a:outerShdw sx="100000" sy="100000" kx="0" ky="0" algn="bl" rotWithShape="0" blurRad="88900" dist="25400" dir="5400000">
              <a:srgbClr val="9A9AB5">
                <a:alpha val="2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22960" y="2039112"/>
            <a:ext cx="2688336" cy="1965960"/>
          </a:xfrm>
          <a:prstGeom prst="roundRect">
            <a:avLst>
              <a:gd name="adj" fmla="val 3721"/>
            </a:avLst>
          </a:prstGeom>
          <a:solidFill>
            <a:srgbClr val="FBE7EC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09928" y="2606040"/>
            <a:ext cx="914400" cy="91440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841248" y="411480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Aisha, 27</a:t>
            </a:r>
            <a:endParaRPr lang="en-US" sz="1500" dirty="0"/>
          </a:p>
          <a:p>
            <a:pPr indent="0" marL="0">
              <a:buNone/>
            </a:pPr>
            <a:r>
              <a:rPr lang="en-US" sz="1000" dirty="0">
                <a:solidFill>
                  <a:srgbClr val="6E71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Bengaluru · 4 km away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841248" y="4754880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i="1" dirty="0">
                <a:solidFill>
                  <a:srgbClr val="3436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“Weekend trekker, chai over coffee, always up for live music.”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4114800" y="1783080"/>
            <a:ext cx="3657600" cy="1188720"/>
          </a:xfrm>
          <a:prstGeom prst="roundRect">
            <a:avLst>
              <a:gd name="adj" fmla="val 7692"/>
            </a:avLst>
          </a:prstGeom>
          <a:solidFill>
            <a:srgbClr val="F7F7FB"/>
          </a:solidFill>
          <a:ln w="12700">
            <a:solidFill>
              <a:srgbClr val="E6E6F0"/>
            </a:solidFill>
            <a:prstDash val="solid"/>
          </a:ln>
          <a:effectLst>
            <a:outerShdw sx="100000" sy="100000" kx="0" ky="0" algn="bl" rotWithShape="0" blurRad="88900" dist="25400" dir="5400000">
              <a:srgbClr val="9A9AB5">
                <a:alpha val="2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297680" y="2075688"/>
            <a:ext cx="603504" cy="603504"/>
          </a:xfrm>
          <a:prstGeom prst="ellipse">
            <a:avLst/>
          </a:prstGeom>
          <a:solidFill>
            <a:srgbClr val="FBE7EC"/>
          </a:solidFill>
          <a:ln w="12700">
            <a:solidFill>
              <a:srgbClr val="E23A63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96836" y="2274844"/>
            <a:ext cx="205191" cy="205191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5029200" y="1783080"/>
            <a:ext cx="2651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 photo + additional photos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7955280" y="1783080"/>
            <a:ext cx="3657600" cy="1188720"/>
          </a:xfrm>
          <a:prstGeom prst="roundRect">
            <a:avLst>
              <a:gd name="adj" fmla="val 7692"/>
            </a:avLst>
          </a:prstGeom>
          <a:solidFill>
            <a:srgbClr val="F7F7FB"/>
          </a:solidFill>
          <a:ln w="12700">
            <a:solidFill>
              <a:srgbClr val="E6E6F0"/>
            </a:solidFill>
            <a:prstDash val="solid"/>
          </a:ln>
          <a:effectLst>
            <a:outerShdw sx="100000" sy="100000" kx="0" ky="0" algn="bl" rotWithShape="0" blurRad="88900" dist="25400" dir="5400000">
              <a:srgbClr val="9A9AB5">
                <a:alpha val="22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138160" y="2075688"/>
            <a:ext cx="603504" cy="603504"/>
          </a:xfrm>
          <a:prstGeom prst="ellipse">
            <a:avLst/>
          </a:prstGeom>
          <a:solidFill>
            <a:srgbClr val="E2F3F3"/>
          </a:solidFill>
          <a:ln w="12700">
            <a:solidFill>
              <a:srgbClr val="0E9AA0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37316" y="2274844"/>
            <a:ext cx="205191" cy="205191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8869680" y="1783080"/>
            <a:ext cx="2651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Name, age, bio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4114800" y="3154680"/>
            <a:ext cx="3657600" cy="1188720"/>
          </a:xfrm>
          <a:prstGeom prst="roundRect">
            <a:avLst>
              <a:gd name="adj" fmla="val 7692"/>
            </a:avLst>
          </a:prstGeom>
          <a:solidFill>
            <a:srgbClr val="F7F7FB"/>
          </a:solidFill>
          <a:ln w="12700">
            <a:solidFill>
              <a:srgbClr val="E6E6F0"/>
            </a:solidFill>
            <a:prstDash val="solid"/>
          </a:ln>
          <a:effectLst>
            <a:outerShdw sx="100000" sy="100000" kx="0" ky="0" algn="bl" rotWithShape="0" blurRad="88900" dist="25400" dir="5400000">
              <a:srgbClr val="9A9AB5">
                <a:alpha val="2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4297680" y="3447288"/>
            <a:ext cx="603504" cy="603504"/>
          </a:xfrm>
          <a:prstGeom prst="ellipse">
            <a:avLst/>
          </a:prstGeom>
          <a:solidFill>
            <a:srgbClr val="E9EBFB"/>
          </a:solidFill>
          <a:ln w="12700">
            <a:solidFill>
              <a:srgbClr val="4A5AD8"/>
            </a:solidFill>
            <a:prstDash val="solid"/>
          </a:ln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96836" y="3646444"/>
            <a:ext cx="205191" cy="205191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5029200" y="3154680"/>
            <a:ext cx="2651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Hobbies &amp; interests</a:t>
            </a:r>
            <a:endParaRPr lang="en-US" sz="1100" dirty="0"/>
          </a:p>
        </p:txBody>
      </p:sp>
      <p:sp>
        <p:nvSpPr>
          <p:cNvPr id="23" name="Shape 17"/>
          <p:cNvSpPr/>
          <p:nvPr/>
        </p:nvSpPr>
        <p:spPr>
          <a:xfrm>
            <a:off x="7955280" y="3154680"/>
            <a:ext cx="3657600" cy="1188720"/>
          </a:xfrm>
          <a:prstGeom prst="roundRect">
            <a:avLst>
              <a:gd name="adj" fmla="val 7692"/>
            </a:avLst>
          </a:prstGeom>
          <a:solidFill>
            <a:srgbClr val="F7F7FB"/>
          </a:solidFill>
          <a:ln w="12700">
            <a:solidFill>
              <a:srgbClr val="E6E6F0"/>
            </a:solidFill>
            <a:prstDash val="solid"/>
          </a:ln>
          <a:effectLst>
            <a:outerShdw sx="100000" sy="100000" kx="0" ky="0" algn="bl" rotWithShape="0" blurRad="88900" dist="25400" dir="5400000">
              <a:srgbClr val="9A9AB5">
                <a:alpha val="22000"/>
              </a:srgbClr>
            </a:outerShdw>
          </a:effectLst>
        </p:spPr>
      </p:sp>
      <p:sp>
        <p:nvSpPr>
          <p:cNvPr id="24" name="Shape 18"/>
          <p:cNvSpPr/>
          <p:nvPr/>
        </p:nvSpPr>
        <p:spPr>
          <a:xfrm>
            <a:off x="8138160" y="3447288"/>
            <a:ext cx="603504" cy="603504"/>
          </a:xfrm>
          <a:prstGeom prst="ellipse">
            <a:avLst/>
          </a:prstGeom>
          <a:solidFill>
            <a:srgbClr val="FAF0E3"/>
          </a:solidFill>
          <a:ln w="12700">
            <a:solidFill>
              <a:srgbClr val="D9832A"/>
            </a:solidFill>
            <a:prstDash val="solid"/>
          </a:ln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37316" y="3646444"/>
            <a:ext cx="205191" cy="205191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8869680" y="3154680"/>
            <a:ext cx="2651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Dating preferences</a:t>
            </a:r>
            <a:endParaRPr lang="en-US" sz="1100" dirty="0"/>
          </a:p>
        </p:txBody>
      </p:sp>
      <p:sp>
        <p:nvSpPr>
          <p:cNvPr id="27" name="Shape 20"/>
          <p:cNvSpPr/>
          <p:nvPr/>
        </p:nvSpPr>
        <p:spPr>
          <a:xfrm>
            <a:off x="4114800" y="4526280"/>
            <a:ext cx="3657600" cy="1188720"/>
          </a:xfrm>
          <a:prstGeom prst="roundRect">
            <a:avLst>
              <a:gd name="adj" fmla="val 7692"/>
            </a:avLst>
          </a:prstGeom>
          <a:solidFill>
            <a:srgbClr val="F7F7FB"/>
          </a:solidFill>
          <a:ln w="12700">
            <a:solidFill>
              <a:srgbClr val="E6E6F0"/>
            </a:solidFill>
            <a:prstDash val="solid"/>
          </a:ln>
          <a:effectLst>
            <a:outerShdw sx="100000" sy="100000" kx="0" ky="0" algn="bl" rotWithShape="0" blurRad="88900" dist="25400" dir="5400000">
              <a:srgbClr val="9A9AB5">
                <a:alpha val="22000"/>
              </a:srgbClr>
            </a:outerShdw>
          </a:effectLst>
        </p:spPr>
      </p:sp>
      <p:sp>
        <p:nvSpPr>
          <p:cNvPr id="28" name="Shape 21"/>
          <p:cNvSpPr/>
          <p:nvPr/>
        </p:nvSpPr>
        <p:spPr>
          <a:xfrm>
            <a:off x="4297680" y="4818888"/>
            <a:ext cx="603504" cy="603504"/>
          </a:xfrm>
          <a:prstGeom prst="ellipse">
            <a:avLst/>
          </a:prstGeom>
          <a:solidFill>
            <a:srgbClr val="F2E9F8"/>
          </a:solidFill>
          <a:ln w="12700">
            <a:solidFill>
              <a:srgbClr val="8A3FB5"/>
            </a:solidFill>
            <a:prstDash val="solid"/>
          </a:ln>
        </p:spPr>
      </p:sp>
      <p:pic>
        <p:nvPicPr>
          <p:cNvPr id="2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96836" y="5018044"/>
            <a:ext cx="205191" cy="205191"/>
          </a:xfrm>
          <a:prstGeom prst="rect">
            <a:avLst/>
          </a:prstGeom>
        </p:spPr>
      </p:pic>
      <p:sp>
        <p:nvSpPr>
          <p:cNvPr id="30" name="Text 22"/>
          <p:cNvSpPr txBox="1"/>
          <p:nvPr/>
        </p:nvSpPr>
        <p:spPr>
          <a:xfrm>
            <a:off x="5029200" y="4526280"/>
            <a:ext cx="2651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Distance preference</a:t>
            </a:r>
            <a:endParaRPr lang="en-US" sz="1100" dirty="0"/>
          </a:p>
        </p:txBody>
      </p:sp>
      <p:sp>
        <p:nvSpPr>
          <p:cNvPr id="31" name="Shape 23"/>
          <p:cNvSpPr/>
          <p:nvPr/>
        </p:nvSpPr>
        <p:spPr>
          <a:xfrm>
            <a:off x="7955280" y="4526280"/>
            <a:ext cx="3657600" cy="1188720"/>
          </a:xfrm>
          <a:prstGeom prst="roundRect">
            <a:avLst>
              <a:gd name="adj" fmla="val 7692"/>
            </a:avLst>
          </a:prstGeom>
          <a:solidFill>
            <a:srgbClr val="F7F7FB"/>
          </a:solidFill>
          <a:ln w="12700">
            <a:solidFill>
              <a:srgbClr val="E6E6F0"/>
            </a:solidFill>
            <a:prstDash val="solid"/>
          </a:ln>
          <a:effectLst>
            <a:outerShdw sx="100000" sy="100000" kx="0" ky="0" algn="bl" rotWithShape="0" blurRad="88900" dist="25400" dir="5400000">
              <a:srgbClr val="9A9AB5">
                <a:alpha val="22000"/>
              </a:srgbClr>
            </a:outerShdw>
          </a:effectLst>
        </p:spPr>
      </p:sp>
      <p:sp>
        <p:nvSpPr>
          <p:cNvPr id="32" name="Shape 24"/>
          <p:cNvSpPr/>
          <p:nvPr/>
        </p:nvSpPr>
        <p:spPr>
          <a:xfrm>
            <a:off x="8138160" y="4818888"/>
            <a:ext cx="603504" cy="603504"/>
          </a:xfrm>
          <a:prstGeom prst="ellipse">
            <a:avLst/>
          </a:prstGeom>
          <a:solidFill>
            <a:srgbClr val="E4F4EC"/>
          </a:solidFill>
          <a:ln w="12700">
            <a:solidFill>
              <a:srgbClr val="2E9C68"/>
            </a:solidFill>
            <a:prstDash val="solid"/>
          </a:ln>
        </p:spPr>
      </p:sp>
      <p:pic>
        <p:nvPicPr>
          <p:cNvPr id="33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37316" y="5018044"/>
            <a:ext cx="205191" cy="205191"/>
          </a:xfrm>
          <a:prstGeom prst="rect">
            <a:avLst/>
          </a:prstGeom>
        </p:spPr>
      </p:pic>
      <p:sp>
        <p:nvSpPr>
          <p:cNvPr id="34" name="Text 25"/>
          <p:cNvSpPr txBox="1"/>
          <p:nvPr/>
        </p:nvSpPr>
        <p:spPr>
          <a:xfrm>
            <a:off x="8869680" y="4526280"/>
            <a:ext cx="2651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Relationship goals</a:t>
            </a:r>
            <a:endParaRPr lang="en-US" sz="1100" dirty="0"/>
          </a:p>
        </p:txBody>
      </p:sp>
      <p:sp>
        <p:nvSpPr>
          <p:cNvPr id="35" name="Text 26"/>
          <p:cNvSpPr txBox="1"/>
          <p:nvPr/>
        </p:nvSpPr>
        <p:spPr>
          <a:xfrm>
            <a:off x="4114800" y="58064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E71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basic profile engine: photos, short bio, and preferences such as age, distance and hobbies.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02336"/>
            <a:ext cx="1105783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E23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 PROMPTS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58368"/>
            <a:ext cx="11057839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F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dedicated prompt system for personality</a:t>
            </a:r>
            <a:endParaRPr lang="en-US" sz="29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6E71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MGS</a:t>
            </a:r>
            <a:pPr algn="l" indent="0" marL="0">
              <a:buNone/>
            </a:pPr>
            <a:r>
              <a:rPr lang="en-US" sz="850" dirty="0">
                <a:solidFill>
                  <a:srgbClr val="6E71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|   Dating Application — Technology &amp; Architecture Proposal</a:t>
            </a:r>
            <a:endParaRPr lang="en-US" sz="850" dirty="0"/>
          </a:p>
        </p:txBody>
      </p:sp>
      <p:sp>
        <p:nvSpPr>
          <p:cNvPr id="5" name="Text 3"/>
          <p:cNvSpPr txBox="1"/>
          <p:nvPr/>
        </p:nvSpPr>
        <p:spPr>
          <a:xfrm>
            <a:off x="10893247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E71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566928" y="1965960"/>
            <a:ext cx="5120640" cy="1737360"/>
          </a:xfrm>
          <a:prstGeom prst="roundRect">
            <a:avLst>
              <a:gd name="adj" fmla="val 5263"/>
            </a:avLst>
          </a:prstGeom>
          <a:solidFill>
            <a:srgbClr val="F2E9F8"/>
          </a:solidFill>
          <a:ln w="12700">
            <a:solidFill>
              <a:srgbClr val="F2E9F8"/>
            </a:solidFill>
            <a:prstDash val="solid"/>
          </a:ln>
          <a:effectLst>
            <a:outerShdw sx="100000" sy="100000" kx="0" ky="0" algn="bl" rotWithShape="0" blurRad="88900" dist="25400" dir="5400000">
              <a:srgbClr val="9A9AB5">
                <a:alpha val="22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859536" y="2139696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877824" y="2523744"/>
            <a:ext cx="4663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900"/>
              </a:spcAft>
              <a:buSzPct val="100000"/>
              <a:buChar char="•"/>
            </a:pPr>
            <a:r>
              <a:rPr lang="en-US" sz="1050" dirty="0">
                <a:solidFill>
                  <a:srgbClr val="3436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Curated library of prompts, organised by category</a:t>
            </a:r>
            <a:endParaRPr lang="en-US" sz="1200" dirty="0"/>
          </a:p>
          <a:p>
            <a:pPr marL="152400" indent="-152400">
              <a:spcAft>
                <a:spcPts val="900"/>
              </a:spcAft>
              <a:buSzPct val="100000"/>
              <a:buChar char="•"/>
            </a:pPr>
            <a:r>
              <a:rPr lang="en-US" sz="1050" dirty="0">
                <a:solidFill>
                  <a:srgbClr val="3436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Members select and answer multiple prompts</a:t>
            </a:r>
            <a:endParaRPr lang="en-US" sz="1200" dirty="0"/>
          </a:p>
          <a:p>
            <a:pPr marL="152400" indent="-152400">
              <a:spcAft>
                <a:spcPts val="900"/>
              </a:spcAft>
              <a:buSzPct val="100000"/>
              <a:buChar char="•"/>
            </a:pPr>
            <a:r>
              <a:rPr lang="en-US" sz="1050" dirty="0">
                <a:solidFill>
                  <a:srgbClr val="3436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Answers shown on the profile and re-orderable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66928" y="3977640"/>
            <a:ext cx="5120640" cy="1965960"/>
          </a:xfrm>
          <a:prstGeom prst="roundRect">
            <a:avLst>
              <a:gd name="adj" fmla="val 4651"/>
            </a:avLst>
          </a:prstGeom>
          <a:solidFill>
            <a:srgbClr val="F7F7FB"/>
          </a:solidFill>
          <a:ln w="12700">
            <a:solidFill>
              <a:srgbClr val="E6E6F0"/>
            </a:solidFill>
            <a:prstDash val="solid"/>
          </a:ln>
          <a:effectLst>
            <a:outerShdw sx="100000" sy="100000" kx="0" ky="0" algn="bl" rotWithShape="0" blurRad="88900" dist="25400" dir="5400000">
              <a:srgbClr val="9A9AB5">
                <a:alpha val="22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859536" y="4151376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prompts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877824" y="4553712"/>
            <a:ext cx="46634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900"/>
              </a:spcAft>
              <a:buSzPct val="100000"/>
              <a:buChar char="•"/>
            </a:pPr>
            <a:r>
              <a:rPr lang="en-US" sz="1050" dirty="0">
                <a:solidFill>
                  <a:srgbClr val="3436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 feel most like myself when…"</a:t>
            </a:r>
            <a:endParaRPr lang="en-US" sz="1200" dirty="0"/>
          </a:p>
          <a:p>
            <a:pPr marL="152400" indent="-152400">
              <a:spcAft>
                <a:spcPts val="900"/>
              </a:spcAft>
              <a:buSzPct val="100000"/>
              <a:buChar char="•"/>
            </a:pPr>
            <a:r>
              <a:rPr lang="en-US" sz="1050" dirty="0">
                <a:solidFill>
                  <a:srgbClr val="3436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"My ideal first date is…"</a:t>
            </a:r>
            <a:endParaRPr lang="en-US" sz="1200" dirty="0"/>
          </a:p>
          <a:p>
            <a:pPr marL="152400" indent="-152400">
              <a:spcAft>
                <a:spcPts val="900"/>
              </a:spcAft>
              <a:buSzPct val="100000"/>
              <a:buChar char="•"/>
            </a:pPr>
            <a:r>
              <a:rPr lang="en-US" sz="1050" dirty="0">
                <a:solidFill>
                  <a:srgbClr val="3436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 green flag I look for is…"</a:t>
            </a:r>
            <a:endParaRPr lang="en-US" sz="1200" dirty="0"/>
          </a:p>
          <a:p>
            <a:pPr marL="152400" indent="-152400">
              <a:spcAft>
                <a:spcPts val="900"/>
              </a:spcAft>
              <a:buSzPct val="100000"/>
              <a:buChar char="•"/>
            </a:pPr>
            <a:r>
              <a:rPr lang="en-US" sz="1050" dirty="0">
                <a:solidFill>
                  <a:srgbClr val="3436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"My perfect weekend is…"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989320" y="1965960"/>
            <a:ext cx="5669280" cy="1737360"/>
          </a:xfrm>
          <a:prstGeom prst="roundRect">
            <a:avLst>
              <a:gd name="adj" fmla="val 5263"/>
            </a:avLst>
          </a:prstGeom>
          <a:solidFill>
            <a:srgbClr val="F7F7FB"/>
          </a:solidFill>
          <a:ln w="12700">
            <a:solidFill>
              <a:srgbClr val="E6E6F0"/>
            </a:solidFill>
            <a:prstDash val="solid"/>
          </a:ln>
          <a:effectLst>
            <a:outerShdw sx="100000" sy="100000" kx="0" ky="0" algn="bl" rotWithShape="0" blurRad="88900" dist="25400" dir="5400000">
              <a:srgbClr val="9A9AB5">
                <a:alpha val="22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6245352" y="2130552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8A3F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profile_prompts</a:t>
            </a:r>
            <a:endParaRPr lang="en-US" sz="1150" dirty="0"/>
          </a:p>
        </p:txBody>
      </p:sp>
      <p:sp>
        <p:nvSpPr>
          <p:cNvPr id="14" name="Text 12"/>
          <p:cNvSpPr txBox="1"/>
          <p:nvPr/>
        </p:nvSpPr>
        <p:spPr>
          <a:xfrm>
            <a:off x="6245352" y="2569464"/>
            <a:ext cx="5212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950" dirty="0">
                <a:solidFill>
                  <a:srgbClr val="34365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 · prompt · category</a:t>
            </a:r>
            <a:endParaRPr lang="en-US" sz="9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950" dirty="0">
                <a:solidFill>
                  <a:srgbClr val="34365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is_active · sort_order</a:t>
            </a:r>
            <a:endParaRPr lang="en-US" sz="9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950" dirty="0">
                <a:solidFill>
                  <a:srgbClr val="34365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created_at · updated_at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989320" y="3977640"/>
            <a:ext cx="5669280" cy="1737360"/>
          </a:xfrm>
          <a:prstGeom prst="roundRect">
            <a:avLst>
              <a:gd name="adj" fmla="val 5263"/>
            </a:avLst>
          </a:prstGeom>
          <a:solidFill>
            <a:srgbClr val="F7F7FB"/>
          </a:solidFill>
          <a:ln w="12700">
            <a:solidFill>
              <a:srgbClr val="E6E6F0"/>
            </a:solidFill>
            <a:prstDash val="solid"/>
          </a:ln>
          <a:effectLst>
            <a:outerShdw sx="100000" sy="100000" kx="0" ky="0" algn="bl" rotWithShape="0" blurRad="88900" dist="25400" dir="5400000">
              <a:srgbClr val="9A9AB5">
                <a:alpha val="22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6245352" y="4142232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8A3F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user_profile_prompts</a:t>
            </a:r>
            <a:endParaRPr lang="en-US" sz="1150" dirty="0"/>
          </a:p>
        </p:txBody>
      </p:sp>
      <p:sp>
        <p:nvSpPr>
          <p:cNvPr id="17" name="Text 15"/>
          <p:cNvSpPr txBox="1"/>
          <p:nvPr/>
        </p:nvSpPr>
        <p:spPr>
          <a:xfrm>
            <a:off x="6245352" y="4581144"/>
            <a:ext cx="5212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950" dirty="0">
                <a:solidFill>
                  <a:srgbClr val="34365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 · user_id · prompt_id</a:t>
            </a:r>
            <a:endParaRPr lang="en-US" sz="9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950" dirty="0">
                <a:solidFill>
                  <a:srgbClr val="34365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answer · sort_order</a:t>
            </a:r>
            <a:endParaRPr lang="en-US" sz="9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950" dirty="0">
                <a:solidFill>
                  <a:srgbClr val="34365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created_at · updated_at</a:t>
            </a:r>
            <a:endParaRPr lang="en-US" sz="950" dirty="0"/>
          </a:p>
        </p:txBody>
      </p:sp>
      <p:sp>
        <p:nvSpPr>
          <p:cNvPr id="18" name="Text 16"/>
          <p:cNvSpPr txBox="1"/>
          <p:nvPr/>
        </p:nvSpPr>
        <p:spPr>
          <a:xfrm>
            <a:off x="5989320" y="5852160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E71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curated prompt library plus each member's answers — two lightweight tables.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02336"/>
            <a:ext cx="1105783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E23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DISCOVERY MODULE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58368"/>
            <a:ext cx="11057839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F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main swipe experience</a:t>
            </a:r>
            <a:endParaRPr lang="en-US" sz="29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6E71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MGS</a:t>
            </a:r>
            <a:pPr algn="l" indent="0" marL="0">
              <a:buNone/>
            </a:pPr>
            <a:r>
              <a:rPr lang="en-US" sz="850" dirty="0">
                <a:solidFill>
                  <a:srgbClr val="6E71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|   Dating Application — Technology &amp; Architecture Proposal</a:t>
            </a:r>
            <a:endParaRPr lang="en-US" sz="850" dirty="0"/>
          </a:p>
        </p:txBody>
      </p:sp>
      <p:sp>
        <p:nvSpPr>
          <p:cNvPr id="5" name="Text 3"/>
          <p:cNvSpPr txBox="1"/>
          <p:nvPr/>
        </p:nvSpPr>
        <p:spPr>
          <a:xfrm>
            <a:off x="10893247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E71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1984248" y="1965960"/>
            <a:ext cx="2103120" cy="658368"/>
          </a:xfrm>
          <a:prstGeom prst="roundRect">
            <a:avLst>
              <a:gd name="adj" fmla="val 11111"/>
            </a:avLst>
          </a:prstGeom>
          <a:solidFill>
            <a:srgbClr val="E9EBFB"/>
          </a:solidFill>
          <a:ln w="15240">
            <a:solidFill>
              <a:srgbClr val="4A5AD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984248" y="1965960"/>
            <a:ext cx="2103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12648" y="3063240"/>
            <a:ext cx="2103120" cy="749808"/>
          </a:xfrm>
          <a:prstGeom prst="roundRect">
            <a:avLst>
              <a:gd name="adj" fmla="val 9756"/>
            </a:avLst>
          </a:prstGeom>
          <a:solidFill>
            <a:srgbClr val="FAF0E3"/>
          </a:solidFill>
          <a:ln w="15240">
            <a:solidFill>
              <a:srgbClr val="D9832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12648" y="3063240"/>
            <a:ext cx="21031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Swipe left</a:t>
            </a:r>
            <a:endParaRPr lang="en-US" sz="11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E71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355848" y="3063240"/>
            <a:ext cx="2103120" cy="749808"/>
          </a:xfrm>
          <a:prstGeom prst="roundRect">
            <a:avLst>
              <a:gd name="adj" fmla="val 9756"/>
            </a:avLst>
          </a:prstGeom>
          <a:solidFill>
            <a:srgbClr val="FBE7EC"/>
          </a:solidFill>
          <a:ln w="15240">
            <a:solidFill>
              <a:srgbClr val="E23A6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355848" y="3063240"/>
            <a:ext cx="21031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Swipe right</a:t>
            </a:r>
            <a:endParaRPr lang="en-US" sz="11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E71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355848" y="4224528"/>
            <a:ext cx="2103120" cy="658368"/>
          </a:xfrm>
          <a:prstGeom prst="roundRect">
            <a:avLst>
              <a:gd name="adj" fmla="val 11111"/>
            </a:avLst>
          </a:prstGeom>
          <a:solidFill>
            <a:srgbClr val="FBE7EC"/>
          </a:solidFill>
          <a:ln w="15240">
            <a:solidFill>
              <a:srgbClr val="E23A63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355848" y="4224528"/>
            <a:ext cx="2103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Mutual like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355848" y="5285232"/>
            <a:ext cx="2103120" cy="749808"/>
          </a:xfrm>
          <a:prstGeom prst="roundRect">
            <a:avLst>
              <a:gd name="adj" fmla="val 9756"/>
            </a:avLst>
          </a:prstGeom>
          <a:solidFill>
            <a:srgbClr val="E4F4EC"/>
          </a:solidFill>
          <a:ln w="15240">
            <a:solidFill>
              <a:srgbClr val="2E9C68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3355848" y="5285232"/>
            <a:ext cx="21031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035808" y="2624328"/>
            <a:ext cx="-1097280" cy="438912"/>
          </a:xfrm>
          <a:prstGeom prst="line">
            <a:avLst/>
          </a:prstGeom>
          <a:noFill/>
          <a:ln w="22225">
            <a:solidFill>
              <a:srgbClr val="6E7191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3035808" y="2624328"/>
            <a:ext cx="1188720" cy="438912"/>
          </a:xfrm>
          <a:prstGeom prst="line">
            <a:avLst/>
          </a:prstGeom>
          <a:noFill/>
          <a:ln w="22225">
            <a:solidFill>
              <a:srgbClr val="6E7191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4407408" y="3813048"/>
            <a:ext cx="0" cy="411480"/>
          </a:xfrm>
          <a:prstGeom prst="line">
            <a:avLst/>
          </a:prstGeom>
          <a:noFill/>
          <a:ln w="22225">
            <a:solidFill>
              <a:srgbClr val="6E7191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4407408" y="4882896"/>
            <a:ext cx="0" cy="402336"/>
          </a:xfrm>
          <a:prstGeom prst="line">
            <a:avLst/>
          </a:prstGeom>
          <a:noFill/>
          <a:ln w="22225">
            <a:solidFill>
              <a:srgbClr val="6E7191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6537960" y="1965960"/>
            <a:ext cx="5120640" cy="1783080"/>
          </a:xfrm>
          <a:prstGeom prst="roundRect">
            <a:avLst>
              <a:gd name="adj" fmla="val 5128"/>
            </a:avLst>
          </a:prstGeom>
          <a:solidFill>
            <a:srgbClr val="E2F3F3"/>
          </a:solidFill>
          <a:ln w="12700">
            <a:solidFill>
              <a:srgbClr val="E2F3F3"/>
            </a:solidFill>
            <a:prstDash val="solid"/>
          </a:ln>
          <a:effectLst>
            <a:outerShdw sx="100000" sy="100000" kx="0" ky="0" algn="bl" rotWithShape="0" blurRad="88900" dist="25400" dir="5400000">
              <a:srgbClr val="9A9AB5">
                <a:alpha val="22000"/>
              </a:srgbClr>
            </a:outerShdw>
          </a:effectLst>
        </p:spPr>
      </p:sp>
      <p:sp>
        <p:nvSpPr>
          <p:cNvPr id="21" name="Text 19"/>
          <p:cNvSpPr txBox="1"/>
          <p:nvPr/>
        </p:nvSpPr>
        <p:spPr>
          <a:xfrm>
            <a:off x="6830568" y="213055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 filters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6848856" y="2487168"/>
            <a:ext cx="4572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3436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</a:t>
            </a:r>
            <a:endParaRPr lang="en-US" sz="12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3436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Distance</a:t>
            </a:r>
            <a:endParaRPr lang="en-US" sz="12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3436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Interests</a:t>
            </a:r>
            <a:endParaRPr lang="en-US" sz="12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3436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Relationship goals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537960" y="3977640"/>
            <a:ext cx="5120640" cy="1874520"/>
          </a:xfrm>
          <a:prstGeom prst="roundRect">
            <a:avLst>
              <a:gd name="adj" fmla="val 4878"/>
            </a:avLst>
          </a:prstGeom>
          <a:solidFill>
            <a:srgbClr val="F7F7FB"/>
          </a:solidFill>
          <a:ln w="12700">
            <a:solidFill>
              <a:srgbClr val="E6E6F0"/>
            </a:solidFill>
            <a:prstDash val="solid"/>
          </a:ln>
          <a:effectLst>
            <a:outerShdw sx="100000" sy="100000" kx="0" ky="0" algn="bl" rotWithShape="0" blurRad="88900" dist="25400" dir="5400000">
              <a:srgbClr val="9A9AB5">
                <a:alpha val="22000"/>
              </a:srgbClr>
            </a:outerShdw>
          </a:effectLst>
        </p:spPr>
      </p:sp>
      <p:sp>
        <p:nvSpPr>
          <p:cNvPr id="24" name="Text 22"/>
          <p:cNvSpPr txBox="1"/>
          <p:nvPr/>
        </p:nvSpPr>
        <p:spPr>
          <a:xfrm>
            <a:off x="6830568" y="414223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filters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6848856" y="4498848"/>
            <a:ext cx="4572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3436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Religion</a:t>
            </a:r>
            <a:endParaRPr lang="en-US" sz="12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3436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Politics</a:t>
            </a:r>
            <a:endParaRPr lang="en-US" sz="12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3436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Additional preferences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6848856" y="5486400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E71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Religion and politics are explicit advanced-filter requirements.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02336"/>
            <a:ext cx="1105783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E23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GEOLOCATION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58368"/>
            <a:ext cx="11057839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F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 drives discovery — privately</a:t>
            </a:r>
            <a:endParaRPr lang="en-US" sz="29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6E71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MGS</a:t>
            </a:r>
            <a:pPr algn="l" indent="0" marL="0">
              <a:buNone/>
            </a:pPr>
            <a:r>
              <a:rPr lang="en-US" sz="850" dirty="0">
                <a:solidFill>
                  <a:srgbClr val="6E71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|   Dating Application — Technology &amp; Architecture Proposal</a:t>
            </a:r>
            <a:endParaRPr lang="en-US" sz="850" dirty="0"/>
          </a:p>
        </p:txBody>
      </p:sp>
      <p:sp>
        <p:nvSpPr>
          <p:cNvPr id="5" name="Text 3"/>
          <p:cNvSpPr txBox="1"/>
          <p:nvPr/>
        </p:nvSpPr>
        <p:spPr>
          <a:xfrm>
            <a:off x="10893247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E71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566928" y="2148840"/>
            <a:ext cx="2084832" cy="731520"/>
          </a:xfrm>
          <a:prstGeom prst="roundRect">
            <a:avLst>
              <a:gd name="adj" fmla="val 10000"/>
            </a:avLst>
          </a:prstGeom>
          <a:solidFill>
            <a:srgbClr val="FBE7EC"/>
          </a:solidFill>
          <a:ln w="15240">
            <a:solidFill>
              <a:srgbClr val="E23A6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66928" y="2148840"/>
            <a:ext cx="20848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location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2651760" y="2514600"/>
            <a:ext cx="219456" cy="0"/>
          </a:xfrm>
          <a:prstGeom prst="line">
            <a:avLst/>
          </a:prstGeom>
          <a:noFill/>
          <a:ln w="22225">
            <a:solidFill>
              <a:srgbClr val="6E7191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2871216" y="2148840"/>
            <a:ext cx="2084832" cy="731520"/>
          </a:xfrm>
          <a:prstGeom prst="roundRect">
            <a:avLst>
              <a:gd name="adj" fmla="val 10000"/>
            </a:avLst>
          </a:prstGeom>
          <a:solidFill>
            <a:srgbClr val="E2F3F3"/>
          </a:solidFill>
          <a:ln w="15240">
            <a:solidFill>
              <a:srgbClr val="0E9AA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871216" y="2148840"/>
            <a:ext cx="20848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Distance radius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956048" y="2514600"/>
            <a:ext cx="219456" cy="0"/>
          </a:xfrm>
          <a:prstGeom prst="line">
            <a:avLst/>
          </a:prstGeom>
          <a:noFill/>
          <a:ln w="22225">
            <a:solidFill>
              <a:srgbClr val="6E7191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5175504" y="2148840"/>
            <a:ext cx="2084832" cy="731520"/>
          </a:xfrm>
          <a:prstGeom prst="roundRect">
            <a:avLst>
              <a:gd name="adj" fmla="val 10000"/>
            </a:avLst>
          </a:prstGeom>
          <a:solidFill>
            <a:srgbClr val="E9EBFB"/>
          </a:solidFill>
          <a:ln w="15240">
            <a:solidFill>
              <a:srgbClr val="4A5AD8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175504" y="2148840"/>
            <a:ext cx="20848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 profiles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7260336" y="2514600"/>
            <a:ext cx="219456" cy="0"/>
          </a:xfrm>
          <a:prstGeom prst="line">
            <a:avLst/>
          </a:prstGeom>
          <a:noFill/>
          <a:ln w="22225">
            <a:solidFill>
              <a:srgbClr val="6E7191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7479792" y="2148840"/>
            <a:ext cx="2084832" cy="731520"/>
          </a:xfrm>
          <a:prstGeom prst="roundRect">
            <a:avLst>
              <a:gd name="adj" fmla="val 10000"/>
            </a:avLst>
          </a:prstGeom>
          <a:solidFill>
            <a:srgbClr val="FAF0E3"/>
          </a:solidFill>
          <a:ln w="15240">
            <a:solidFill>
              <a:srgbClr val="D9832A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479792" y="2148840"/>
            <a:ext cx="20848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Matching filters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9564624" y="2514600"/>
            <a:ext cx="219456" cy="0"/>
          </a:xfrm>
          <a:prstGeom prst="line">
            <a:avLst/>
          </a:prstGeom>
          <a:noFill/>
          <a:ln w="22225">
            <a:solidFill>
              <a:srgbClr val="6E7191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9784080" y="2148840"/>
            <a:ext cx="2084832" cy="731520"/>
          </a:xfrm>
          <a:prstGeom prst="roundRect">
            <a:avLst>
              <a:gd name="adj" fmla="val 10000"/>
            </a:avLst>
          </a:prstGeom>
          <a:solidFill>
            <a:srgbClr val="F2E9F8"/>
          </a:solidFill>
          <a:ln w="15240">
            <a:solidFill>
              <a:srgbClr val="8A3FB5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9784080" y="2148840"/>
            <a:ext cx="20848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Discovery feed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66928" y="3429000"/>
            <a:ext cx="5486400" cy="2240280"/>
          </a:xfrm>
          <a:prstGeom prst="roundRect">
            <a:avLst>
              <a:gd name="adj" fmla="val 4082"/>
            </a:avLst>
          </a:prstGeom>
          <a:solidFill>
            <a:srgbClr val="FBE7EC"/>
          </a:solidFill>
          <a:ln w="12700">
            <a:solidFill>
              <a:srgbClr val="FBE7EC"/>
            </a:solidFill>
            <a:prstDash val="solid"/>
          </a:ln>
          <a:effectLst>
            <a:outerShdw sx="100000" sy="100000" kx="0" ky="0" algn="bl" rotWithShape="0" blurRad="88900" dist="25400" dir="5400000">
              <a:srgbClr val="9A9AB5">
                <a:alpha val="2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859536" y="3703320"/>
            <a:ext cx="694944" cy="694944"/>
          </a:xfrm>
          <a:prstGeom prst="ellipse">
            <a:avLst/>
          </a:prstGeom>
          <a:solidFill>
            <a:srgbClr val="FBE7EC"/>
          </a:solidFill>
          <a:ln w="12700">
            <a:solidFill>
              <a:srgbClr val="E23A63"/>
            </a:solidFill>
            <a:prstDash val="solid"/>
          </a:ln>
        </p:spPr>
      </p:sp>
      <p:pic>
        <p:nvPicPr>
          <p:cNvPr id="2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8868" y="3932652"/>
            <a:ext cx="236281" cy="236281"/>
          </a:xfrm>
          <a:prstGeom prst="rect">
            <a:avLst/>
          </a:prstGeom>
        </p:spPr>
      </p:pic>
      <p:sp>
        <p:nvSpPr>
          <p:cNvPr id="23" name="Text 20"/>
          <p:cNvSpPr txBox="1"/>
          <p:nvPr/>
        </p:nvSpPr>
        <p:spPr>
          <a:xfrm>
            <a:off x="1682496" y="3813048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exposed</a:t>
            </a:r>
            <a:endParaRPr lang="en-US" sz="1300" dirty="0"/>
          </a:p>
        </p:txBody>
      </p:sp>
      <p:sp>
        <p:nvSpPr>
          <p:cNvPr id="24" name="Text 21"/>
          <p:cNvSpPr txBox="1"/>
          <p:nvPr/>
        </p:nvSpPr>
        <p:spPr>
          <a:xfrm>
            <a:off x="896112" y="4480560"/>
            <a:ext cx="4937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3436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 coordinates</a:t>
            </a:r>
            <a:endParaRPr lang="en-US" sz="1200" dirty="0"/>
          </a:p>
          <a:p>
            <a:pPr marL="152400" indent="-152400"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3436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 address</a:t>
            </a:r>
            <a:endParaRPr lang="en-US" sz="1200" dirty="0"/>
          </a:p>
          <a:p>
            <a:pPr marL="152400" indent="-152400"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3436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GPS data</a:t>
            </a:r>
            <a:endParaRPr lang="en-US" sz="1200" dirty="0"/>
          </a:p>
        </p:txBody>
      </p:sp>
      <p:sp>
        <p:nvSpPr>
          <p:cNvPr id="25" name="Shape 22"/>
          <p:cNvSpPr/>
          <p:nvPr/>
        </p:nvSpPr>
        <p:spPr>
          <a:xfrm>
            <a:off x="6172200" y="3429000"/>
            <a:ext cx="5486400" cy="2240280"/>
          </a:xfrm>
          <a:prstGeom prst="roundRect">
            <a:avLst>
              <a:gd name="adj" fmla="val 4082"/>
            </a:avLst>
          </a:prstGeom>
          <a:solidFill>
            <a:srgbClr val="F7F7FB"/>
          </a:solidFill>
          <a:ln w="12700">
            <a:solidFill>
              <a:srgbClr val="E6E6F0"/>
            </a:solidFill>
            <a:prstDash val="solid"/>
          </a:ln>
          <a:effectLst>
            <a:outerShdw sx="100000" sy="100000" kx="0" ky="0" algn="bl" rotWithShape="0" blurRad="88900" dist="25400" dir="5400000">
              <a:srgbClr val="9A9AB5">
                <a:alpha val="22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6464808" y="3703320"/>
            <a:ext cx="694944" cy="694944"/>
          </a:xfrm>
          <a:prstGeom prst="ellipse">
            <a:avLst/>
          </a:prstGeom>
          <a:solidFill>
            <a:srgbClr val="E2F3F3"/>
          </a:solidFill>
          <a:ln w="12700">
            <a:solidFill>
              <a:srgbClr val="0E9AA0"/>
            </a:solidFill>
            <a:prstDash val="solid"/>
          </a:ln>
        </p:spPr>
      </p:sp>
      <p:pic>
        <p:nvPicPr>
          <p:cNvPr id="2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94140" y="3932652"/>
            <a:ext cx="236281" cy="236281"/>
          </a:xfrm>
          <a:prstGeom prst="rect">
            <a:avLst/>
          </a:prstGeom>
        </p:spPr>
      </p:pic>
      <p:sp>
        <p:nvSpPr>
          <p:cNvPr id="28" name="Text 24"/>
          <p:cNvSpPr txBox="1"/>
          <p:nvPr/>
        </p:nvSpPr>
        <p:spPr>
          <a:xfrm>
            <a:off x="7287768" y="3813048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Shown instead</a:t>
            </a:r>
            <a:endParaRPr lang="en-US" sz="1300" dirty="0"/>
          </a:p>
        </p:txBody>
      </p:sp>
      <p:sp>
        <p:nvSpPr>
          <p:cNvPr id="29" name="Shape 25"/>
          <p:cNvSpPr/>
          <p:nvPr/>
        </p:nvSpPr>
        <p:spPr>
          <a:xfrm>
            <a:off x="6492240" y="4434840"/>
            <a:ext cx="2468880" cy="713232"/>
          </a:xfrm>
          <a:prstGeom prst="roundRect">
            <a:avLst>
              <a:gd name="adj" fmla="val 12821"/>
            </a:avLst>
          </a:prstGeom>
          <a:solidFill>
            <a:srgbClr val="E2F3F3"/>
          </a:solidFill>
          <a:ln w="15240">
            <a:solidFill>
              <a:srgbClr val="0E9AA0"/>
            </a:solidFill>
            <a:prstDash val="solid"/>
          </a:ln>
        </p:spPr>
      </p:sp>
      <p:sp>
        <p:nvSpPr>
          <p:cNvPr id="30" name="Text 26"/>
          <p:cNvSpPr txBox="1"/>
          <p:nvPr/>
        </p:nvSpPr>
        <p:spPr>
          <a:xfrm>
            <a:off x="6492240" y="4434840"/>
            <a:ext cx="2468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9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“4 km away”</a:t>
            </a:r>
            <a:endParaRPr lang="en-US" sz="1400" dirty="0"/>
          </a:p>
        </p:txBody>
      </p:sp>
      <p:sp>
        <p:nvSpPr>
          <p:cNvPr id="31" name="Text 27"/>
          <p:cNvSpPr txBox="1"/>
          <p:nvPr/>
        </p:nvSpPr>
        <p:spPr>
          <a:xfrm>
            <a:off x="6492240" y="525780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i="1" dirty="0">
                <a:solidFill>
                  <a:srgbClr val="6E71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Approximate distance only — enough to prioritise nearby matches within the chosen radius.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02336"/>
            <a:ext cx="1105783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E23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MATCHING ENGINE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58368"/>
            <a:ext cx="11057839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F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Compatibility from behaviour and intent</a:t>
            </a:r>
            <a:endParaRPr lang="en-US" sz="29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6E71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MGS</a:t>
            </a:r>
            <a:pPr algn="l" indent="0" marL="0">
              <a:buNone/>
            </a:pPr>
            <a:r>
              <a:rPr lang="en-US" sz="850" dirty="0">
                <a:solidFill>
                  <a:srgbClr val="6E71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|   Dating Application — Technology &amp; Architecture Proposal</a:t>
            </a:r>
            <a:endParaRPr lang="en-US" sz="850" dirty="0"/>
          </a:p>
        </p:txBody>
      </p:sp>
      <p:sp>
        <p:nvSpPr>
          <p:cNvPr id="5" name="Text 3"/>
          <p:cNvSpPr txBox="1"/>
          <p:nvPr/>
        </p:nvSpPr>
        <p:spPr>
          <a:xfrm>
            <a:off x="10893247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E71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566928" y="1828800"/>
            <a:ext cx="3063240" cy="713232"/>
          </a:xfrm>
          <a:prstGeom prst="roundRect">
            <a:avLst>
              <a:gd name="adj" fmla="val 11538"/>
            </a:avLst>
          </a:prstGeom>
          <a:solidFill>
            <a:srgbClr val="FBE7EC"/>
          </a:solidFill>
          <a:ln w="12700">
            <a:solidFill>
              <a:srgbClr val="E23A6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13232" y="1947672"/>
            <a:ext cx="475488" cy="475488"/>
          </a:xfrm>
          <a:prstGeom prst="ellipse">
            <a:avLst/>
          </a:prstGeom>
          <a:solidFill>
            <a:srgbClr val="FBE7EC"/>
          </a:solidFill>
          <a:ln w="12700">
            <a:solidFill>
              <a:srgbClr val="E23A63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0143" y="2104583"/>
            <a:ext cx="161666" cy="161666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344168" y="1828800"/>
            <a:ext cx="21488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Preferences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630168" y="2185416"/>
            <a:ext cx="1261872" cy="1837944"/>
          </a:xfrm>
          <a:prstGeom prst="line">
            <a:avLst/>
          </a:prstGeom>
          <a:noFill/>
          <a:ln w="22225">
            <a:solidFill>
              <a:srgbClr val="E6E6F0"/>
            </a:solidFill>
            <a:prstDash val="solid"/>
            <a:tailEnd type="triangle"/>
          </a:ln>
        </p:spPr>
      </p:sp>
      <p:sp>
        <p:nvSpPr>
          <p:cNvPr id="11" name="Shape 8"/>
          <p:cNvSpPr/>
          <p:nvPr/>
        </p:nvSpPr>
        <p:spPr>
          <a:xfrm>
            <a:off x="566928" y="2670048"/>
            <a:ext cx="3063240" cy="713232"/>
          </a:xfrm>
          <a:prstGeom prst="roundRect">
            <a:avLst>
              <a:gd name="adj" fmla="val 11538"/>
            </a:avLst>
          </a:prstGeom>
          <a:solidFill>
            <a:srgbClr val="E2F3F3"/>
          </a:solidFill>
          <a:ln w="12700">
            <a:solidFill>
              <a:srgbClr val="0E9AA0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713232" y="2788920"/>
            <a:ext cx="475488" cy="475488"/>
          </a:xfrm>
          <a:prstGeom prst="ellipse">
            <a:avLst/>
          </a:prstGeom>
          <a:solidFill>
            <a:srgbClr val="E2F3F3"/>
          </a:solidFill>
          <a:ln w="12700">
            <a:solidFill>
              <a:srgbClr val="0E9AA0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0143" y="2945831"/>
            <a:ext cx="161666" cy="161666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1344168" y="2670048"/>
            <a:ext cx="21488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Interests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3630168" y="3026664"/>
            <a:ext cx="1261872" cy="996696"/>
          </a:xfrm>
          <a:prstGeom prst="line">
            <a:avLst/>
          </a:prstGeom>
          <a:noFill/>
          <a:ln w="22225">
            <a:solidFill>
              <a:srgbClr val="E6E6F0"/>
            </a:solidFill>
            <a:prstDash val="solid"/>
            <a:tailEnd type="triangle"/>
          </a:ln>
        </p:spPr>
      </p:sp>
      <p:sp>
        <p:nvSpPr>
          <p:cNvPr id="16" name="Shape 12"/>
          <p:cNvSpPr/>
          <p:nvPr/>
        </p:nvSpPr>
        <p:spPr>
          <a:xfrm>
            <a:off x="566928" y="3511296"/>
            <a:ext cx="3063240" cy="713232"/>
          </a:xfrm>
          <a:prstGeom prst="roundRect">
            <a:avLst>
              <a:gd name="adj" fmla="val 11538"/>
            </a:avLst>
          </a:prstGeom>
          <a:solidFill>
            <a:srgbClr val="E9EBFB"/>
          </a:solidFill>
          <a:ln w="12700">
            <a:solidFill>
              <a:srgbClr val="4A5AD8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713232" y="3630168"/>
            <a:ext cx="475488" cy="475488"/>
          </a:xfrm>
          <a:prstGeom prst="ellipse">
            <a:avLst/>
          </a:prstGeom>
          <a:solidFill>
            <a:srgbClr val="E9EBFB"/>
          </a:solidFill>
          <a:ln w="12700">
            <a:solidFill>
              <a:srgbClr val="4A5AD8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0143" y="3787079"/>
            <a:ext cx="161666" cy="161666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1344168" y="3511296"/>
            <a:ext cx="21488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behaviour</a:t>
            </a:r>
            <a:endParaRPr lang="en-US" sz="1150" dirty="0"/>
          </a:p>
        </p:txBody>
      </p:sp>
      <p:sp>
        <p:nvSpPr>
          <p:cNvPr id="20" name="Shape 15"/>
          <p:cNvSpPr/>
          <p:nvPr/>
        </p:nvSpPr>
        <p:spPr>
          <a:xfrm>
            <a:off x="3630168" y="3867912"/>
            <a:ext cx="1261872" cy="155448"/>
          </a:xfrm>
          <a:prstGeom prst="line">
            <a:avLst/>
          </a:prstGeom>
          <a:noFill/>
          <a:ln w="22225">
            <a:solidFill>
              <a:srgbClr val="E6E6F0"/>
            </a:solidFill>
            <a:prstDash val="solid"/>
            <a:tailEnd type="triangle"/>
          </a:ln>
        </p:spPr>
      </p:sp>
      <p:sp>
        <p:nvSpPr>
          <p:cNvPr id="21" name="Shape 16"/>
          <p:cNvSpPr/>
          <p:nvPr/>
        </p:nvSpPr>
        <p:spPr>
          <a:xfrm>
            <a:off x="566928" y="4352544"/>
            <a:ext cx="3063240" cy="713232"/>
          </a:xfrm>
          <a:prstGeom prst="roundRect">
            <a:avLst>
              <a:gd name="adj" fmla="val 11538"/>
            </a:avLst>
          </a:prstGeom>
          <a:solidFill>
            <a:srgbClr val="FAF0E3"/>
          </a:solidFill>
          <a:ln w="12700">
            <a:solidFill>
              <a:srgbClr val="D9832A"/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713232" y="4471416"/>
            <a:ext cx="475488" cy="475488"/>
          </a:xfrm>
          <a:prstGeom prst="ellipse">
            <a:avLst/>
          </a:prstGeom>
          <a:solidFill>
            <a:srgbClr val="FAF0E3"/>
          </a:solidFill>
          <a:ln w="12700">
            <a:solidFill>
              <a:srgbClr val="D9832A"/>
            </a:solidFill>
            <a:prstDash val="solid"/>
          </a:ln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0143" y="4628327"/>
            <a:ext cx="161666" cy="161666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1344168" y="4352544"/>
            <a:ext cx="21488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Relationship goals</a:t>
            </a:r>
            <a:endParaRPr lang="en-US" sz="1150" dirty="0"/>
          </a:p>
        </p:txBody>
      </p:sp>
      <p:sp>
        <p:nvSpPr>
          <p:cNvPr id="25" name="Shape 19"/>
          <p:cNvSpPr/>
          <p:nvPr/>
        </p:nvSpPr>
        <p:spPr>
          <a:xfrm>
            <a:off x="3630168" y="4709160"/>
            <a:ext cx="1261872" cy="-685800"/>
          </a:xfrm>
          <a:prstGeom prst="line">
            <a:avLst/>
          </a:prstGeom>
          <a:noFill/>
          <a:ln w="22225">
            <a:solidFill>
              <a:srgbClr val="E6E6F0"/>
            </a:solidFill>
            <a:prstDash val="solid"/>
            <a:tailEnd type="triangle"/>
          </a:ln>
        </p:spPr>
      </p:sp>
      <p:sp>
        <p:nvSpPr>
          <p:cNvPr id="26" name="Shape 20"/>
          <p:cNvSpPr/>
          <p:nvPr/>
        </p:nvSpPr>
        <p:spPr>
          <a:xfrm>
            <a:off x="566928" y="5193792"/>
            <a:ext cx="3063240" cy="713232"/>
          </a:xfrm>
          <a:prstGeom prst="roundRect">
            <a:avLst>
              <a:gd name="adj" fmla="val 11538"/>
            </a:avLst>
          </a:prstGeom>
          <a:solidFill>
            <a:srgbClr val="F2E9F8"/>
          </a:solidFill>
          <a:ln w="12700">
            <a:solidFill>
              <a:srgbClr val="8A3FB5"/>
            </a:solidFill>
            <a:prstDash val="solid"/>
          </a:ln>
        </p:spPr>
      </p:sp>
      <p:sp>
        <p:nvSpPr>
          <p:cNvPr id="27" name="Shape 21"/>
          <p:cNvSpPr/>
          <p:nvPr/>
        </p:nvSpPr>
        <p:spPr>
          <a:xfrm>
            <a:off x="713232" y="5312664"/>
            <a:ext cx="475488" cy="475488"/>
          </a:xfrm>
          <a:prstGeom prst="ellipse">
            <a:avLst/>
          </a:prstGeom>
          <a:solidFill>
            <a:srgbClr val="F2E9F8"/>
          </a:solidFill>
          <a:ln w="12700">
            <a:solidFill>
              <a:srgbClr val="8A3FB5"/>
            </a:solidFill>
            <a:prstDash val="solid"/>
          </a:ln>
        </p:spPr>
      </p:sp>
      <p:pic>
        <p:nvPicPr>
          <p:cNvPr id="2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0143" y="5469575"/>
            <a:ext cx="161666" cy="161666"/>
          </a:xfrm>
          <a:prstGeom prst="rect">
            <a:avLst/>
          </a:prstGeom>
        </p:spPr>
      </p:pic>
      <p:sp>
        <p:nvSpPr>
          <p:cNvPr id="29" name="Text 22"/>
          <p:cNvSpPr txBox="1"/>
          <p:nvPr/>
        </p:nvSpPr>
        <p:spPr>
          <a:xfrm>
            <a:off x="1344168" y="5193792"/>
            <a:ext cx="21488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</a:t>
            </a:r>
            <a:endParaRPr lang="en-US" sz="1150" dirty="0"/>
          </a:p>
        </p:txBody>
      </p:sp>
      <p:sp>
        <p:nvSpPr>
          <p:cNvPr id="30" name="Shape 23"/>
          <p:cNvSpPr/>
          <p:nvPr/>
        </p:nvSpPr>
        <p:spPr>
          <a:xfrm>
            <a:off x="3630168" y="5550408"/>
            <a:ext cx="1261872" cy="-1527048"/>
          </a:xfrm>
          <a:prstGeom prst="line">
            <a:avLst/>
          </a:prstGeom>
          <a:noFill/>
          <a:ln w="22225">
            <a:solidFill>
              <a:srgbClr val="E6E6F0"/>
            </a:solidFill>
            <a:prstDash val="solid"/>
            <a:tailEnd type="triangle"/>
          </a:ln>
        </p:spPr>
      </p:sp>
      <p:sp>
        <p:nvSpPr>
          <p:cNvPr id="31" name="Shape 24"/>
          <p:cNvSpPr/>
          <p:nvPr/>
        </p:nvSpPr>
        <p:spPr>
          <a:xfrm>
            <a:off x="4846320" y="2926080"/>
            <a:ext cx="2194560" cy="2194560"/>
          </a:xfrm>
          <a:prstGeom prst="ellipse">
            <a:avLst/>
          </a:prstGeom>
          <a:solidFill>
            <a:srgbClr val="E9EBFB"/>
          </a:solidFill>
          <a:ln w="20320">
            <a:solidFill>
              <a:srgbClr val="4A5AD8"/>
            </a:solidFill>
            <a:prstDash val="solid"/>
          </a:ln>
        </p:spPr>
      </p:sp>
      <p:sp>
        <p:nvSpPr>
          <p:cNvPr id="32" name="Text 25"/>
          <p:cNvSpPr txBox="1"/>
          <p:nvPr/>
        </p:nvSpPr>
        <p:spPr>
          <a:xfrm>
            <a:off x="4846320" y="2926080"/>
            <a:ext cx="21945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F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Compatibility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1F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</a:t>
            </a:r>
            <a:endParaRPr lang="en-US" sz="1250" dirty="0"/>
          </a:p>
        </p:txBody>
      </p:sp>
      <p:sp>
        <p:nvSpPr>
          <p:cNvPr id="33" name="Shape 26"/>
          <p:cNvSpPr/>
          <p:nvPr/>
        </p:nvSpPr>
        <p:spPr>
          <a:xfrm>
            <a:off x="7040880" y="4023360"/>
            <a:ext cx="777240" cy="-822960"/>
          </a:xfrm>
          <a:prstGeom prst="line">
            <a:avLst/>
          </a:prstGeom>
          <a:noFill/>
          <a:ln w="22225">
            <a:solidFill>
              <a:srgbClr val="6E7191"/>
            </a:solidFill>
            <a:prstDash val="solid"/>
            <a:tailEnd type="triangle"/>
          </a:ln>
        </p:spPr>
      </p:sp>
      <p:sp>
        <p:nvSpPr>
          <p:cNvPr id="34" name="Shape 27"/>
          <p:cNvSpPr/>
          <p:nvPr/>
        </p:nvSpPr>
        <p:spPr>
          <a:xfrm>
            <a:off x="7863840" y="2148840"/>
            <a:ext cx="3794760" cy="1554480"/>
          </a:xfrm>
          <a:prstGeom prst="roundRect">
            <a:avLst>
              <a:gd name="adj" fmla="val 5882"/>
            </a:avLst>
          </a:prstGeom>
          <a:solidFill>
            <a:srgbClr val="E4F4EC"/>
          </a:solidFill>
          <a:ln w="12700">
            <a:solidFill>
              <a:srgbClr val="E4F4EC"/>
            </a:solidFill>
            <a:prstDash val="solid"/>
          </a:ln>
          <a:effectLst>
            <a:outerShdw sx="100000" sy="100000" kx="0" ky="0" algn="bl" rotWithShape="0" blurRad="88900" dist="25400" dir="5400000">
              <a:srgbClr val="9A9AB5">
                <a:alpha val="22000"/>
              </a:srgbClr>
            </a:outerShdw>
          </a:effectLst>
        </p:spPr>
      </p:sp>
      <p:sp>
        <p:nvSpPr>
          <p:cNvPr id="35" name="Text 28"/>
          <p:cNvSpPr txBox="1"/>
          <p:nvPr/>
        </p:nvSpPr>
        <p:spPr>
          <a:xfrm>
            <a:off x="7863840" y="2286000"/>
            <a:ext cx="3794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2E9C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91%</a:t>
            </a:r>
            <a:endParaRPr lang="en-US" sz="3800" dirty="0"/>
          </a:p>
        </p:txBody>
      </p:sp>
      <p:sp>
        <p:nvSpPr>
          <p:cNvPr id="36" name="Text 29"/>
          <p:cNvSpPr txBox="1"/>
          <p:nvPr/>
        </p:nvSpPr>
        <p:spPr>
          <a:xfrm>
            <a:off x="8092440" y="3063240"/>
            <a:ext cx="3337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3436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“91% Compatible” — example score shown to members</a:t>
            </a:r>
            <a:endParaRPr lang="en-US" sz="950" dirty="0"/>
          </a:p>
        </p:txBody>
      </p:sp>
      <p:sp>
        <p:nvSpPr>
          <p:cNvPr id="37" name="Shape 30"/>
          <p:cNvSpPr/>
          <p:nvPr/>
        </p:nvSpPr>
        <p:spPr>
          <a:xfrm>
            <a:off x="7863840" y="3931920"/>
            <a:ext cx="3794760" cy="1737360"/>
          </a:xfrm>
          <a:prstGeom prst="roundRect">
            <a:avLst>
              <a:gd name="adj" fmla="val 5263"/>
            </a:avLst>
          </a:prstGeom>
          <a:solidFill>
            <a:srgbClr val="F7F7FB"/>
          </a:solidFill>
          <a:ln w="12700">
            <a:solidFill>
              <a:srgbClr val="E6E6F0"/>
            </a:solidFill>
            <a:prstDash val="solid"/>
          </a:ln>
          <a:effectLst>
            <a:outerShdw sx="100000" sy="100000" kx="0" ky="0" algn="bl" rotWithShape="0" blurRad="88900" dist="25400" dir="5400000">
              <a:srgbClr val="9A9AB5">
                <a:alpha val="22000"/>
              </a:srgbClr>
            </a:outerShdw>
          </a:effectLst>
        </p:spPr>
      </p:sp>
      <p:sp>
        <p:nvSpPr>
          <p:cNvPr id="38" name="Text 31"/>
          <p:cNvSpPr txBox="1"/>
          <p:nvPr/>
        </p:nvSpPr>
        <p:spPr>
          <a:xfrm>
            <a:off x="8092440" y="4114800"/>
            <a:ext cx="33375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spcAft>
                <a:spcPts val="500"/>
              </a:spcAft>
              <a:buNone/>
            </a:pPr>
            <a:r>
              <a:rPr lang="en-US" sz="1050" b="1" dirty="0">
                <a:solidFill>
                  <a:srgbClr val="1F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 note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3436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exact scoring formula and weightings are finalised with the client before implementation; a compatibility score is planned as a future AI capability.</a:t>
            </a:r>
            <a:endParaRPr lang="en-US" sz="10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02336"/>
            <a:ext cx="1105783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E23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ENGAGEMENT ACTIONS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58368"/>
            <a:ext cx="11057839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F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interactions and proposed extras</a:t>
            </a:r>
            <a:endParaRPr lang="en-US" sz="29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6E71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MGS</a:t>
            </a:r>
            <a:pPr algn="l" indent="0" marL="0">
              <a:buNone/>
            </a:pPr>
            <a:r>
              <a:rPr lang="en-US" sz="850" dirty="0">
                <a:solidFill>
                  <a:srgbClr val="6E71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|   Dating Application — Technology &amp; Architecture Proposal</a:t>
            </a:r>
            <a:endParaRPr lang="en-US" sz="850" dirty="0"/>
          </a:p>
        </p:txBody>
      </p:sp>
      <p:sp>
        <p:nvSpPr>
          <p:cNvPr id="5" name="Text 3"/>
          <p:cNvSpPr txBox="1"/>
          <p:nvPr/>
        </p:nvSpPr>
        <p:spPr>
          <a:xfrm>
            <a:off x="10893247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E71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566928" y="2286000"/>
            <a:ext cx="2578608" cy="1481328"/>
          </a:xfrm>
          <a:prstGeom prst="roundRect">
            <a:avLst>
              <a:gd name="adj" fmla="val 6173"/>
            </a:avLst>
          </a:prstGeom>
          <a:solidFill>
            <a:srgbClr val="F7F7FB"/>
          </a:solidFill>
          <a:ln w="12700">
            <a:solidFill>
              <a:srgbClr val="E6E6F0"/>
            </a:solidFill>
            <a:prstDash val="solid"/>
          </a:ln>
          <a:effectLst>
            <a:outerShdw sx="100000" sy="100000" kx="0" ky="0" algn="bl" rotWithShape="0" blurRad="88900" dist="25400" dir="5400000">
              <a:srgbClr val="9A9AB5">
                <a:alpha val="2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472184" y="2523744"/>
            <a:ext cx="768096" cy="768096"/>
          </a:xfrm>
          <a:prstGeom prst="ellipse">
            <a:avLst/>
          </a:prstGeom>
          <a:solidFill>
            <a:srgbClr val="FBE7EC"/>
          </a:solidFill>
          <a:ln w="12700">
            <a:solidFill>
              <a:srgbClr val="E23A63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25656" y="2777216"/>
            <a:ext cx="261153" cy="261153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566928" y="3291840"/>
            <a:ext cx="25786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3337560" y="2286000"/>
            <a:ext cx="2578608" cy="1481328"/>
          </a:xfrm>
          <a:prstGeom prst="roundRect">
            <a:avLst>
              <a:gd name="adj" fmla="val 6173"/>
            </a:avLst>
          </a:prstGeom>
          <a:solidFill>
            <a:srgbClr val="F7F7FB"/>
          </a:solidFill>
          <a:ln w="12700">
            <a:solidFill>
              <a:srgbClr val="E6E6F0"/>
            </a:solidFill>
            <a:prstDash val="solid"/>
          </a:ln>
          <a:effectLst>
            <a:outerShdw sx="100000" sy="100000" kx="0" ky="0" algn="bl" rotWithShape="0" blurRad="88900" dist="25400" dir="5400000">
              <a:srgbClr val="9A9AB5">
                <a:alpha val="2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242816" y="2523744"/>
            <a:ext cx="768096" cy="768096"/>
          </a:xfrm>
          <a:prstGeom prst="ellipse">
            <a:avLst/>
          </a:prstGeom>
          <a:solidFill>
            <a:srgbClr val="E2F3F3"/>
          </a:solidFill>
          <a:ln w="12700">
            <a:solidFill>
              <a:srgbClr val="0E9AA0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96288" y="2777216"/>
            <a:ext cx="261153" cy="261153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3337560" y="3291840"/>
            <a:ext cx="25786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108192" y="2286000"/>
            <a:ext cx="2578608" cy="1481328"/>
          </a:xfrm>
          <a:prstGeom prst="roundRect">
            <a:avLst>
              <a:gd name="adj" fmla="val 6173"/>
            </a:avLst>
          </a:prstGeom>
          <a:solidFill>
            <a:srgbClr val="F7F7FB"/>
          </a:solidFill>
          <a:ln w="12700">
            <a:solidFill>
              <a:srgbClr val="E6E6F0"/>
            </a:solidFill>
            <a:prstDash val="solid"/>
          </a:ln>
          <a:effectLst>
            <a:outerShdw sx="100000" sy="100000" kx="0" ky="0" algn="bl" rotWithShape="0" blurRad="88900" dist="25400" dir="5400000">
              <a:srgbClr val="9A9AB5">
                <a:alpha val="2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7013448" y="2523744"/>
            <a:ext cx="768096" cy="768096"/>
          </a:xfrm>
          <a:prstGeom prst="ellipse">
            <a:avLst/>
          </a:prstGeom>
          <a:solidFill>
            <a:srgbClr val="E9EBFB"/>
          </a:solidFill>
          <a:ln w="12700">
            <a:solidFill>
              <a:srgbClr val="4A5AD8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66920" y="2777216"/>
            <a:ext cx="261153" cy="261153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6108192" y="3291840"/>
            <a:ext cx="25786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</a:t>
            </a:r>
            <a:endParaRPr lang="en-US" sz="1300" dirty="0"/>
          </a:p>
        </p:txBody>
      </p:sp>
      <p:sp>
        <p:nvSpPr>
          <p:cNvPr id="18" name="Shape 13"/>
          <p:cNvSpPr/>
          <p:nvPr/>
        </p:nvSpPr>
        <p:spPr>
          <a:xfrm>
            <a:off x="8878824" y="2286000"/>
            <a:ext cx="2578608" cy="1481328"/>
          </a:xfrm>
          <a:prstGeom prst="roundRect">
            <a:avLst>
              <a:gd name="adj" fmla="val 6173"/>
            </a:avLst>
          </a:prstGeom>
          <a:solidFill>
            <a:srgbClr val="F7F7FB"/>
          </a:solidFill>
          <a:ln w="12700">
            <a:solidFill>
              <a:srgbClr val="E6E6F0"/>
            </a:solidFill>
            <a:prstDash val="solid"/>
          </a:ln>
          <a:effectLst>
            <a:outerShdw sx="100000" sy="100000" kx="0" ky="0" algn="bl" rotWithShape="0" blurRad="88900" dist="25400" dir="5400000">
              <a:srgbClr val="9A9AB5">
                <a:alpha val="22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9784080" y="2523744"/>
            <a:ext cx="768096" cy="768096"/>
          </a:xfrm>
          <a:prstGeom prst="ellipse">
            <a:avLst/>
          </a:prstGeom>
          <a:solidFill>
            <a:srgbClr val="FAF0E3"/>
          </a:solidFill>
          <a:ln w="12700">
            <a:solidFill>
              <a:srgbClr val="D9832A"/>
            </a:solidFill>
            <a:prstDash val="solid"/>
          </a:ln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37552" y="2777216"/>
            <a:ext cx="261153" cy="261153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8878824" y="3291840"/>
            <a:ext cx="25786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Unmatch</a:t>
            </a:r>
            <a:endParaRPr lang="en-US" sz="1300" dirty="0"/>
          </a:p>
        </p:txBody>
      </p:sp>
      <p:sp>
        <p:nvSpPr>
          <p:cNvPr id="22" name="Text 16"/>
          <p:cNvSpPr txBox="1"/>
          <p:nvPr/>
        </p:nvSpPr>
        <p:spPr>
          <a:xfrm>
            <a:off x="566928" y="391363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6E71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— MVP</a:t>
            </a:r>
            <a:endParaRPr lang="en-US" sz="950" dirty="0"/>
          </a:p>
        </p:txBody>
      </p:sp>
      <p:sp>
        <p:nvSpPr>
          <p:cNvPr id="23" name="Shape 17"/>
          <p:cNvSpPr/>
          <p:nvPr/>
        </p:nvSpPr>
        <p:spPr>
          <a:xfrm>
            <a:off x="566928" y="4343400"/>
            <a:ext cx="11091672" cy="1371600"/>
          </a:xfrm>
          <a:prstGeom prst="roundRect">
            <a:avLst>
              <a:gd name="adj" fmla="val 6667"/>
            </a:avLst>
          </a:prstGeom>
          <a:solidFill>
            <a:srgbClr val="FAF0E3"/>
          </a:solidFill>
          <a:ln w="12700">
            <a:solidFill>
              <a:srgbClr val="FAF0E3"/>
            </a:solidFill>
            <a:prstDash val="solid"/>
          </a:ln>
          <a:effectLst>
            <a:outerShdw sx="100000" sy="100000" kx="0" ky="0" algn="bl" rotWithShape="0" blurRad="88900" dist="25400" dir="5400000">
              <a:srgbClr val="9A9AB5">
                <a:alpha val="22000"/>
              </a:srgbClr>
            </a:outerShdw>
          </a:effectLst>
        </p:spPr>
      </p:sp>
      <p:sp>
        <p:nvSpPr>
          <p:cNvPr id="24" name="Shape 18"/>
          <p:cNvSpPr/>
          <p:nvPr/>
        </p:nvSpPr>
        <p:spPr>
          <a:xfrm>
            <a:off x="896112" y="4718304"/>
            <a:ext cx="658368" cy="658368"/>
          </a:xfrm>
          <a:prstGeom prst="ellipse">
            <a:avLst/>
          </a:prstGeom>
          <a:solidFill>
            <a:srgbClr val="FAF0E3"/>
          </a:solidFill>
          <a:ln w="12700">
            <a:solidFill>
              <a:srgbClr val="D9832A"/>
            </a:solidFill>
            <a:prstDash val="solid"/>
          </a:ln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3373" y="4935565"/>
            <a:ext cx="223845" cy="223845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1755648" y="4343400"/>
            <a:ext cx="9601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1F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premium / engagement features:   </a:t>
            </a:r>
            <a:pPr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250" b="1" dirty="0">
                <a:solidFill>
                  <a:srgbClr val="D98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 Like    ·    Rewind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50" i="1" dirty="0">
                <a:solidFill>
                  <a:srgbClr val="6E71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Treated as proposed premium features — not mandatory MVP unless the client approves them.</a:t>
            </a:r>
            <a:endParaRPr lang="en-US" sz="12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02336"/>
            <a:ext cx="1105783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E23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MODULE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58368"/>
            <a:ext cx="11057839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F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Low-latency messaging once users match</a:t>
            </a:r>
            <a:endParaRPr lang="en-US" sz="29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6E71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MGS</a:t>
            </a:r>
            <a:pPr algn="l" indent="0" marL="0">
              <a:buNone/>
            </a:pPr>
            <a:r>
              <a:rPr lang="en-US" sz="850" dirty="0">
                <a:solidFill>
                  <a:srgbClr val="6E71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|   Dating Application — Technology &amp; Architecture Proposal</a:t>
            </a:r>
            <a:endParaRPr lang="en-US" sz="850" dirty="0"/>
          </a:p>
        </p:txBody>
      </p:sp>
      <p:sp>
        <p:nvSpPr>
          <p:cNvPr id="5" name="Text 3"/>
          <p:cNvSpPr txBox="1"/>
          <p:nvPr/>
        </p:nvSpPr>
        <p:spPr>
          <a:xfrm>
            <a:off x="10893247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E71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566928" y="2011680"/>
            <a:ext cx="3566160" cy="960120"/>
          </a:xfrm>
          <a:prstGeom prst="roundRect">
            <a:avLst>
              <a:gd name="adj" fmla="val 9524"/>
            </a:avLst>
          </a:prstGeom>
          <a:solidFill>
            <a:srgbClr val="F7F7FB"/>
          </a:solidFill>
          <a:ln w="12700">
            <a:solidFill>
              <a:srgbClr val="E6E6F0"/>
            </a:solidFill>
            <a:prstDash val="solid"/>
          </a:ln>
          <a:effectLst>
            <a:outerShdw sx="100000" sy="100000" kx="0" ky="0" algn="bl" rotWithShape="0" blurRad="88900" dist="25400" dir="5400000">
              <a:srgbClr val="9A9AB5">
                <a:alpha val="2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49808" y="2231136"/>
            <a:ext cx="530352" cy="530352"/>
          </a:xfrm>
          <a:prstGeom prst="ellipse">
            <a:avLst/>
          </a:prstGeom>
          <a:solidFill>
            <a:srgbClr val="FBE7EC"/>
          </a:solidFill>
          <a:ln w="12700">
            <a:solidFill>
              <a:srgbClr val="E23A63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4824" y="2406152"/>
            <a:ext cx="180320" cy="18032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435608" y="2011680"/>
            <a:ext cx="2606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text chat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4315968" y="2011680"/>
            <a:ext cx="3566160" cy="960120"/>
          </a:xfrm>
          <a:prstGeom prst="roundRect">
            <a:avLst>
              <a:gd name="adj" fmla="val 9524"/>
            </a:avLst>
          </a:prstGeom>
          <a:solidFill>
            <a:srgbClr val="F7F7FB"/>
          </a:solidFill>
          <a:ln w="12700">
            <a:solidFill>
              <a:srgbClr val="E6E6F0"/>
            </a:solidFill>
            <a:prstDash val="solid"/>
          </a:ln>
          <a:effectLst>
            <a:outerShdw sx="100000" sy="100000" kx="0" ky="0" algn="bl" rotWithShape="0" blurRad="88900" dist="25400" dir="5400000">
              <a:srgbClr val="9A9AB5">
                <a:alpha val="2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498848" y="2231136"/>
            <a:ext cx="530352" cy="530352"/>
          </a:xfrm>
          <a:prstGeom prst="ellipse">
            <a:avLst/>
          </a:prstGeom>
          <a:solidFill>
            <a:srgbClr val="E2F3F3"/>
          </a:solidFill>
          <a:ln w="12700">
            <a:solidFill>
              <a:srgbClr val="0E9AA0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3864" y="2406152"/>
            <a:ext cx="180320" cy="18032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5184648" y="2011680"/>
            <a:ext cx="2606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 history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8065008" y="2011680"/>
            <a:ext cx="3566160" cy="960120"/>
          </a:xfrm>
          <a:prstGeom prst="roundRect">
            <a:avLst>
              <a:gd name="adj" fmla="val 9524"/>
            </a:avLst>
          </a:prstGeom>
          <a:solidFill>
            <a:srgbClr val="F7F7FB"/>
          </a:solidFill>
          <a:ln w="12700">
            <a:solidFill>
              <a:srgbClr val="E6E6F0"/>
            </a:solidFill>
            <a:prstDash val="solid"/>
          </a:ln>
          <a:effectLst>
            <a:outerShdw sx="100000" sy="100000" kx="0" ky="0" algn="bl" rotWithShape="0" blurRad="88900" dist="25400" dir="5400000">
              <a:srgbClr val="9A9AB5">
                <a:alpha val="2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247888" y="2231136"/>
            <a:ext cx="530352" cy="530352"/>
          </a:xfrm>
          <a:prstGeom prst="ellipse">
            <a:avLst/>
          </a:prstGeom>
          <a:solidFill>
            <a:srgbClr val="E9EBFB"/>
          </a:solidFill>
          <a:ln w="12700">
            <a:solidFill>
              <a:srgbClr val="4A5AD8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22904" y="2406152"/>
            <a:ext cx="180320" cy="18032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8933688" y="2011680"/>
            <a:ext cx="2606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receipts</a:t>
            </a:r>
            <a:endParaRPr lang="en-US" sz="1150" dirty="0"/>
          </a:p>
        </p:txBody>
      </p:sp>
      <p:sp>
        <p:nvSpPr>
          <p:cNvPr id="18" name="Shape 13"/>
          <p:cNvSpPr/>
          <p:nvPr/>
        </p:nvSpPr>
        <p:spPr>
          <a:xfrm>
            <a:off x="566928" y="3209544"/>
            <a:ext cx="3566160" cy="960120"/>
          </a:xfrm>
          <a:prstGeom prst="roundRect">
            <a:avLst>
              <a:gd name="adj" fmla="val 9524"/>
            </a:avLst>
          </a:prstGeom>
          <a:solidFill>
            <a:srgbClr val="F7F7FB"/>
          </a:solidFill>
          <a:ln w="12700">
            <a:solidFill>
              <a:srgbClr val="E6E6F0"/>
            </a:solidFill>
            <a:prstDash val="solid"/>
          </a:ln>
          <a:effectLst>
            <a:outerShdw sx="100000" sy="100000" kx="0" ky="0" algn="bl" rotWithShape="0" blurRad="88900" dist="25400" dir="5400000">
              <a:srgbClr val="9A9AB5">
                <a:alpha val="22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749808" y="3429000"/>
            <a:ext cx="530352" cy="530352"/>
          </a:xfrm>
          <a:prstGeom prst="ellipse">
            <a:avLst/>
          </a:prstGeom>
          <a:solidFill>
            <a:srgbClr val="FAF0E3"/>
          </a:solidFill>
          <a:ln w="12700">
            <a:solidFill>
              <a:srgbClr val="D9832A"/>
            </a:solidFill>
            <a:prstDash val="solid"/>
          </a:ln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4824" y="3604016"/>
            <a:ext cx="180320" cy="180320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1435608" y="3209544"/>
            <a:ext cx="2606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Typing indicator</a:t>
            </a:r>
            <a:endParaRPr lang="en-US" sz="1150" dirty="0"/>
          </a:p>
        </p:txBody>
      </p:sp>
      <p:sp>
        <p:nvSpPr>
          <p:cNvPr id="22" name="Shape 16"/>
          <p:cNvSpPr/>
          <p:nvPr/>
        </p:nvSpPr>
        <p:spPr>
          <a:xfrm>
            <a:off x="4315968" y="3209544"/>
            <a:ext cx="3566160" cy="960120"/>
          </a:xfrm>
          <a:prstGeom prst="roundRect">
            <a:avLst>
              <a:gd name="adj" fmla="val 9524"/>
            </a:avLst>
          </a:prstGeom>
          <a:solidFill>
            <a:srgbClr val="F7F7FB"/>
          </a:solidFill>
          <a:ln w="12700">
            <a:solidFill>
              <a:srgbClr val="E6E6F0"/>
            </a:solidFill>
            <a:prstDash val="solid"/>
          </a:ln>
          <a:effectLst>
            <a:outerShdw sx="100000" sy="100000" kx="0" ky="0" algn="bl" rotWithShape="0" blurRad="88900" dist="25400" dir="5400000">
              <a:srgbClr val="9A9AB5">
                <a:alpha val="22000"/>
              </a:srgbClr>
            </a:outerShdw>
          </a:effectLst>
        </p:spPr>
      </p:sp>
      <p:sp>
        <p:nvSpPr>
          <p:cNvPr id="23" name="Shape 17"/>
          <p:cNvSpPr/>
          <p:nvPr/>
        </p:nvSpPr>
        <p:spPr>
          <a:xfrm>
            <a:off x="4498848" y="3429000"/>
            <a:ext cx="530352" cy="530352"/>
          </a:xfrm>
          <a:prstGeom prst="ellipse">
            <a:avLst/>
          </a:prstGeom>
          <a:solidFill>
            <a:srgbClr val="F2E9F8"/>
          </a:solidFill>
          <a:ln w="12700">
            <a:solidFill>
              <a:srgbClr val="8A3FB5"/>
            </a:solidFill>
            <a:prstDash val="solid"/>
          </a:ln>
        </p:spPr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73864" y="3604016"/>
            <a:ext cx="180320" cy="180320"/>
          </a:xfrm>
          <a:prstGeom prst="rect">
            <a:avLst/>
          </a:prstGeom>
        </p:spPr>
      </p:pic>
      <p:sp>
        <p:nvSpPr>
          <p:cNvPr id="25" name="Text 18"/>
          <p:cNvSpPr txBox="1"/>
          <p:nvPr/>
        </p:nvSpPr>
        <p:spPr>
          <a:xfrm>
            <a:off x="5184648" y="3209544"/>
            <a:ext cx="2606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/ offline status</a:t>
            </a:r>
            <a:endParaRPr lang="en-US" sz="1150" dirty="0"/>
          </a:p>
        </p:txBody>
      </p:sp>
      <p:sp>
        <p:nvSpPr>
          <p:cNvPr id="26" name="Shape 19"/>
          <p:cNvSpPr/>
          <p:nvPr/>
        </p:nvSpPr>
        <p:spPr>
          <a:xfrm>
            <a:off x="8065008" y="3209544"/>
            <a:ext cx="3566160" cy="960120"/>
          </a:xfrm>
          <a:prstGeom prst="roundRect">
            <a:avLst>
              <a:gd name="adj" fmla="val 9524"/>
            </a:avLst>
          </a:prstGeom>
          <a:solidFill>
            <a:srgbClr val="F7F7FB"/>
          </a:solidFill>
          <a:ln w="12700">
            <a:solidFill>
              <a:srgbClr val="E6E6F0"/>
            </a:solidFill>
            <a:prstDash val="solid"/>
          </a:ln>
          <a:effectLst>
            <a:outerShdw sx="100000" sy="100000" kx="0" ky="0" algn="bl" rotWithShape="0" blurRad="88900" dist="25400" dir="5400000">
              <a:srgbClr val="9A9AB5">
                <a:alpha val="22000"/>
              </a:srgbClr>
            </a:outerShdw>
          </a:effectLst>
        </p:spPr>
      </p:sp>
      <p:sp>
        <p:nvSpPr>
          <p:cNvPr id="27" name="Shape 20"/>
          <p:cNvSpPr/>
          <p:nvPr/>
        </p:nvSpPr>
        <p:spPr>
          <a:xfrm>
            <a:off x="8247888" y="3429000"/>
            <a:ext cx="530352" cy="530352"/>
          </a:xfrm>
          <a:prstGeom prst="ellipse">
            <a:avLst/>
          </a:prstGeom>
          <a:solidFill>
            <a:srgbClr val="E4F4EC"/>
          </a:solidFill>
          <a:ln w="12700">
            <a:solidFill>
              <a:srgbClr val="2E9C68"/>
            </a:solidFill>
            <a:prstDash val="solid"/>
          </a:ln>
        </p:spPr>
      </p:sp>
      <p:pic>
        <p:nvPicPr>
          <p:cNvPr id="2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22904" y="3604016"/>
            <a:ext cx="180320" cy="180320"/>
          </a:xfrm>
          <a:prstGeom prst="rect">
            <a:avLst/>
          </a:prstGeom>
        </p:spPr>
      </p:pic>
      <p:sp>
        <p:nvSpPr>
          <p:cNvPr id="29" name="Text 21"/>
          <p:cNvSpPr txBox="1"/>
          <p:nvPr/>
        </p:nvSpPr>
        <p:spPr>
          <a:xfrm>
            <a:off x="8933688" y="3209544"/>
            <a:ext cx="2606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notifications</a:t>
            </a:r>
            <a:endParaRPr lang="en-US" sz="1150" dirty="0"/>
          </a:p>
        </p:txBody>
      </p:sp>
      <p:sp>
        <p:nvSpPr>
          <p:cNvPr id="30" name="Shape 22"/>
          <p:cNvSpPr/>
          <p:nvPr/>
        </p:nvSpPr>
        <p:spPr>
          <a:xfrm>
            <a:off x="566928" y="4526280"/>
            <a:ext cx="11091672" cy="1143000"/>
          </a:xfrm>
          <a:prstGeom prst="roundRect">
            <a:avLst>
              <a:gd name="adj" fmla="val 8000"/>
            </a:avLst>
          </a:prstGeom>
          <a:solidFill>
            <a:srgbClr val="FAF0E3"/>
          </a:solidFill>
          <a:ln w="12700">
            <a:solidFill>
              <a:srgbClr val="FAF0E3"/>
            </a:solidFill>
            <a:prstDash val="solid"/>
          </a:ln>
          <a:effectLst>
            <a:outerShdw sx="100000" sy="100000" kx="0" ky="0" algn="bl" rotWithShape="0" blurRad="88900" dist="25400" dir="5400000">
              <a:srgbClr val="9A9AB5">
                <a:alpha val="22000"/>
              </a:srgbClr>
            </a:outerShdw>
          </a:effectLst>
        </p:spPr>
      </p:sp>
      <p:sp>
        <p:nvSpPr>
          <p:cNvPr id="31" name="Shape 23"/>
          <p:cNvSpPr/>
          <p:nvPr/>
        </p:nvSpPr>
        <p:spPr>
          <a:xfrm>
            <a:off x="877824" y="4828032"/>
            <a:ext cx="548640" cy="548640"/>
          </a:xfrm>
          <a:prstGeom prst="ellipse">
            <a:avLst/>
          </a:prstGeom>
          <a:solidFill>
            <a:srgbClr val="FAF0E3"/>
          </a:solidFill>
          <a:ln w="12700">
            <a:solidFill>
              <a:srgbClr val="D9832A"/>
            </a:solidFill>
            <a:prstDash val="solid"/>
          </a:ln>
        </p:spPr>
      </p:sp>
      <p:pic>
        <p:nvPicPr>
          <p:cNvPr id="32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58875" y="5009083"/>
            <a:ext cx="186538" cy="186538"/>
          </a:xfrm>
          <a:prstGeom prst="rect">
            <a:avLst/>
          </a:prstGeom>
        </p:spPr>
      </p:pic>
      <p:sp>
        <p:nvSpPr>
          <p:cNvPr id="33" name="Text 24"/>
          <p:cNvSpPr txBox="1"/>
          <p:nvPr/>
        </p:nvSpPr>
        <p:spPr>
          <a:xfrm>
            <a:off x="1664208" y="4526280"/>
            <a:ext cx="96926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F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 communication — confirm as MVP or Phase 2:   </a:t>
            </a:r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3436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notes  ·  GIFs  ·  photo sharing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02336"/>
            <a:ext cx="1105783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E23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 RULES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58368"/>
            <a:ext cx="11057839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F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Communication gated to subscribers</a:t>
            </a:r>
            <a:endParaRPr lang="en-US" sz="29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6E71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MGS</a:t>
            </a:r>
            <a:pPr algn="l" indent="0" marL="0">
              <a:buNone/>
            </a:pPr>
            <a:r>
              <a:rPr lang="en-US" sz="850" dirty="0">
                <a:solidFill>
                  <a:srgbClr val="6E71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|   Dating Application — Technology &amp; Architecture Proposal</a:t>
            </a:r>
            <a:endParaRPr lang="en-US" sz="850" dirty="0"/>
          </a:p>
        </p:txBody>
      </p:sp>
      <p:sp>
        <p:nvSpPr>
          <p:cNvPr id="5" name="Text 3"/>
          <p:cNvSpPr txBox="1"/>
          <p:nvPr/>
        </p:nvSpPr>
        <p:spPr>
          <a:xfrm>
            <a:off x="10893247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E71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566928" y="1920240"/>
            <a:ext cx="5623560" cy="1828800"/>
          </a:xfrm>
          <a:prstGeom prst="roundRect">
            <a:avLst>
              <a:gd name="adj" fmla="val 5000"/>
            </a:avLst>
          </a:prstGeom>
          <a:solidFill>
            <a:srgbClr val="FBE7EC"/>
          </a:solidFill>
          <a:ln w="12700">
            <a:solidFill>
              <a:srgbClr val="FBE7EC"/>
            </a:solidFill>
            <a:prstDash val="solid"/>
          </a:ln>
          <a:effectLst>
            <a:outerShdw sx="100000" sy="100000" kx="0" ky="0" algn="bl" rotWithShape="0" blurRad="88900" dist="25400" dir="5400000">
              <a:srgbClr val="9A9AB5">
                <a:alpha val="2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59536" y="2139696"/>
            <a:ext cx="658368" cy="658368"/>
          </a:xfrm>
          <a:prstGeom prst="ellipse">
            <a:avLst/>
          </a:prstGeom>
          <a:solidFill>
            <a:srgbClr val="FBE7EC"/>
          </a:solidFill>
          <a:ln w="12700">
            <a:solidFill>
              <a:srgbClr val="E23A63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6797" y="2356957"/>
            <a:ext cx="223845" cy="223845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664208" y="2231136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Unmatched messaging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896112" y="2761488"/>
            <a:ext cx="5029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3436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Messaging an unmatched user is restricted to subscription users</a:t>
            </a:r>
            <a:endParaRPr lang="en-US" sz="12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3436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Enforced on the backend — not just hidden in the app UI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566928" y="3977640"/>
            <a:ext cx="5623560" cy="1783080"/>
          </a:xfrm>
          <a:prstGeom prst="roundRect">
            <a:avLst>
              <a:gd name="adj" fmla="val 5128"/>
            </a:avLst>
          </a:prstGeom>
          <a:solidFill>
            <a:srgbClr val="F7F7FB"/>
          </a:solidFill>
          <a:ln w="12700">
            <a:solidFill>
              <a:srgbClr val="E6E6F0"/>
            </a:solidFill>
            <a:prstDash val="solid"/>
          </a:ln>
          <a:effectLst>
            <a:outerShdw sx="100000" sy="100000" kx="0" ky="0" algn="bl" rotWithShape="0" blurRad="88900" dist="25400" dir="5400000">
              <a:srgbClr val="9A9AB5">
                <a:alpha val="2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859536" y="4206240"/>
            <a:ext cx="658368" cy="658368"/>
          </a:xfrm>
          <a:prstGeom prst="ellipse">
            <a:avLst/>
          </a:prstGeom>
          <a:solidFill>
            <a:srgbClr val="E9EBFB"/>
          </a:solidFill>
          <a:ln w="12700">
            <a:solidFill>
              <a:srgbClr val="4A5AD8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6797" y="4423501"/>
            <a:ext cx="223845" cy="223845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1664208" y="4297680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&amp; video calling</a:t>
            </a:r>
            <a:endParaRPr lang="en-US" sz="1300" dirty="0"/>
          </a:p>
        </p:txBody>
      </p:sp>
      <p:sp>
        <p:nvSpPr>
          <p:cNvPr id="15" name="Text 11"/>
          <p:cNvSpPr txBox="1"/>
          <p:nvPr/>
        </p:nvSpPr>
        <p:spPr>
          <a:xfrm>
            <a:off x="896112" y="4828032"/>
            <a:ext cx="5029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3436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Subscriber-only feature</a:t>
            </a:r>
            <a:endParaRPr lang="en-US" sz="12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3436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Provider: WebRTC, Agora or another approved option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6537960" y="1920240"/>
            <a:ext cx="5120640" cy="3840480"/>
          </a:xfrm>
          <a:prstGeom prst="roundRect">
            <a:avLst>
              <a:gd name="adj" fmla="val 2381"/>
            </a:avLst>
          </a:prstGeom>
          <a:solidFill>
            <a:srgbClr val="F7F7FB"/>
          </a:solidFill>
          <a:ln w="12700">
            <a:solidFill>
              <a:srgbClr val="E6E6F0"/>
            </a:solidFill>
            <a:prstDash val="solid"/>
          </a:ln>
          <a:effectLst>
            <a:outerShdw sx="100000" sy="100000" kx="0" ky="0" algn="bl" rotWithShape="0" blurRad="88900" dist="25400" dir="5400000">
              <a:srgbClr val="9A9AB5">
                <a:alpha val="2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8275320" y="2194560"/>
            <a:ext cx="1645920" cy="621792"/>
          </a:xfrm>
          <a:prstGeom prst="roundRect">
            <a:avLst>
              <a:gd name="adj" fmla="val 11765"/>
            </a:avLst>
          </a:prstGeom>
          <a:solidFill>
            <a:srgbClr val="E4F4EC"/>
          </a:solidFill>
          <a:ln w="15240">
            <a:solidFill>
              <a:srgbClr val="2E9C68"/>
            </a:solidFill>
            <a:prstDash val="solid"/>
          </a:ln>
        </p:spPr>
      </p:sp>
      <p:sp>
        <p:nvSpPr>
          <p:cNvPr id="18" name="Text 14"/>
          <p:cNvSpPr txBox="1"/>
          <p:nvPr/>
        </p:nvSpPr>
        <p:spPr>
          <a:xfrm>
            <a:off x="8275320" y="2194560"/>
            <a:ext cx="1645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</a:t>
            </a:r>
            <a:endParaRPr lang="en-US" sz="1100" dirty="0"/>
          </a:p>
        </p:txBody>
      </p:sp>
      <p:sp>
        <p:nvSpPr>
          <p:cNvPr id="19" name="Shape 15"/>
          <p:cNvSpPr/>
          <p:nvPr/>
        </p:nvSpPr>
        <p:spPr>
          <a:xfrm>
            <a:off x="7909560" y="3017520"/>
            <a:ext cx="2377440" cy="1097280"/>
          </a:xfrm>
          <a:prstGeom prst="diamond">
            <a:avLst/>
          </a:prstGeom>
          <a:solidFill>
            <a:srgbClr val="FAF0E3"/>
          </a:solidFill>
          <a:ln w="15240">
            <a:solidFill>
              <a:srgbClr val="D9832A"/>
            </a:solidFill>
            <a:prstDash val="solid"/>
          </a:ln>
        </p:spPr>
      </p:sp>
      <p:sp>
        <p:nvSpPr>
          <p:cNvPr id="20" name="Text 16"/>
          <p:cNvSpPr txBox="1"/>
          <p:nvPr/>
        </p:nvSpPr>
        <p:spPr>
          <a:xfrm>
            <a:off x="7909560" y="3017520"/>
            <a:ext cx="2377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Subscriber?</a:t>
            </a:r>
            <a:endParaRPr lang="en-US" sz="1050" dirty="0"/>
          </a:p>
        </p:txBody>
      </p:sp>
      <p:sp>
        <p:nvSpPr>
          <p:cNvPr id="21" name="Shape 17"/>
          <p:cNvSpPr/>
          <p:nvPr/>
        </p:nvSpPr>
        <p:spPr>
          <a:xfrm>
            <a:off x="6812280" y="4572000"/>
            <a:ext cx="2148840" cy="804672"/>
          </a:xfrm>
          <a:prstGeom prst="roundRect">
            <a:avLst>
              <a:gd name="adj" fmla="val 9091"/>
            </a:avLst>
          </a:prstGeom>
          <a:solidFill>
            <a:srgbClr val="FBE7EC"/>
          </a:solidFill>
          <a:ln w="15240">
            <a:solidFill>
              <a:srgbClr val="E23A63"/>
            </a:solidFill>
            <a:prstDash val="solid"/>
          </a:ln>
        </p:spPr>
      </p:sp>
      <p:sp>
        <p:nvSpPr>
          <p:cNvPr id="22" name="Text 18"/>
          <p:cNvSpPr txBox="1"/>
          <p:nvPr/>
        </p:nvSpPr>
        <p:spPr>
          <a:xfrm>
            <a:off x="6812280" y="4572000"/>
            <a:ext cx="21488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/ video</a:t>
            </a:r>
            <a:endParaRPr lang="en-US" sz="1100" dirty="0"/>
          </a:p>
        </p:txBody>
      </p:sp>
      <p:sp>
        <p:nvSpPr>
          <p:cNvPr id="23" name="Shape 19"/>
          <p:cNvSpPr/>
          <p:nvPr/>
        </p:nvSpPr>
        <p:spPr>
          <a:xfrm>
            <a:off x="9235440" y="4572000"/>
            <a:ext cx="2148840" cy="804672"/>
          </a:xfrm>
          <a:prstGeom prst="roundRect">
            <a:avLst>
              <a:gd name="adj" fmla="val 9091"/>
            </a:avLst>
          </a:prstGeom>
          <a:solidFill>
            <a:srgbClr val="E9EBFB"/>
          </a:solidFill>
          <a:ln w="15240">
            <a:solidFill>
              <a:srgbClr val="4A5AD8"/>
            </a:solidFill>
            <a:prstDash val="solid"/>
          </a:ln>
        </p:spPr>
      </p:sp>
      <p:sp>
        <p:nvSpPr>
          <p:cNvPr id="24" name="Text 20"/>
          <p:cNvSpPr txBox="1"/>
          <p:nvPr/>
        </p:nvSpPr>
        <p:spPr>
          <a:xfrm>
            <a:off x="9235440" y="4572000"/>
            <a:ext cx="21488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to upgrade</a:t>
            </a:r>
            <a:endParaRPr lang="en-US" sz="1100" dirty="0"/>
          </a:p>
        </p:txBody>
      </p:sp>
      <p:sp>
        <p:nvSpPr>
          <p:cNvPr id="25" name="Shape 21"/>
          <p:cNvSpPr/>
          <p:nvPr/>
        </p:nvSpPr>
        <p:spPr>
          <a:xfrm>
            <a:off x="9098280" y="2816352"/>
            <a:ext cx="0" cy="201168"/>
          </a:xfrm>
          <a:prstGeom prst="line">
            <a:avLst/>
          </a:prstGeom>
          <a:noFill/>
          <a:ln w="22225">
            <a:solidFill>
              <a:srgbClr val="6E7191"/>
            </a:solidFill>
            <a:prstDash val="solid"/>
            <a:tailEnd type="triangle"/>
          </a:ln>
        </p:spPr>
      </p:sp>
      <p:sp>
        <p:nvSpPr>
          <p:cNvPr id="26" name="Shape 22"/>
          <p:cNvSpPr/>
          <p:nvPr/>
        </p:nvSpPr>
        <p:spPr>
          <a:xfrm>
            <a:off x="8503920" y="4114800"/>
            <a:ext cx="-594360" cy="457200"/>
          </a:xfrm>
          <a:prstGeom prst="line">
            <a:avLst/>
          </a:prstGeom>
          <a:noFill/>
          <a:ln w="22225">
            <a:solidFill>
              <a:srgbClr val="2E9C68"/>
            </a:solidFill>
            <a:prstDash val="solid"/>
            <a:tailEnd type="triangle"/>
          </a:ln>
        </p:spPr>
      </p:sp>
      <p:sp>
        <p:nvSpPr>
          <p:cNvPr id="27" name="Shape 23"/>
          <p:cNvSpPr/>
          <p:nvPr/>
        </p:nvSpPr>
        <p:spPr>
          <a:xfrm>
            <a:off x="9692640" y="4114800"/>
            <a:ext cx="594360" cy="457200"/>
          </a:xfrm>
          <a:prstGeom prst="line">
            <a:avLst/>
          </a:prstGeom>
          <a:noFill/>
          <a:ln w="22225">
            <a:solidFill>
              <a:srgbClr val="6E7191"/>
            </a:solidFill>
            <a:prstDash val="solid"/>
            <a:tailEnd type="triangle"/>
          </a:ln>
        </p:spPr>
      </p:sp>
      <p:sp>
        <p:nvSpPr>
          <p:cNvPr id="28" name="Text 24"/>
          <p:cNvSpPr txBox="1"/>
          <p:nvPr/>
        </p:nvSpPr>
        <p:spPr>
          <a:xfrm>
            <a:off x="7406640" y="4133088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E9C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800" dirty="0"/>
          </a:p>
        </p:txBody>
      </p:sp>
      <p:sp>
        <p:nvSpPr>
          <p:cNvPr id="29" name="Text 25"/>
          <p:cNvSpPr txBox="1"/>
          <p:nvPr/>
        </p:nvSpPr>
        <p:spPr>
          <a:xfrm>
            <a:off x="10332720" y="4133088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E71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02336"/>
            <a:ext cx="1105783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E23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&amp; MODERATION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58368"/>
            <a:ext cx="11057839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F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Mandatory protection for every member</a:t>
            </a:r>
            <a:endParaRPr lang="en-US" sz="29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6E71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MGS</a:t>
            </a:r>
            <a:pPr algn="l" indent="0" marL="0">
              <a:buNone/>
            </a:pPr>
            <a:r>
              <a:rPr lang="en-US" sz="850" dirty="0">
                <a:solidFill>
                  <a:srgbClr val="6E71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|   Dating Application — Technology &amp; Architecture Proposal</a:t>
            </a:r>
            <a:endParaRPr lang="en-US" sz="850" dirty="0"/>
          </a:p>
        </p:txBody>
      </p:sp>
      <p:sp>
        <p:nvSpPr>
          <p:cNvPr id="5" name="Text 3"/>
          <p:cNvSpPr txBox="1"/>
          <p:nvPr/>
        </p:nvSpPr>
        <p:spPr>
          <a:xfrm>
            <a:off x="10893247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E71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566928" y="1874520"/>
            <a:ext cx="2048256" cy="1600200"/>
          </a:xfrm>
          <a:prstGeom prst="roundRect">
            <a:avLst>
              <a:gd name="adj" fmla="val 5714"/>
            </a:avLst>
          </a:prstGeom>
          <a:solidFill>
            <a:srgbClr val="F7F7FB"/>
          </a:solidFill>
          <a:ln w="12700">
            <a:solidFill>
              <a:srgbClr val="E6E6F0"/>
            </a:solidFill>
            <a:prstDash val="solid"/>
          </a:ln>
          <a:effectLst>
            <a:outerShdw sx="100000" sy="100000" kx="0" ky="0" algn="bl" rotWithShape="0" blurRad="88900" dist="25400" dir="5400000">
              <a:srgbClr val="9A9AB5">
                <a:alpha val="2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225296" y="2093976"/>
            <a:ext cx="731520" cy="731520"/>
          </a:xfrm>
          <a:prstGeom prst="ellipse">
            <a:avLst/>
          </a:prstGeom>
          <a:solidFill>
            <a:srgbClr val="FBE7EC"/>
          </a:solidFill>
          <a:ln w="12700">
            <a:solidFill>
              <a:srgbClr val="E23A63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66698" y="2335378"/>
            <a:ext cx="248717" cy="248717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566928" y="2898648"/>
            <a:ext cx="20482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2779776" y="1874520"/>
            <a:ext cx="2048256" cy="1600200"/>
          </a:xfrm>
          <a:prstGeom prst="roundRect">
            <a:avLst>
              <a:gd name="adj" fmla="val 5714"/>
            </a:avLst>
          </a:prstGeom>
          <a:solidFill>
            <a:srgbClr val="F7F7FB"/>
          </a:solidFill>
          <a:ln w="12700">
            <a:solidFill>
              <a:srgbClr val="E6E6F0"/>
            </a:solidFill>
            <a:prstDash val="solid"/>
          </a:ln>
          <a:effectLst>
            <a:outerShdw sx="100000" sy="100000" kx="0" ky="0" algn="bl" rotWithShape="0" blurRad="88900" dist="25400" dir="5400000">
              <a:srgbClr val="9A9AB5">
                <a:alpha val="2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438144" y="2093976"/>
            <a:ext cx="731520" cy="731520"/>
          </a:xfrm>
          <a:prstGeom prst="ellipse">
            <a:avLst/>
          </a:prstGeom>
          <a:solidFill>
            <a:srgbClr val="E2F3F3"/>
          </a:solidFill>
          <a:ln w="12700">
            <a:solidFill>
              <a:srgbClr val="0E9AA0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79546" y="2335378"/>
            <a:ext cx="248717" cy="248717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2779776" y="2898648"/>
            <a:ext cx="20482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4992624" y="1874520"/>
            <a:ext cx="2048256" cy="1600200"/>
          </a:xfrm>
          <a:prstGeom prst="roundRect">
            <a:avLst>
              <a:gd name="adj" fmla="val 5714"/>
            </a:avLst>
          </a:prstGeom>
          <a:solidFill>
            <a:srgbClr val="F7F7FB"/>
          </a:solidFill>
          <a:ln w="12700">
            <a:solidFill>
              <a:srgbClr val="E6E6F0"/>
            </a:solidFill>
            <a:prstDash val="solid"/>
          </a:ln>
          <a:effectLst>
            <a:outerShdw sx="100000" sy="100000" kx="0" ky="0" algn="bl" rotWithShape="0" blurRad="88900" dist="25400" dir="5400000">
              <a:srgbClr val="9A9AB5">
                <a:alpha val="2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5650992" y="2093976"/>
            <a:ext cx="731520" cy="731520"/>
          </a:xfrm>
          <a:prstGeom prst="ellipse">
            <a:avLst/>
          </a:prstGeom>
          <a:solidFill>
            <a:srgbClr val="E9EBFB"/>
          </a:solidFill>
          <a:ln w="12700">
            <a:solidFill>
              <a:srgbClr val="4A5AD8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92394" y="2335378"/>
            <a:ext cx="248717" cy="248717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4992624" y="2898648"/>
            <a:ext cx="20482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Unmatch</a:t>
            </a:r>
            <a:endParaRPr lang="en-US" sz="1050" dirty="0"/>
          </a:p>
        </p:txBody>
      </p:sp>
      <p:sp>
        <p:nvSpPr>
          <p:cNvPr id="18" name="Shape 13"/>
          <p:cNvSpPr/>
          <p:nvPr/>
        </p:nvSpPr>
        <p:spPr>
          <a:xfrm>
            <a:off x="7205472" y="1874520"/>
            <a:ext cx="2048256" cy="1600200"/>
          </a:xfrm>
          <a:prstGeom prst="roundRect">
            <a:avLst>
              <a:gd name="adj" fmla="val 5714"/>
            </a:avLst>
          </a:prstGeom>
          <a:solidFill>
            <a:srgbClr val="F7F7FB"/>
          </a:solidFill>
          <a:ln w="12700">
            <a:solidFill>
              <a:srgbClr val="E6E6F0"/>
            </a:solidFill>
            <a:prstDash val="solid"/>
          </a:ln>
          <a:effectLst>
            <a:outerShdw sx="100000" sy="100000" kx="0" ky="0" algn="bl" rotWithShape="0" blurRad="88900" dist="25400" dir="5400000">
              <a:srgbClr val="9A9AB5">
                <a:alpha val="22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7863840" y="2093976"/>
            <a:ext cx="731520" cy="731520"/>
          </a:xfrm>
          <a:prstGeom prst="ellipse">
            <a:avLst/>
          </a:prstGeom>
          <a:solidFill>
            <a:srgbClr val="FAF0E3"/>
          </a:solidFill>
          <a:ln w="12700">
            <a:solidFill>
              <a:srgbClr val="D9832A"/>
            </a:solidFill>
            <a:prstDash val="solid"/>
          </a:ln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05242" y="2335378"/>
            <a:ext cx="248717" cy="248717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7205472" y="2898648"/>
            <a:ext cx="20482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Abuse reporting</a:t>
            </a:r>
            <a:endParaRPr lang="en-US" sz="1050" dirty="0"/>
          </a:p>
        </p:txBody>
      </p:sp>
      <p:sp>
        <p:nvSpPr>
          <p:cNvPr id="22" name="Shape 16"/>
          <p:cNvSpPr/>
          <p:nvPr/>
        </p:nvSpPr>
        <p:spPr>
          <a:xfrm>
            <a:off x="9418320" y="1874520"/>
            <a:ext cx="2048256" cy="1600200"/>
          </a:xfrm>
          <a:prstGeom prst="roundRect">
            <a:avLst>
              <a:gd name="adj" fmla="val 5714"/>
            </a:avLst>
          </a:prstGeom>
          <a:solidFill>
            <a:srgbClr val="F7F7FB"/>
          </a:solidFill>
          <a:ln w="12700">
            <a:solidFill>
              <a:srgbClr val="E6E6F0"/>
            </a:solidFill>
            <a:prstDash val="solid"/>
          </a:ln>
          <a:effectLst>
            <a:outerShdw sx="100000" sy="100000" kx="0" ky="0" algn="bl" rotWithShape="0" blurRad="88900" dist="25400" dir="5400000">
              <a:srgbClr val="9A9AB5">
                <a:alpha val="22000"/>
              </a:srgbClr>
            </a:outerShdw>
          </a:effectLst>
        </p:spPr>
      </p:sp>
      <p:sp>
        <p:nvSpPr>
          <p:cNvPr id="23" name="Shape 17"/>
          <p:cNvSpPr/>
          <p:nvPr/>
        </p:nvSpPr>
        <p:spPr>
          <a:xfrm>
            <a:off x="10076688" y="2093976"/>
            <a:ext cx="731520" cy="731520"/>
          </a:xfrm>
          <a:prstGeom prst="ellipse">
            <a:avLst/>
          </a:prstGeom>
          <a:solidFill>
            <a:srgbClr val="F2E9F8"/>
          </a:solidFill>
          <a:ln w="12700">
            <a:solidFill>
              <a:srgbClr val="8A3FB5"/>
            </a:solidFill>
            <a:prstDash val="solid"/>
          </a:ln>
        </p:spPr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18090" y="2335378"/>
            <a:ext cx="248717" cy="248717"/>
          </a:xfrm>
          <a:prstGeom prst="rect">
            <a:avLst/>
          </a:prstGeom>
        </p:spPr>
      </p:pic>
      <p:sp>
        <p:nvSpPr>
          <p:cNvPr id="25" name="Text 18"/>
          <p:cNvSpPr txBox="1"/>
          <p:nvPr/>
        </p:nvSpPr>
        <p:spPr>
          <a:xfrm>
            <a:off x="9418320" y="2898648"/>
            <a:ext cx="20482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moderation</a:t>
            </a:r>
            <a:endParaRPr lang="en-US" sz="1050" dirty="0"/>
          </a:p>
        </p:txBody>
      </p:sp>
      <p:sp>
        <p:nvSpPr>
          <p:cNvPr id="26" name="Shape 19"/>
          <p:cNvSpPr/>
          <p:nvPr/>
        </p:nvSpPr>
        <p:spPr>
          <a:xfrm>
            <a:off x="566928" y="3657600"/>
            <a:ext cx="11091672" cy="2240280"/>
          </a:xfrm>
          <a:prstGeom prst="roundRect">
            <a:avLst>
              <a:gd name="adj" fmla="val 4082"/>
            </a:avLst>
          </a:prstGeom>
          <a:solidFill>
            <a:srgbClr val="FBE7EC"/>
          </a:solidFill>
          <a:ln w="12700">
            <a:solidFill>
              <a:srgbClr val="FBE7EC"/>
            </a:solidFill>
            <a:prstDash val="solid"/>
          </a:ln>
          <a:effectLst>
            <a:outerShdw sx="100000" sy="100000" kx="0" ky="0" algn="bl" rotWithShape="0" blurRad="88900" dist="25400" dir="5400000">
              <a:srgbClr val="9A9AB5">
                <a:alpha val="22000"/>
              </a:srgbClr>
            </a:outerShdw>
          </a:effectLst>
        </p:spPr>
      </p:sp>
      <p:sp>
        <p:nvSpPr>
          <p:cNvPr id="27" name="Text 20"/>
          <p:cNvSpPr txBox="1"/>
          <p:nvPr/>
        </p:nvSpPr>
        <p:spPr>
          <a:xfrm>
            <a:off x="886968" y="38404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report categories</a:t>
            </a:r>
            <a:endParaRPr lang="en-US" sz="1250" dirty="0"/>
          </a:p>
        </p:txBody>
      </p:sp>
      <p:sp>
        <p:nvSpPr>
          <p:cNvPr id="28" name="Shape 21"/>
          <p:cNvSpPr/>
          <p:nvPr/>
        </p:nvSpPr>
        <p:spPr>
          <a:xfrm>
            <a:off x="886968" y="4343400"/>
            <a:ext cx="329184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F0C9D3"/>
            </a:solidFill>
            <a:prstDash val="solid"/>
          </a:ln>
        </p:spPr>
      </p:sp>
      <p:pic>
        <p:nvPicPr>
          <p:cNvPr id="2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51560" y="4489704"/>
            <a:ext cx="274320" cy="274320"/>
          </a:xfrm>
          <a:prstGeom prst="rect">
            <a:avLst/>
          </a:prstGeom>
        </p:spPr>
      </p:pic>
      <p:sp>
        <p:nvSpPr>
          <p:cNvPr id="30" name="Text 22"/>
          <p:cNvSpPr txBox="1"/>
          <p:nvPr/>
        </p:nvSpPr>
        <p:spPr>
          <a:xfrm>
            <a:off x="1435608" y="4343400"/>
            <a:ext cx="2651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436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Harassment</a:t>
            </a:r>
            <a:endParaRPr lang="en-US" sz="1050" dirty="0"/>
          </a:p>
        </p:txBody>
      </p:sp>
      <p:sp>
        <p:nvSpPr>
          <p:cNvPr id="31" name="Shape 23"/>
          <p:cNvSpPr/>
          <p:nvPr/>
        </p:nvSpPr>
        <p:spPr>
          <a:xfrm>
            <a:off x="4453128" y="4343400"/>
            <a:ext cx="329184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F0C9D3"/>
            </a:solidFill>
            <a:prstDash val="solid"/>
          </a:ln>
        </p:spPr>
      </p:sp>
      <p:pic>
        <p:nvPicPr>
          <p:cNvPr id="32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17720" y="4489704"/>
            <a:ext cx="274320" cy="274320"/>
          </a:xfrm>
          <a:prstGeom prst="rect">
            <a:avLst/>
          </a:prstGeom>
        </p:spPr>
      </p:pic>
      <p:sp>
        <p:nvSpPr>
          <p:cNvPr id="33" name="Text 24"/>
          <p:cNvSpPr txBox="1"/>
          <p:nvPr/>
        </p:nvSpPr>
        <p:spPr>
          <a:xfrm>
            <a:off x="5001768" y="4343400"/>
            <a:ext cx="2651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436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Fake profile</a:t>
            </a:r>
            <a:endParaRPr lang="en-US" sz="1050" dirty="0"/>
          </a:p>
        </p:txBody>
      </p:sp>
      <p:sp>
        <p:nvSpPr>
          <p:cNvPr id="34" name="Shape 25"/>
          <p:cNvSpPr/>
          <p:nvPr/>
        </p:nvSpPr>
        <p:spPr>
          <a:xfrm>
            <a:off x="8019288" y="4343400"/>
            <a:ext cx="329184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F0C9D3"/>
            </a:solidFill>
            <a:prstDash val="solid"/>
          </a:ln>
        </p:spPr>
      </p:sp>
      <p:pic>
        <p:nvPicPr>
          <p:cNvPr id="35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183880" y="4489704"/>
            <a:ext cx="274320" cy="274320"/>
          </a:xfrm>
          <a:prstGeom prst="rect">
            <a:avLst/>
          </a:prstGeom>
        </p:spPr>
      </p:pic>
      <p:sp>
        <p:nvSpPr>
          <p:cNvPr id="36" name="Text 26"/>
          <p:cNvSpPr txBox="1"/>
          <p:nvPr/>
        </p:nvSpPr>
        <p:spPr>
          <a:xfrm>
            <a:off x="8567928" y="4343400"/>
            <a:ext cx="2651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436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Spam</a:t>
            </a:r>
            <a:endParaRPr lang="en-US" sz="1050" dirty="0"/>
          </a:p>
        </p:txBody>
      </p:sp>
      <p:sp>
        <p:nvSpPr>
          <p:cNvPr id="37" name="Shape 27"/>
          <p:cNvSpPr/>
          <p:nvPr/>
        </p:nvSpPr>
        <p:spPr>
          <a:xfrm>
            <a:off x="886968" y="5056632"/>
            <a:ext cx="329184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F0C9D3"/>
            </a:solidFill>
            <a:prstDash val="solid"/>
          </a:ln>
        </p:spPr>
      </p:sp>
      <p:pic>
        <p:nvPicPr>
          <p:cNvPr id="38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51560" y="5202936"/>
            <a:ext cx="274320" cy="274320"/>
          </a:xfrm>
          <a:prstGeom prst="rect">
            <a:avLst/>
          </a:prstGeom>
        </p:spPr>
      </p:pic>
      <p:sp>
        <p:nvSpPr>
          <p:cNvPr id="39" name="Text 28"/>
          <p:cNvSpPr txBox="1"/>
          <p:nvPr/>
        </p:nvSpPr>
        <p:spPr>
          <a:xfrm>
            <a:off x="1435608" y="5056632"/>
            <a:ext cx="2651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436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Inappropriate content</a:t>
            </a:r>
            <a:endParaRPr lang="en-US" sz="1050" dirty="0"/>
          </a:p>
        </p:txBody>
      </p:sp>
      <p:sp>
        <p:nvSpPr>
          <p:cNvPr id="40" name="Shape 29"/>
          <p:cNvSpPr/>
          <p:nvPr/>
        </p:nvSpPr>
        <p:spPr>
          <a:xfrm>
            <a:off x="4453128" y="5056632"/>
            <a:ext cx="329184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F0C9D3"/>
            </a:solidFill>
            <a:prstDash val="solid"/>
          </a:ln>
        </p:spPr>
      </p:sp>
      <p:pic>
        <p:nvPicPr>
          <p:cNvPr id="41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617720" y="5202936"/>
            <a:ext cx="274320" cy="274320"/>
          </a:xfrm>
          <a:prstGeom prst="rect">
            <a:avLst/>
          </a:prstGeom>
        </p:spPr>
      </p:pic>
      <p:sp>
        <p:nvSpPr>
          <p:cNvPr id="42" name="Text 30"/>
          <p:cNvSpPr txBox="1"/>
          <p:nvPr/>
        </p:nvSpPr>
        <p:spPr>
          <a:xfrm>
            <a:off x="5001768" y="5056632"/>
            <a:ext cx="2651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436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Scam</a:t>
            </a:r>
            <a:endParaRPr lang="en-US" sz="1050" dirty="0"/>
          </a:p>
        </p:txBody>
      </p:sp>
      <p:sp>
        <p:nvSpPr>
          <p:cNvPr id="43" name="Shape 31"/>
          <p:cNvSpPr/>
          <p:nvPr/>
        </p:nvSpPr>
        <p:spPr>
          <a:xfrm>
            <a:off x="8019288" y="5056632"/>
            <a:ext cx="329184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F0C9D3"/>
            </a:solidFill>
            <a:prstDash val="solid"/>
          </a:ln>
        </p:spPr>
      </p:sp>
      <p:pic>
        <p:nvPicPr>
          <p:cNvPr id="44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183880" y="5202936"/>
            <a:ext cx="274320" cy="274320"/>
          </a:xfrm>
          <a:prstGeom prst="rect">
            <a:avLst/>
          </a:prstGeom>
        </p:spPr>
      </p:pic>
      <p:sp>
        <p:nvSpPr>
          <p:cNvPr id="45" name="Text 32"/>
          <p:cNvSpPr txBox="1"/>
          <p:nvPr/>
        </p:nvSpPr>
        <p:spPr>
          <a:xfrm>
            <a:off x="8567928" y="5056632"/>
            <a:ext cx="2651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436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</a:t>
            </a:r>
            <a:endParaRPr lang="en-US" sz="10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02336"/>
            <a:ext cx="1105783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E23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 VERIFICATION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58368"/>
            <a:ext cx="11057839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F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Reducing catfishing with AI photo checks</a:t>
            </a:r>
            <a:endParaRPr lang="en-US" sz="29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6E71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MGS</a:t>
            </a:r>
            <a:pPr algn="l" indent="0" marL="0">
              <a:buNone/>
            </a:pPr>
            <a:r>
              <a:rPr lang="en-US" sz="850" dirty="0">
                <a:solidFill>
                  <a:srgbClr val="6E71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|   Dating Application — Technology &amp; Architecture Proposal</a:t>
            </a:r>
            <a:endParaRPr lang="en-US" sz="850" dirty="0"/>
          </a:p>
        </p:txBody>
      </p:sp>
      <p:sp>
        <p:nvSpPr>
          <p:cNvPr id="5" name="Text 3"/>
          <p:cNvSpPr txBox="1"/>
          <p:nvPr/>
        </p:nvSpPr>
        <p:spPr>
          <a:xfrm>
            <a:off x="10893247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E71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85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178308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1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AI photo / selfie check confirms a member is real — reducing catfishing before a Verified badge is granted.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66928" y="2468880"/>
            <a:ext cx="2084832" cy="1874520"/>
          </a:xfrm>
          <a:prstGeom prst="roundRect">
            <a:avLst>
              <a:gd name="adj" fmla="val 4390"/>
            </a:avLst>
          </a:prstGeom>
          <a:solidFill>
            <a:srgbClr val="FBE7EC"/>
          </a:solidFill>
          <a:ln w="15240">
            <a:solidFill>
              <a:srgbClr val="E23A6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243584" y="2798064"/>
            <a:ext cx="731520" cy="731520"/>
          </a:xfrm>
          <a:prstGeom prst="ellipse">
            <a:avLst/>
          </a:prstGeom>
          <a:solidFill>
            <a:srgbClr val="FBE7EC"/>
          </a:solidFill>
          <a:ln w="12700">
            <a:solidFill>
              <a:srgbClr val="E23A63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84986" y="3039466"/>
            <a:ext cx="248717" cy="248717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676656" y="3675888"/>
            <a:ext cx="186537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spcAft>
                <a:spcPts val="300"/>
              </a:spcAft>
              <a:buNone/>
            </a:pPr>
            <a:r>
              <a:rPr lang="en-US" sz="750" b="1" spc="100" kern="0" dirty="0">
                <a:solidFill>
                  <a:srgbClr val="E23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</a:t>
            </a:r>
            <a:endParaRPr lang="en-US" sz="7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1F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 request</a:t>
            </a:r>
            <a:endParaRPr lang="en-US" sz="750" dirty="0"/>
          </a:p>
        </p:txBody>
      </p:sp>
      <p:sp>
        <p:nvSpPr>
          <p:cNvPr id="11" name="Shape 8"/>
          <p:cNvSpPr/>
          <p:nvPr/>
        </p:nvSpPr>
        <p:spPr>
          <a:xfrm>
            <a:off x="2651760" y="3406140"/>
            <a:ext cx="219456" cy="0"/>
          </a:xfrm>
          <a:prstGeom prst="line">
            <a:avLst/>
          </a:prstGeom>
          <a:noFill/>
          <a:ln w="22225">
            <a:solidFill>
              <a:srgbClr val="6E7191"/>
            </a:solidFill>
            <a:prstDash val="solid"/>
            <a:tailEnd type="triangle"/>
          </a:ln>
        </p:spPr>
      </p:sp>
      <p:sp>
        <p:nvSpPr>
          <p:cNvPr id="12" name="Shape 9"/>
          <p:cNvSpPr/>
          <p:nvPr/>
        </p:nvSpPr>
        <p:spPr>
          <a:xfrm>
            <a:off x="2871216" y="2468880"/>
            <a:ext cx="2084832" cy="1874520"/>
          </a:xfrm>
          <a:prstGeom prst="roundRect">
            <a:avLst>
              <a:gd name="adj" fmla="val 4390"/>
            </a:avLst>
          </a:prstGeom>
          <a:solidFill>
            <a:srgbClr val="E2F3F3"/>
          </a:solidFill>
          <a:ln w="15240">
            <a:solidFill>
              <a:srgbClr val="0E9AA0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3547872" y="2798064"/>
            <a:ext cx="731520" cy="731520"/>
          </a:xfrm>
          <a:prstGeom prst="ellipse">
            <a:avLst/>
          </a:prstGeom>
          <a:solidFill>
            <a:srgbClr val="E2F3F3"/>
          </a:solidFill>
          <a:ln w="12700">
            <a:solidFill>
              <a:srgbClr val="0E9AA0"/>
            </a:solidFill>
            <a:prstDash val="solid"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89274" y="3039466"/>
            <a:ext cx="248717" cy="248717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2980944" y="3675888"/>
            <a:ext cx="186537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spcAft>
                <a:spcPts val="300"/>
              </a:spcAft>
              <a:buNone/>
            </a:pPr>
            <a:r>
              <a:rPr lang="en-US" sz="750" b="1" spc="100" kern="0" dirty="0">
                <a:solidFill>
                  <a:srgbClr val="0E9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</a:t>
            </a:r>
            <a:endParaRPr lang="en-US" sz="7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1F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 / selfie prompt</a:t>
            </a:r>
            <a:endParaRPr lang="en-US" sz="750" dirty="0"/>
          </a:p>
        </p:txBody>
      </p:sp>
      <p:sp>
        <p:nvSpPr>
          <p:cNvPr id="16" name="Shape 12"/>
          <p:cNvSpPr/>
          <p:nvPr/>
        </p:nvSpPr>
        <p:spPr>
          <a:xfrm>
            <a:off x="4956048" y="3406140"/>
            <a:ext cx="219456" cy="0"/>
          </a:xfrm>
          <a:prstGeom prst="line">
            <a:avLst/>
          </a:prstGeom>
          <a:noFill/>
          <a:ln w="22225">
            <a:solidFill>
              <a:srgbClr val="6E7191"/>
            </a:solidFill>
            <a:prstDash val="solid"/>
            <a:tailEnd type="triangle"/>
          </a:ln>
        </p:spPr>
      </p:sp>
      <p:sp>
        <p:nvSpPr>
          <p:cNvPr id="17" name="Shape 13"/>
          <p:cNvSpPr/>
          <p:nvPr/>
        </p:nvSpPr>
        <p:spPr>
          <a:xfrm>
            <a:off x="5175504" y="2468880"/>
            <a:ext cx="2084832" cy="1874520"/>
          </a:xfrm>
          <a:prstGeom prst="roundRect">
            <a:avLst>
              <a:gd name="adj" fmla="val 4390"/>
            </a:avLst>
          </a:prstGeom>
          <a:solidFill>
            <a:srgbClr val="E9EBFB"/>
          </a:solidFill>
          <a:ln w="15240">
            <a:solidFill>
              <a:srgbClr val="4A5AD8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5852160" y="2798064"/>
            <a:ext cx="731520" cy="731520"/>
          </a:xfrm>
          <a:prstGeom prst="ellipse">
            <a:avLst/>
          </a:prstGeom>
          <a:solidFill>
            <a:srgbClr val="E9EBFB"/>
          </a:solidFill>
          <a:ln w="12700">
            <a:solidFill>
              <a:srgbClr val="4A5AD8"/>
            </a:solidFill>
            <a:prstDash val="solid"/>
          </a:ln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3562" y="3039466"/>
            <a:ext cx="248717" cy="248717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5285232" y="3675888"/>
            <a:ext cx="186537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spcAft>
                <a:spcPts val="300"/>
              </a:spcAft>
              <a:buNone/>
            </a:pPr>
            <a:r>
              <a:rPr lang="en-US" sz="750" b="1" spc="100" kern="0" dirty="0">
                <a:solidFill>
                  <a:srgbClr val="4A5A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</a:t>
            </a:r>
            <a:endParaRPr lang="en-US" sz="7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1F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verification</a:t>
            </a:r>
            <a:endParaRPr lang="en-US" sz="750" dirty="0"/>
          </a:p>
        </p:txBody>
      </p:sp>
      <p:sp>
        <p:nvSpPr>
          <p:cNvPr id="21" name="Shape 16"/>
          <p:cNvSpPr/>
          <p:nvPr/>
        </p:nvSpPr>
        <p:spPr>
          <a:xfrm>
            <a:off x="7260336" y="3406140"/>
            <a:ext cx="219456" cy="0"/>
          </a:xfrm>
          <a:prstGeom prst="line">
            <a:avLst/>
          </a:prstGeom>
          <a:noFill/>
          <a:ln w="22225">
            <a:solidFill>
              <a:srgbClr val="6E7191"/>
            </a:solidFill>
            <a:prstDash val="solid"/>
            <a:tailEnd type="triangle"/>
          </a:ln>
        </p:spPr>
      </p:sp>
      <p:sp>
        <p:nvSpPr>
          <p:cNvPr id="22" name="Shape 17"/>
          <p:cNvSpPr/>
          <p:nvPr/>
        </p:nvSpPr>
        <p:spPr>
          <a:xfrm>
            <a:off x="7479792" y="2468880"/>
            <a:ext cx="2084832" cy="1874520"/>
          </a:xfrm>
          <a:prstGeom prst="roundRect">
            <a:avLst>
              <a:gd name="adj" fmla="val 4390"/>
            </a:avLst>
          </a:prstGeom>
          <a:solidFill>
            <a:srgbClr val="FAF0E3"/>
          </a:solidFill>
          <a:ln w="15240">
            <a:solidFill>
              <a:srgbClr val="D9832A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8156448" y="2798064"/>
            <a:ext cx="731520" cy="731520"/>
          </a:xfrm>
          <a:prstGeom prst="ellipse">
            <a:avLst/>
          </a:prstGeom>
          <a:solidFill>
            <a:srgbClr val="FAF0E3"/>
          </a:solidFill>
          <a:ln w="12700">
            <a:solidFill>
              <a:srgbClr val="D9832A"/>
            </a:solidFill>
            <a:prstDash val="solid"/>
          </a:ln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97850" y="3039466"/>
            <a:ext cx="248717" cy="248717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7589520" y="3675888"/>
            <a:ext cx="186537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spcAft>
                <a:spcPts val="300"/>
              </a:spcAft>
              <a:buNone/>
            </a:pPr>
            <a:r>
              <a:rPr lang="en-US" sz="750" b="1" spc="100" kern="0" dirty="0">
                <a:solidFill>
                  <a:srgbClr val="D98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</a:t>
            </a:r>
            <a:endParaRPr lang="en-US" sz="7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1F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 result</a:t>
            </a:r>
            <a:endParaRPr lang="en-US" sz="750" dirty="0"/>
          </a:p>
        </p:txBody>
      </p:sp>
      <p:sp>
        <p:nvSpPr>
          <p:cNvPr id="26" name="Shape 20"/>
          <p:cNvSpPr/>
          <p:nvPr/>
        </p:nvSpPr>
        <p:spPr>
          <a:xfrm>
            <a:off x="9564624" y="3406140"/>
            <a:ext cx="219456" cy="0"/>
          </a:xfrm>
          <a:prstGeom prst="line">
            <a:avLst/>
          </a:prstGeom>
          <a:noFill/>
          <a:ln w="22225">
            <a:solidFill>
              <a:srgbClr val="6E7191"/>
            </a:solidFill>
            <a:prstDash val="solid"/>
            <a:tailEnd type="triangle"/>
          </a:ln>
        </p:spPr>
      </p:sp>
      <p:sp>
        <p:nvSpPr>
          <p:cNvPr id="27" name="Shape 21"/>
          <p:cNvSpPr/>
          <p:nvPr/>
        </p:nvSpPr>
        <p:spPr>
          <a:xfrm>
            <a:off x="9784080" y="2468880"/>
            <a:ext cx="2084832" cy="1874520"/>
          </a:xfrm>
          <a:prstGeom prst="roundRect">
            <a:avLst>
              <a:gd name="adj" fmla="val 4390"/>
            </a:avLst>
          </a:prstGeom>
          <a:solidFill>
            <a:srgbClr val="F2E9F8"/>
          </a:solidFill>
          <a:ln w="15240">
            <a:solidFill>
              <a:srgbClr val="8A3FB5"/>
            </a:solidFill>
            <a:prstDash val="solid"/>
          </a:ln>
        </p:spPr>
      </p:sp>
      <p:sp>
        <p:nvSpPr>
          <p:cNvPr id="28" name="Shape 22"/>
          <p:cNvSpPr/>
          <p:nvPr/>
        </p:nvSpPr>
        <p:spPr>
          <a:xfrm>
            <a:off x="10460736" y="2798064"/>
            <a:ext cx="731520" cy="731520"/>
          </a:xfrm>
          <a:prstGeom prst="ellipse">
            <a:avLst/>
          </a:prstGeom>
          <a:solidFill>
            <a:srgbClr val="F2E9F8"/>
          </a:solidFill>
          <a:ln w="12700">
            <a:solidFill>
              <a:srgbClr val="8A3FB5"/>
            </a:solidFill>
            <a:prstDash val="solid"/>
          </a:ln>
        </p:spPr>
      </p:sp>
      <p:pic>
        <p:nvPicPr>
          <p:cNvPr id="2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702138" y="3039466"/>
            <a:ext cx="248717" cy="248717"/>
          </a:xfrm>
          <a:prstGeom prst="rect">
            <a:avLst/>
          </a:prstGeom>
        </p:spPr>
      </p:pic>
      <p:sp>
        <p:nvSpPr>
          <p:cNvPr id="30" name="Text 23"/>
          <p:cNvSpPr txBox="1"/>
          <p:nvPr/>
        </p:nvSpPr>
        <p:spPr>
          <a:xfrm>
            <a:off x="9893808" y="3675888"/>
            <a:ext cx="186537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spcAft>
                <a:spcPts val="300"/>
              </a:spcAft>
              <a:buNone/>
            </a:pPr>
            <a:r>
              <a:rPr lang="en-US" sz="750" b="1" spc="100" kern="0" dirty="0">
                <a:solidFill>
                  <a:srgbClr val="8A3F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5</a:t>
            </a:r>
            <a:endParaRPr lang="en-US" sz="7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1F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badge</a:t>
            </a:r>
            <a:endParaRPr lang="en-US" sz="750" dirty="0"/>
          </a:p>
        </p:txBody>
      </p:sp>
      <p:sp>
        <p:nvSpPr>
          <p:cNvPr id="31" name="Shape 24"/>
          <p:cNvSpPr/>
          <p:nvPr/>
        </p:nvSpPr>
        <p:spPr>
          <a:xfrm>
            <a:off x="566928" y="4709160"/>
            <a:ext cx="11091672" cy="1188720"/>
          </a:xfrm>
          <a:prstGeom prst="roundRect">
            <a:avLst>
              <a:gd name="adj" fmla="val 7692"/>
            </a:avLst>
          </a:prstGeom>
          <a:solidFill>
            <a:srgbClr val="F7F7FB"/>
          </a:solidFill>
          <a:ln w="12700">
            <a:solidFill>
              <a:srgbClr val="E6E6F0"/>
            </a:solidFill>
            <a:prstDash val="solid"/>
          </a:ln>
          <a:effectLst>
            <a:outerShdw sx="100000" sy="100000" kx="0" ky="0" algn="bl" rotWithShape="0" blurRad="88900" dist="25400" dir="5400000">
              <a:srgbClr val="9A9AB5">
                <a:alpha val="22000"/>
              </a:srgbClr>
            </a:outerShdw>
          </a:effectLst>
        </p:spPr>
      </p:sp>
      <p:sp>
        <p:nvSpPr>
          <p:cNvPr id="32" name="Shape 25"/>
          <p:cNvSpPr/>
          <p:nvPr/>
        </p:nvSpPr>
        <p:spPr>
          <a:xfrm>
            <a:off x="877824" y="5001768"/>
            <a:ext cx="603504" cy="603504"/>
          </a:xfrm>
          <a:prstGeom prst="ellipse">
            <a:avLst/>
          </a:prstGeom>
          <a:solidFill>
            <a:srgbClr val="E9EBFB"/>
          </a:solidFill>
          <a:ln w="12700">
            <a:solidFill>
              <a:srgbClr val="4A5AD8"/>
            </a:solidFill>
            <a:prstDash val="solid"/>
          </a:ln>
        </p:spPr>
      </p:sp>
      <p:pic>
        <p:nvPicPr>
          <p:cNvPr id="3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6980" y="5200924"/>
            <a:ext cx="205191" cy="205191"/>
          </a:xfrm>
          <a:prstGeom prst="rect">
            <a:avLst/>
          </a:prstGeom>
        </p:spPr>
      </p:pic>
      <p:sp>
        <p:nvSpPr>
          <p:cNvPr id="34" name="Text 26"/>
          <p:cNvSpPr txBox="1"/>
          <p:nvPr/>
        </p:nvSpPr>
        <p:spPr>
          <a:xfrm>
            <a:off x="1664208" y="4709160"/>
            <a:ext cx="9692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i="1" dirty="0">
                <a:solidFill>
                  <a:srgbClr val="3436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exact verification provider and methodology — AI, manual review or ID verification — are confirmed with the client before implementation.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02336"/>
            <a:ext cx="1105783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E23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SUBSCRIPTION SYSTEM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58368"/>
            <a:ext cx="11057839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F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access, with premium upgrades</a:t>
            </a:r>
            <a:endParaRPr lang="en-US" sz="29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6E71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MGS</a:t>
            </a:r>
            <a:pPr algn="l" indent="0" marL="0">
              <a:buNone/>
            </a:pPr>
            <a:r>
              <a:rPr lang="en-US" sz="850" dirty="0">
                <a:solidFill>
                  <a:srgbClr val="6E71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|   Dating Application — Technology &amp; Architecture Proposal</a:t>
            </a:r>
            <a:endParaRPr lang="en-US" sz="850" dirty="0"/>
          </a:p>
        </p:txBody>
      </p:sp>
      <p:sp>
        <p:nvSpPr>
          <p:cNvPr id="5" name="Text 3"/>
          <p:cNvSpPr txBox="1"/>
          <p:nvPr/>
        </p:nvSpPr>
        <p:spPr>
          <a:xfrm>
            <a:off x="10893247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E71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566928" y="1874520"/>
            <a:ext cx="5486400" cy="3611880"/>
          </a:xfrm>
          <a:prstGeom prst="roundRect">
            <a:avLst>
              <a:gd name="adj" fmla="val 2532"/>
            </a:avLst>
          </a:prstGeom>
          <a:solidFill>
            <a:srgbClr val="F7F7FB"/>
          </a:solidFill>
          <a:ln w="12700">
            <a:solidFill>
              <a:srgbClr val="E6E6F0"/>
            </a:solidFill>
            <a:prstDash val="solid"/>
          </a:ln>
          <a:effectLst>
            <a:outerShdw sx="100000" sy="100000" kx="0" ky="0" algn="bl" rotWithShape="0" blurRad="88900" dist="25400" dir="5400000">
              <a:srgbClr val="9A9AB5">
                <a:alpha val="2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59536" y="2130552"/>
            <a:ext cx="713232" cy="713232"/>
          </a:xfrm>
          <a:prstGeom prst="ellipse">
            <a:avLst/>
          </a:prstGeom>
          <a:solidFill>
            <a:srgbClr val="E2F3F3"/>
          </a:solidFill>
          <a:ln w="12700">
            <a:solidFill>
              <a:srgbClr val="0E9AA0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4903" y="2365919"/>
            <a:ext cx="242499" cy="242499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709928" y="2185416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</a:t>
            </a:r>
            <a:endParaRPr lang="en-US" sz="1700" dirty="0"/>
          </a:p>
        </p:txBody>
      </p:sp>
      <p:sp>
        <p:nvSpPr>
          <p:cNvPr id="10" name="Text 7"/>
          <p:cNvSpPr txBox="1"/>
          <p:nvPr/>
        </p:nvSpPr>
        <p:spPr>
          <a:xfrm>
            <a:off x="896112" y="2926080"/>
            <a:ext cx="48463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1100"/>
              </a:spcAft>
              <a:buSzPct val="100000"/>
              <a:buChar char="•"/>
            </a:pPr>
            <a:r>
              <a:rPr lang="en-US" sz="1200" dirty="0">
                <a:solidFill>
                  <a:srgbClr val="3436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 creation</a:t>
            </a:r>
            <a:endParaRPr lang="en-US" sz="1200" dirty="0"/>
          </a:p>
          <a:p>
            <a:pPr marL="152400" indent="-152400">
              <a:spcAft>
                <a:spcPts val="1100"/>
              </a:spcAft>
              <a:buSzPct val="100000"/>
              <a:buChar char="•"/>
            </a:pPr>
            <a:r>
              <a:rPr lang="en-US" sz="1200" dirty="0">
                <a:solidFill>
                  <a:srgbClr val="3436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Discovery</a:t>
            </a:r>
            <a:endParaRPr lang="en-US" sz="1200" dirty="0"/>
          </a:p>
          <a:p>
            <a:pPr marL="152400" indent="-152400">
              <a:spcAft>
                <a:spcPts val="1100"/>
              </a:spcAft>
              <a:buSzPct val="100000"/>
              <a:buChar char="•"/>
            </a:pPr>
            <a:r>
              <a:rPr lang="en-US" sz="1200" dirty="0">
                <a:solidFill>
                  <a:srgbClr val="3436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 filters</a:t>
            </a:r>
            <a:endParaRPr lang="en-US" sz="1200" dirty="0"/>
          </a:p>
          <a:p>
            <a:pPr marL="152400" indent="-152400">
              <a:spcAft>
                <a:spcPts val="1100"/>
              </a:spcAft>
              <a:buSzPct val="100000"/>
              <a:buChar char="•"/>
            </a:pPr>
            <a:r>
              <a:rPr lang="en-US" sz="1200" dirty="0">
                <a:solidFill>
                  <a:srgbClr val="3436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 / pass</a:t>
            </a:r>
            <a:endParaRPr lang="en-US" sz="1200" dirty="0"/>
          </a:p>
          <a:p>
            <a:pPr marL="152400" indent="-152400">
              <a:spcAft>
                <a:spcPts val="1100"/>
              </a:spcAft>
              <a:buSzPct val="100000"/>
              <a:buChar char="•"/>
            </a:pPr>
            <a:r>
              <a:rPr lang="en-US" sz="1200" dirty="0">
                <a:solidFill>
                  <a:srgbClr val="3436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Matching</a:t>
            </a:r>
            <a:endParaRPr lang="en-US" sz="1200" dirty="0"/>
          </a:p>
          <a:p>
            <a:pPr marL="152400" indent="-152400">
              <a:spcAft>
                <a:spcPts val="1100"/>
              </a:spcAft>
              <a:buSzPct val="100000"/>
              <a:buChar char="•"/>
            </a:pPr>
            <a:r>
              <a:rPr lang="en-US" sz="1200" dirty="0">
                <a:solidFill>
                  <a:srgbClr val="3436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 messaging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6172200" y="1874520"/>
            <a:ext cx="5486400" cy="3611880"/>
          </a:xfrm>
          <a:prstGeom prst="roundRect">
            <a:avLst>
              <a:gd name="adj" fmla="val 2532"/>
            </a:avLst>
          </a:prstGeom>
          <a:solidFill>
            <a:srgbClr val="F2E9F8"/>
          </a:solidFill>
          <a:ln w="12700">
            <a:solidFill>
              <a:srgbClr val="F2E9F8"/>
            </a:solidFill>
            <a:prstDash val="solid"/>
          </a:ln>
          <a:effectLst>
            <a:outerShdw sx="100000" sy="100000" kx="0" ky="0" algn="bl" rotWithShape="0" blurRad="88900" dist="25400" dir="5400000">
              <a:srgbClr val="9A9AB5">
                <a:alpha val="2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464808" y="2130552"/>
            <a:ext cx="713232" cy="713232"/>
          </a:xfrm>
          <a:prstGeom prst="ellipse">
            <a:avLst/>
          </a:prstGeom>
          <a:solidFill>
            <a:srgbClr val="F2E9F8"/>
          </a:solidFill>
          <a:ln w="12700">
            <a:solidFill>
              <a:srgbClr val="8A3FB5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00175" y="2365919"/>
            <a:ext cx="242499" cy="242499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7315200" y="2185416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</a:t>
            </a:r>
            <a:endParaRPr lang="en-US" sz="1700" dirty="0"/>
          </a:p>
        </p:txBody>
      </p:sp>
      <p:sp>
        <p:nvSpPr>
          <p:cNvPr id="15" name="Text 11"/>
          <p:cNvSpPr txBox="1"/>
          <p:nvPr/>
        </p:nvSpPr>
        <p:spPr>
          <a:xfrm>
            <a:off x="6501384" y="2926080"/>
            <a:ext cx="48463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1100"/>
              </a:spcAft>
              <a:buSzPct val="100000"/>
              <a:buChar char="•"/>
            </a:pPr>
            <a:r>
              <a:rPr lang="en-US" sz="1200" dirty="0">
                <a:solidFill>
                  <a:srgbClr val="3436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Unlimited likes</a:t>
            </a:r>
            <a:endParaRPr lang="en-US" sz="1200" dirty="0"/>
          </a:p>
          <a:p>
            <a:pPr marL="152400" indent="-152400">
              <a:spcAft>
                <a:spcPts val="1100"/>
              </a:spcAft>
              <a:buSzPct val="100000"/>
              <a:buChar char="•"/>
            </a:pPr>
            <a:r>
              <a:rPr lang="en-US" sz="1200" dirty="0">
                <a:solidFill>
                  <a:srgbClr val="3436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filters</a:t>
            </a:r>
            <a:endParaRPr lang="en-US" sz="1200" dirty="0"/>
          </a:p>
          <a:p>
            <a:pPr marL="152400" indent="-152400">
              <a:spcAft>
                <a:spcPts val="1100"/>
              </a:spcAft>
              <a:buSzPct val="100000"/>
              <a:buChar char="•"/>
            </a:pPr>
            <a:r>
              <a:rPr lang="en-US" sz="1200" dirty="0">
                <a:solidFill>
                  <a:srgbClr val="3436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 boost</a:t>
            </a:r>
            <a:endParaRPr lang="en-US" sz="1200" dirty="0"/>
          </a:p>
          <a:p>
            <a:pPr marL="152400" indent="-152400">
              <a:spcAft>
                <a:spcPts val="1100"/>
              </a:spcAft>
              <a:buSzPct val="100000"/>
              <a:buChar char="•"/>
            </a:pPr>
            <a:r>
              <a:rPr lang="en-US" sz="1200" dirty="0">
                <a:solidFill>
                  <a:srgbClr val="3436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 unmatched users</a:t>
            </a:r>
            <a:endParaRPr lang="en-US" sz="1200" dirty="0"/>
          </a:p>
          <a:p>
            <a:pPr marL="152400" indent="-152400">
              <a:spcAft>
                <a:spcPts val="1100"/>
              </a:spcAft>
              <a:buSzPct val="100000"/>
              <a:buChar char="•"/>
            </a:pPr>
            <a:r>
              <a:rPr lang="en-US" sz="1200" dirty="0">
                <a:solidFill>
                  <a:srgbClr val="3436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calling</a:t>
            </a:r>
            <a:endParaRPr lang="en-US" sz="1200" dirty="0"/>
          </a:p>
          <a:p>
            <a:pPr marL="152400" indent="-152400">
              <a:spcAft>
                <a:spcPts val="1100"/>
              </a:spcAft>
              <a:buSzPct val="100000"/>
              <a:buChar char="•"/>
            </a:pPr>
            <a:r>
              <a:rPr lang="en-US" sz="1200" dirty="0">
                <a:solidFill>
                  <a:srgbClr val="3436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calling</a:t>
            </a:r>
            <a:endParaRPr lang="en-US" sz="1200" dirty="0"/>
          </a:p>
        </p:txBody>
      </p:sp>
      <p:sp>
        <p:nvSpPr>
          <p:cNvPr id="16" name="Text 12"/>
          <p:cNvSpPr txBox="1"/>
          <p:nvPr/>
        </p:nvSpPr>
        <p:spPr>
          <a:xfrm>
            <a:off x="566928" y="562356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E71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 of plans, pricing and exact entitlements are confirmed by the client.</a:t>
            </a:r>
            <a:endParaRPr lang="en-US" sz="9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02336"/>
            <a:ext cx="1105783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E23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GAMIFICATION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58368"/>
            <a:ext cx="11057839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F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 mechanics that drive engagement</a:t>
            </a:r>
            <a:endParaRPr lang="en-US" sz="29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6E71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MGS</a:t>
            </a:r>
            <a:pPr algn="l" indent="0" marL="0">
              <a:buNone/>
            </a:pPr>
            <a:r>
              <a:rPr lang="en-US" sz="850" dirty="0">
                <a:solidFill>
                  <a:srgbClr val="6E71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|   Dating Application — Technology &amp; Architecture Proposal</a:t>
            </a:r>
            <a:endParaRPr lang="en-US" sz="850" dirty="0"/>
          </a:p>
        </p:txBody>
      </p:sp>
      <p:sp>
        <p:nvSpPr>
          <p:cNvPr id="5" name="Text 3"/>
          <p:cNvSpPr txBox="1"/>
          <p:nvPr/>
        </p:nvSpPr>
        <p:spPr>
          <a:xfrm>
            <a:off x="10893247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E71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566928" y="2240280"/>
            <a:ext cx="3474720" cy="1097280"/>
          </a:xfrm>
          <a:prstGeom prst="roundRect">
            <a:avLst>
              <a:gd name="adj" fmla="val 8333"/>
            </a:avLst>
          </a:prstGeom>
          <a:solidFill>
            <a:srgbClr val="F7F7FB"/>
          </a:solidFill>
          <a:ln w="12700">
            <a:solidFill>
              <a:srgbClr val="E6E6F0"/>
            </a:solidFill>
            <a:prstDash val="solid"/>
          </a:ln>
          <a:effectLst>
            <a:outerShdw sx="100000" sy="100000" kx="0" ky="0" algn="bl" rotWithShape="0" blurRad="88900" dist="25400" dir="5400000">
              <a:srgbClr val="9A9AB5">
                <a:alpha val="2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86384" y="2523744"/>
            <a:ext cx="530352" cy="530352"/>
          </a:xfrm>
          <a:prstGeom prst="ellipse">
            <a:avLst/>
          </a:prstGeom>
          <a:solidFill>
            <a:srgbClr val="FBE7EC"/>
          </a:solidFill>
          <a:ln w="12700">
            <a:solidFill>
              <a:srgbClr val="E23A63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1400" y="2698760"/>
            <a:ext cx="180320" cy="18032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527048" y="2240280"/>
            <a:ext cx="2377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 prompts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270248" y="2240280"/>
            <a:ext cx="3474720" cy="1097280"/>
          </a:xfrm>
          <a:prstGeom prst="roundRect">
            <a:avLst>
              <a:gd name="adj" fmla="val 8333"/>
            </a:avLst>
          </a:prstGeom>
          <a:solidFill>
            <a:srgbClr val="F7F7FB"/>
          </a:solidFill>
          <a:ln w="12700">
            <a:solidFill>
              <a:srgbClr val="E6E6F0"/>
            </a:solidFill>
            <a:prstDash val="solid"/>
          </a:ln>
          <a:effectLst>
            <a:outerShdw sx="100000" sy="100000" kx="0" ky="0" algn="bl" rotWithShape="0" blurRad="88900" dist="25400" dir="5400000">
              <a:srgbClr val="9A9AB5">
                <a:alpha val="2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489704" y="2523744"/>
            <a:ext cx="530352" cy="530352"/>
          </a:xfrm>
          <a:prstGeom prst="ellipse">
            <a:avLst/>
          </a:prstGeom>
          <a:solidFill>
            <a:srgbClr val="E2F3F3"/>
          </a:solidFill>
          <a:ln w="12700">
            <a:solidFill>
              <a:srgbClr val="0E9AA0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4720" y="2698760"/>
            <a:ext cx="180320" cy="18032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5230368" y="2240280"/>
            <a:ext cx="2377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Badges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7973568" y="2240280"/>
            <a:ext cx="3474720" cy="1097280"/>
          </a:xfrm>
          <a:prstGeom prst="roundRect">
            <a:avLst>
              <a:gd name="adj" fmla="val 8333"/>
            </a:avLst>
          </a:prstGeom>
          <a:solidFill>
            <a:srgbClr val="F7F7FB"/>
          </a:solidFill>
          <a:ln w="12700">
            <a:solidFill>
              <a:srgbClr val="E6E6F0"/>
            </a:solidFill>
            <a:prstDash val="solid"/>
          </a:ln>
          <a:effectLst>
            <a:outerShdw sx="100000" sy="100000" kx="0" ky="0" algn="bl" rotWithShape="0" blurRad="88900" dist="25400" dir="5400000">
              <a:srgbClr val="9A9AB5">
                <a:alpha val="2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193024" y="2523744"/>
            <a:ext cx="530352" cy="530352"/>
          </a:xfrm>
          <a:prstGeom prst="ellipse">
            <a:avLst/>
          </a:prstGeom>
          <a:solidFill>
            <a:srgbClr val="E9EBFB"/>
          </a:solidFill>
          <a:ln w="12700">
            <a:solidFill>
              <a:srgbClr val="4A5AD8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68040" y="2698760"/>
            <a:ext cx="180320" cy="18032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8933688" y="2240280"/>
            <a:ext cx="2377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Swipe mechanics</a:t>
            </a:r>
            <a:endParaRPr lang="en-US" sz="1200" dirty="0"/>
          </a:p>
        </p:txBody>
      </p:sp>
      <p:sp>
        <p:nvSpPr>
          <p:cNvPr id="18" name="Shape 13"/>
          <p:cNvSpPr/>
          <p:nvPr/>
        </p:nvSpPr>
        <p:spPr>
          <a:xfrm>
            <a:off x="566928" y="3611880"/>
            <a:ext cx="3474720" cy="1097280"/>
          </a:xfrm>
          <a:prstGeom prst="roundRect">
            <a:avLst>
              <a:gd name="adj" fmla="val 8333"/>
            </a:avLst>
          </a:prstGeom>
          <a:solidFill>
            <a:srgbClr val="F7F7FB"/>
          </a:solidFill>
          <a:ln w="12700">
            <a:solidFill>
              <a:srgbClr val="E6E6F0"/>
            </a:solidFill>
            <a:prstDash val="solid"/>
          </a:ln>
          <a:effectLst>
            <a:outerShdw sx="100000" sy="100000" kx="0" ky="0" algn="bl" rotWithShape="0" blurRad="88900" dist="25400" dir="5400000">
              <a:srgbClr val="9A9AB5">
                <a:alpha val="22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786384" y="3895344"/>
            <a:ext cx="530352" cy="530352"/>
          </a:xfrm>
          <a:prstGeom prst="ellipse">
            <a:avLst/>
          </a:prstGeom>
          <a:solidFill>
            <a:srgbClr val="FAF0E3"/>
          </a:solidFill>
          <a:ln w="12700">
            <a:solidFill>
              <a:srgbClr val="D9832A"/>
            </a:solidFill>
            <a:prstDash val="solid"/>
          </a:ln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1400" y="4070360"/>
            <a:ext cx="180320" cy="180320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1527048" y="3611880"/>
            <a:ext cx="2377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 completion</a:t>
            </a:r>
            <a:endParaRPr lang="en-US" sz="1200" dirty="0"/>
          </a:p>
        </p:txBody>
      </p:sp>
      <p:sp>
        <p:nvSpPr>
          <p:cNvPr id="22" name="Shape 16"/>
          <p:cNvSpPr/>
          <p:nvPr/>
        </p:nvSpPr>
        <p:spPr>
          <a:xfrm>
            <a:off x="4270248" y="3611880"/>
            <a:ext cx="3474720" cy="1097280"/>
          </a:xfrm>
          <a:prstGeom prst="roundRect">
            <a:avLst>
              <a:gd name="adj" fmla="val 8333"/>
            </a:avLst>
          </a:prstGeom>
          <a:solidFill>
            <a:srgbClr val="F7F7FB"/>
          </a:solidFill>
          <a:ln w="12700">
            <a:solidFill>
              <a:srgbClr val="E6E6F0"/>
            </a:solidFill>
            <a:prstDash val="solid"/>
          </a:ln>
          <a:effectLst>
            <a:outerShdw sx="100000" sy="100000" kx="0" ky="0" algn="bl" rotWithShape="0" blurRad="88900" dist="25400" dir="5400000">
              <a:srgbClr val="9A9AB5">
                <a:alpha val="22000"/>
              </a:srgbClr>
            </a:outerShdw>
          </a:effectLst>
        </p:spPr>
      </p:sp>
      <p:sp>
        <p:nvSpPr>
          <p:cNvPr id="23" name="Shape 17"/>
          <p:cNvSpPr/>
          <p:nvPr/>
        </p:nvSpPr>
        <p:spPr>
          <a:xfrm>
            <a:off x="4489704" y="3895344"/>
            <a:ext cx="530352" cy="530352"/>
          </a:xfrm>
          <a:prstGeom prst="ellipse">
            <a:avLst/>
          </a:prstGeom>
          <a:solidFill>
            <a:srgbClr val="F2E9F8"/>
          </a:solidFill>
          <a:ln w="12700">
            <a:solidFill>
              <a:srgbClr val="8A3FB5"/>
            </a:solidFill>
            <a:prstDash val="solid"/>
          </a:ln>
        </p:spPr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64720" y="4070360"/>
            <a:ext cx="180320" cy="180320"/>
          </a:xfrm>
          <a:prstGeom prst="rect">
            <a:avLst/>
          </a:prstGeom>
        </p:spPr>
      </p:pic>
      <p:sp>
        <p:nvSpPr>
          <p:cNvPr id="25" name="Text 18"/>
          <p:cNvSpPr txBox="1"/>
          <p:nvPr/>
        </p:nvSpPr>
        <p:spPr>
          <a:xfrm>
            <a:off x="5230368" y="3611880"/>
            <a:ext cx="2377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Engagement achievements</a:t>
            </a:r>
            <a:endParaRPr lang="en-US" sz="1200" dirty="0"/>
          </a:p>
        </p:txBody>
      </p:sp>
      <p:sp>
        <p:nvSpPr>
          <p:cNvPr id="26" name="Text 19"/>
          <p:cNvSpPr txBox="1"/>
          <p:nvPr/>
        </p:nvSpPr>
        <p:spPr>
          <a:xfrm>
            <a:off x="566928" y="548640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E71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Badges, prompts and swipe mechanics are called out in the client's requirements as engagement mechanisms.</a:t>
            </a:r>
            <a:endParaRPr lang="en-US" sz="9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02336"/>
            <a:ext cx="1105783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E23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 SYSTEM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58368"/>
            <a:ext cx="11057839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F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Keeping members informed in real time</a:t>
            </a:r>
            <a:endParaRPr lang="en-US" sz="29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6E71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MGS</a:t>
            </a:r>
            <a:pPr algn="l" indent="0" marL="0">
              <a:buNone/>
            </a:pPr>
            <a:r>
              <a:rPr lang="en-US" sz="850" dirty="0">
                <a:solidFill>
                  <a:srgbClr val="6E71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|   Dating Application — Technology &amp; Architecture Proposal</a:t>
            </a:r>
            <a:endParaRPr lang="en-US" sz="850" dirty="0"/>
          </a:p>
        </p:txBody>
      </p:sp>
      <p:sp>
        <p:nvSpPr>
          <p:cNvPr id="5" name="Text 3"/>
          <p:cNvSpPr txBox="1"/>
          <p:nvPr/>
        </p:nvSpPr>
        <p:spPr>
          <a:xfrm>
            <a:off x="10893247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E71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566928" y="2148840"/>
            <a:ext cx="2606040" cy="914400"/>
          </a:xfrm>
          <a:prstGeom prst="roundRect">
            <a:avLst>
              <a:gd name="adj" fmla="val 10000"/>
            </a:avLst>
          </a:prstGeom>
          <a:solidFill>
            <a:srgbClr val="F7F7FB"/>
          </a:solidFill>
          <a:ln w="12700">
            <a:solidFill>
              <a:srgbClr val="E6E6F0"/>
            </a:solidFill>
            <a:prstDash val="solid"/>
          </a:ln>
          <a:effectLst>
            <a:outerShdw sx="100000" sy="100000" kx="0" ky="0" algn="bl" rotWithShape="0" blurRad="88900" dist="25400" dir="5400000">
              <a:srgbClr val="9A9AB5">
                <a:alpha val="2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31520" y="2350008"/>
            <a:ext cx="512064" cy="512064"/>
          </a:xfrm>
          <a:prstGeom prst="ellipse">
            <a:avLst/>
          </a:prstGeom>
          <a:solidFill>
            <a:srgbClr val="FBE7EC"/>
          </a:solidFill>
          <a:ln w="12700">
            <a:solidFill>
              <a:srgbClr val="E23A63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0501" y="2518989"/>
            <a:ext cx="174102" cy="174102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353312" y="2148840"/>
            <a:ext cx="1737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F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match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3355848" y="2148840"/>
            <a:ext cx="2606040" cy="914400"/>
          </a:xfrm>
          <a:prstGeom prst="roundRect">
            <a:avLst>
              <a:gd name="adj" fmla="val 10000"/>
            </a:avLst>
          </a:prstGeom>
          <a:solidFill>
            <a:srgbClr val="F7F7FB"/>
          </a:solidFill>
          <a:ln w="12700">
            <a:solidFill>
              <a:srgbClr val="E6E6F0"/>
            </a:solidFill>
            <a:prstDash val="solid"/>
          </a:ln>
          <a:effectLst>
            <a:outerShdw sx="100000" sy="100000" kx="0" ky="0" algn="bl" rotWithShape="0" blurRad="88900" dist="25400" dir="5400000">
              <a:srgbClr val="9A9AB5">
                <a:alpha val="2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520440" y="2350008"/>
            <a:ext cx="512064" cy="512064"/>
          </a:xfrm>
          <a:prstGeom prst="ellipse">
            <a:avLst/>
          </a:prstGeom>
          <a:solidFill>
            <a:srgbClr val="E2F3F3"/>
          </a:solidFill>
          <a:ln w="12700">
            <a:solidFill>
              <a:srgbClr val="0E9AA0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89421" y="2518989"/>
            <a:ext cx="174102" cy="174102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4142232" y="2148840"/>
            <a:ext cx="1737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F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message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6144768" y="2148840"/>
            <a:ext cx="2606040" cy="914400"/>
          </a:xfrm>
          <a:prstGeom prst="roundRect">
            <a:avLst>
              <a:gd name="adj" fmla="val 10000"/>
            </a:avLst>
          </a:prstGeom>
          <a:solidFill>
            <a:srgbClr val="F7F7FB"/>
          </a:solidFill>
          <a:ln w="12700">
            <a:solidFill>
              <a:srgbClr val="E6E6F0"/>
            </a:solidFill>
            <a:prstDash val="solid"/>
          </a:ln>
          <a:effectLst>
            <a:outerShdw sx="100000" sy="100000" kx="0" ky="0" algn="bl" rotWithShape="0" blurRad="88900" dist="25400" dir="5400000">
              <a:srgbClr val="9A9AB5">
                <a:alpha val="2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309360" y="2350008"/>
            <a:ext cx="512064" cy="512064"/>
          </a:xfrm>
          <a:prstGeom prst="ellipse">
            <a:avLst/>
          </a:prstGeom>
          <a:solidFill>
            <a:srgbClr val="E9EBFB"/>
          </a:solidFill>
          <a:ln w="12700">
            <a:solidFill>
              <a:srgbClr val="4A5AD8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8341" y="2518989"/>
            <a:ext cx="174102" cy="174102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6931152" y="2148840"/>
            <a:ext cx="1737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F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</a:t>
            </a:r>
            <a:endParaRPr lang="en-US" sz="1050" dirty="0"/>
          </a:p>
        </p:txBody>
      </p:sp>
      <p:sp>
        <p:nvSpPr>
          <p:cNvPr id="18" name="Shape 13"/>
          <p:cNvSpPr/>
          <p:nvPr/>
        </p:nvSpPr>
        <p:spPr>
          <a:xfrm>
            <a:off x="8933688" y="2148840"/>
            <a:ext cx="2606040" cy="914400"/>
          </a:xfrm>
          <a:prstGeom prst="roundRect">
            <a:avLst>
              <a:gd name="adj" fmla="val 10000"/>
            </a:avLst>
          </a:prstGeom>
          <a:solidFill>
            <a:srgbClr val="F7F7FB"/>
          </a:solidFill>
          <a:ln w="12700">
            <a:solidFill>
              <a:srgbClr val="E6E6F0"/>
            </a:solidFill>
            <a:prstDash val="solid"/>
          </a:ln>
          <a:effectLst>
            <a:outerShdw sx="100000" sy="100000" kx="0" ky="0" algn="bl" rotWithShape="0" blurRad="88900" dist="25400" dir="5400000">
              <a:srgbClr val="9A9AB5">
                <a:alpha val="22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9098280" y="2350008"/>
            <a:ext cx="512064" cy="512064"/>
          </a:xfrm>
          <a:prstGeom prst="ellipse">
            <a:avLst/>
          </a:prstGeom>
          <a:solidFill>
            <a:srgbClr val="FAF0E3"/>
          </a:solidFill>
          <a:ln w="12700">
            <a:solidFill>
              <a:srgbClr val="D9832A"/>
            </a:solidFill>
            <a:prstDash val="solid"/>
          </a:ln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67261" y="2518989"/>
            <a:ext cx="174102" cy="174102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9720072" y="2148840"/>
            <a:ext cx="1737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F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Subscription</a:t>
            </a:r>
            <a:endParaRPr lang="en-US" sz="1050" dirty="0"/>
          </a:p>
        </p:txBody>
      </p:sp>
      <p:sp>
        <p:nvSpPr>
          <p:cNvPr id="22" name="Shape 16"/>
          <p:cNvSpPr/>
          <p:nvPr/>
        </p:nvSpPr>
        <p:spPr>
          <a:xfrm>
            <a:off x="566928" y="3246120"/>
            <a:ext cx="2606040" cy="914400"/>
          </a:xfrm>
          <a:prstGeom prst="roundRect">
            <a:avLst>
              <a:gd name="adj" fmla="val 10000"/>
            </a:avLst>
          </a:prstGeom>
          <a:solidFill>
            <a:srgbClr val="F7F7FB"/>
          </a:solidFill>
          <a:ln w="12700">
            <a:solidFill>
              <a:srgbClr val="E6E6F0"/>
            </a:solidFill>
            <a:prstDash val="solid"/>
          </a:ln>
          <a:effectLst>
            <a:outerShdw sx="100000" sy="100000" kx="0" ky="0" algn="bl" rotWithShape="0" blurRad="88900" dist="25400" dir="5400000">
              <a:srgbClr val="9A9AB5">
                <a:alpha val="22000"/>
              </a:srgbClr>
            </a:outerShdw>
          </a:effectLst>
        </p:spPr>
      </p:sp>
      <p:sp>
        <p:nvSpPr>
          <p:cNvPr id="23" name="Shape 17"/>
          <p:cNvSpPr/>
          <p:nvPr/>
        </p:nvSpPr>
        <p:spPr>
          <a:xfrm>
            <a:off x="731520" y="3447288"/>
            <a:ext cx="512064" cy="512064"/>
          </a:xfrm>
          <a:prstGeom prst="ellipse">
            <a:avLst/>
          </a:prstGeom>
          <a:solidFill>
            <a:srgbClr val="F2E9F8"/>
          </a:solidFill>
          <a:ln w="12700">
            <a:solidFill>
              <a:srgbClr val="8A3FB5"/>
            </a:solidFill>
            <a:prstDash val="solid"/>
          </a:ln>
        </p:spPr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0501" y="3616269"/>
            <a:ext cx="174102" cy="174102"/>
          </a:xfrm>
          <a:prstGeom prst="rect">
            <a:avLst/>
          </a:prstGeom>
        </p:spPr>
      </p:pic>
      <p:sp>
        <p:nvSpPr>
          <p:cNvPr id="25" name="Text 18"/>
          <p:cNvSpPr txBox="1"/>
          <p:nvPr/>
        </p:nvSpPr>
        <p:spPr>
          <a:xfrm>
            <a:off x="1353312" y="3246120"/>
            <a:ext cx="1737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F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</a:t>
            </a:r>
            <a:endParaRPr lang="en-US" sz="1050" dirty="0"/>
          </a:p>
        </p:txBody>
      </p:sp>
      <p:sp>
        <p:nvSpPr>
          <p:cNvPr id="26" name="Shape 19"/>
          <p:cNvSpPr/>
          <p:nvPr/>
        </p:nvSpPr>
        <p:spPr>
          <a:xfrm>
            <a:off x="3355848" y="3246120"/>
            <a:ext cx="2606040" cy="914400"/>
          </a:xfrm>
          <a:prstGeom prst="roundRect">
            <a:avLst>
              <a:gd name="adj" fmla="val 10000"/>
            </a:avLst>
          </a:prstGeom>
          <a:solidFill>
            <a:srgbClr val="F7F7FB"/>
          </a:solidFill>
          <a:ln w="12700">
            <a:solidFill>
              <a:srgbClr val="E6E6F0"/>
            </a:solidFill>
            <a:prstDash val="solid"/>
          </a:ln>
          <a:effectLst>
            <a:outerShdw sx="100000" sy="100000" kx="0" ky="0" algn="bl" rotWithShape="0" blurRad="88900" dist="25400" dir="5400000">
              <a:srgbClr val="9A9AB5">
                <a:alpha val="22000"/>
              </a:srgbClr>
            </a:outerShdw>
          </a:effectLst>
        </p:spPr>
      </p:sp>
      <p:sp>
        <p:nvSpPr>
          <p:cNvPr id="27" name="Shape 20"/>
          <p:cNvSpPr/>
          <p:nvPr/>
        </p:nvSpPr>
        <p:spPr>
          <a:xfrm>
            <a:off x="3520440" y="3447288"/>
            <a:ext cx="512064" cy="512064"/>
          </a:xfrm>
          <a:prstGeom prst="ellipse">
            <a:avLst/>
          </a:prstGeom>
          <a:solidFill>
            <a:srgbClr val="E4F4EC"/>
          </a:solidFill>
          <a:ln w="12700">
            <a:solidFill>
              <a:srgbClr val="2E9C68"/>
            </a:solidFill>
            <a:prstDash val="solid"/>
          </a:ln>
        </p:spPr>
      </p:sp>
      <p:pic>
        <p:nvPicPr>
          <p:cNvPr id="2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89421" y="3616269"/>
            <a:ext cx="174102" cy="174102"/>
          </a:xfrm>
          <a:prstGeom prst="rect">
            <a:avLst/>
          </a:prstGeom>
        </p:spPr>
      </p:pic>
      <p:sp>
        <p:nvSpPr>
          <p:cNvPr id="29" name="Text 21"/>
          <p:cNvSpPr txBox="1"/>
          <p:nvPr/>
        </p:nvSpPr>
        <p:spPr>
          <a:xfrm>
            <a:off x="4142232" y="3246120"/>
            <a:ext cx="1737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F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status</a:t>
            </a:r>
            <a:endParaRPr lang="en-US" sz="1050" dirty="0"/>
          </a:p>
        </p:txBody>
      </p:sp>
      <p:sp>
        <p:nvSpPr>
          <p:cNvPr id="30" name="Shape 22"/>
          <p:cNvSpPr/>
          <p:nvPr/>
        </p:nvSpPr>
        <p:spPr>
          <a:xfrm>
            <a:off x="6144768" y="3246120"/>
            <a:ext cx="2606040" cy="914400"/>
          </a:xfrm>
          <a:prstGeom prst="roundRect">
            <a:avLst>
              <a:gd name="adj" fmla="val 10000"/>
            </a:avLst>
          </a:prstGeom>
          <a:solidFill>
            <a:srgbClr val="F7F7FB"/>
          </a:solidFill>
          <a:ln w="12700">
            <a:solidFill>
              <a:srgbClr val="E6E6F0"/>
            </a:solidFill>
            <a:prstDash val="solid"/>
          </a:ln>
          <a:effectLst>
            <a:outerShdw sx="100000" sy="100000" kx="0" ky="0" algn="bl" rotWithShape="0" blurRad="88900" dist="25400" dir="5400000">
              <a:srgbClr val="9A9AB5">
                <a:alpha val="22000"/>
              </a:srgbClr>
            </a:outerShdw>
          </a:effectLst>
        </p:spPr>
      </p:sp>
      <p:sp>
        <p:nvSpPr>
          <p:cNvPr id="31" name="Shape 23"/>
          <p:cNvSpPr/>
          <p:nvPr/>
        </p:nvSpPr>
        <p:spPr>
          <a:xfrm>
            <a:off x="6309360" y="3447288"/>
            <a:ext cx="512064" cy="512064"/>
          </a:xfrm>
          <a:prstGeom prst="ellipse">
            <a:avLst/>
          </a:prstGeom>
          <a:solidFill>
            <a:srgbClr val="FBE7EC"/>
          </a:solidFill>
          <a:ln w="12700">
            <a:solidFill>
              <a:srgbClr val="E23A63"/>
            </a:solidFill>
            <a:prstDash val="solid"/>
          </a:ln>
        </p:spPr>
      </p:sp>
      <p:pic>
        <p:nvPicPr>
          <p:cNvPr id="32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78341" y="3616269"/>
            <a:ext cx="174102" cy="174102"/>
          </a:xfrm>
          <a:prstGeom prst="rect">
            <a:avLst/>
          </a:prstGeom>
        </p:spPr>
      </p:pic>
      <p:sp>
        <p:nvSpPr>
          <p:cNvPr id="33" name="Text 24"/>
          <p:cNvSpPr txBox="1"/>
          <p:nvPr/>
        </p:nvSpPr>
        <p:spPr>
          <a:xfrm>
            <a:off x="6931152" y="3246120"/>
            <a:ext cx="1737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F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announcements</a:t>
            </a:r>
            <a:endParaRPr lang="en-US" sz="1050" dirty="0"/>
          </a:p>
        </p:txBody>
      </p:sp>
      <p:sp>
        <p:nvSpPr>
          <p:cNvPr id="34" name="Shape 25"/>
          <p:cNvSpPr/>
          <p:nvPr/>
        </p:nvSpPr>
        <p:spPr>
          <a:xfrm>
            <a:off x="566928" y="4617720"/>
            <a:ext cx="11091672" cy="1051560"/>
          </a:xfrm>
          <a:prstGeom prst="roundRect">
            <a:avLst>
              <a:gd name="adj" fmla="val 8696"/>
            </a:avLst>
          </a:prstGeom>
          <a:solidFill>
            <a:srgbClr val="FAF0E3"/>
          </a:solidFill>
          <a:ln w="12700">
            <a:solidFill>
              <a:srgbClr val="FAF0E3"/>
            </a:solidFill>
            <a:prstDash val="solid"/>
          </a:ln>
          <a:effectLst>
            <a:outerShdw sx="100000" sy="100000" kx="0" ky="0" algn="bl" rotWithShape="0" blurRad="88900" dist="25400" dir="5400000">
              <a:srgbClr val="9A9AB5">
                <a:alpha val="22000"/>
              </a:srgbClr>
            </a:outerShdw>
          </a:effectLst>
        </p:spPr>
      </p:sp>
      <p:sp>
        <p:nvSpPr>
          <p:cNvPr id="35" name="Shape 26"/>
          <p:cNvSpPr/>
          <p:nvPr/>
        </p:nvSpPr>
        <p:spPr>
          <a:xfrm>
            <a:off x="877824" y="4919472"/>
            <a:ext cx="548640" cy="548640"/>
          </a:xfrm>
          <a:prstGeom prst="ellipse">
            <a:avLst/>
          </a:prstGeom>
          <a:solidFill>
            <a:srgbClr val="FAF0E3"/>
          </a:solidFill>
          <a:ln w="12700">
            <a:solidFill>
              <a:srgbClr val="D9832A"/>
            </a:solidFill>
            <a:prstDash val="solid"/>
          </a:ln>
        </p:spPr>
      </p:sp>
      <p:pic>
        <p:nvPicPr>
          <p:cNvPr id="36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58875" y="5100523"/>
            <a:ext cx="186538" cy="186538"/>
          </a:xfrm>
          <a:prstGeom prst="rect">
            <a:avLst/>
          </a:prstGeom>
        </p:spPr>
      </p:pic>
      <p:sp>
        <p:nvSpPr>
          <p:cNvPr id="37" name="Text 27"/>
          <p:cNvSpPr txBox="1"/>
          <p:nvPr/>
        </p:nvSpPr>
        <p:spPr>
          <a:xfrm>
            <a:off x="1664208" y="4617720"/>
            <a:ext cx="91440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Delivered via Firebase Cloud Messaging (FCM)</a:t>
            </a:r>
            <a:endParaRPr lang="en-US" sz="13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02336"/>
            <a:ext cx="1105783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E23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PANEL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58368"/>
            <a:ext cx="11057839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F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Operations, moderation and revenue in one place</a:t>
            </a:r>
            <a:endParaRPr lang="en-US" sz="29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6E71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MGS</a:t>
            </a:r>
            <a:pPr algn="l" indent="0" marL="0">
              <a:buNone/>
            </a:pPr>
            <a:r>
              <a:rPr lang="en-US" sz="850" dirty="0">
                <a:solidFill>
                  <a:srgbClr val="6E71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|   Dating Application — Technology &amp; Architecture Proposal</a:t>
            </a:r>
            <a:endParaRPr lang="en-US" sz="850" dirty="0"/>
          </a:p>
        </p:txBody>
      </p:sp>
      <p:sp>
        <p:nvSpPr>
          <p:cNvPr id="5" name="Text 3"/>
          <p:cNvSpPr txBox="1"/>
          <p:nvPr/>
        </p:nvSpPr>
        <p:spPr>
          <a:xfrm>
            <a:off x="10893247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E71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566928" y="1783080"/>
            <a:ext cx="5394960" cy="1920240"/>
          </a:xfrm>
          <a:prstGeom prst="roundRect">
            <a:avLst>
              <a:gd name="adj" fmla="val 4762"/>
            </a:avLst>
          </a:prstGeom>
          <a:solidFill>
            <a:srgbClr val="F7F7FB"/>
          </a:solidFill>
          <a:ln w="12700">
            <a:solidFill>
              <a:srgbClr val="E6E6F0"/>
            </a:solidFill>
            <a:prstDash val="solid"/>
          </a:ln>
          <a:effectLst>
            <a:outerShdw sx="100000" sy="100000" kx="0" ky="0" algn="bl" rotWithShape="0" blurRad="88900" dist="25400" dir="5400000">
              <a:srgbClr val="9A9AB5">
                <a:alpha val="2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22960" y="2039112"/>
            <a:ext cx="694944" cy="694944"/>
          </a:xfrm>
          <a:prstGeom prst="ellipse">
            <a:avLst/>
          </a:prstGeom>
          <a:solidFill>
            <a:srgbClr val="FBE7EC"/>
          </a:solidFill>
          <a:ln w="12700">
            <a:solidFill>
              <a:srgbClr val="E23A63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2292" y="2268444"/>
            <a:ext cx="236281" cy="236281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664208" y="210312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841248" y="2743200"/>
            <a:ext cx="4846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3436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&amp; active users</a:t>
            </a:r>
            <a:endParaRPr lang="en-US" sz="950" dirty="0"/>
          </a:p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3436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users, matches, messages</a:t>
            </a:r>
            <a:endParaRPr lang="en-US" sz="950" dirty="0"/>
          </a:p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3436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Reports, premium users, revenue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6190488" y="1783080"/>
            <a:ext cx="5394960" cy="1920240"/>
          </a:xfrm>
          <a:prstGeom prst="roundRect">
            <a:avLst>
              <a:gd name="adj" fmla="val 4762"/>
            </a:avLst>
          </a:prstGeom>
          <a:solidFill>
            <a:srgbClr val="F7F7FB"/>
          </a:solidFill>
          <a:ln w="12700">
            <a:solidFill>
              <a:srgbClr val="E6E6F0"/>
            </a:solidFill>
            <a:prstDash val="solid"/>
          </a:ln>
          <a:effectLst>
            <a:outerShdw sx="100000" sy="100000" kx="0" ky="0" algn="bl" rotWithShape="0" blurRad="88900" dist="25400" dir="5400000">
              <a:srgbClr val="9A9AB5">
                <a:alpha val="2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446520" y="2039112"/>
            <a:ext cx="694944" cy="694944"/>
          </a:xfrm>
          <a:prstGeom prst="ellipse">
            <a:avLst/>
          </a:prstGeom>
          <a:solidFill>
            <a:srgbClr val="E9EBFB"/>
          </a:solidFill>
          <a:ln w="12700">
            <a:solidFill>
              <a:srgbClr val="4A5AD8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852" y="2268444"/>
            <a:ext cx="236281" cy="236281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7287768" y="210312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management</a:t>
            </a:r>
            <a:endParaRPr lang="en-US" sz="1300" dirty="0"/>
          </a:p>
        </p:txBody>
      </p:sp>
      <p:sp>
        <p:nvSpPr>
          <p:cNvPr id="15" name="Text 11"/>
          <p:cNvSpPr txBox="1"/>
          <p:nvPr/>
        </p:nvSpPr>
        <p:spPr>
          <a:xfrm>
            <a:off x="6464808" y="2743200"/>
            <a:ext cx="4846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3436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&amp; view users</a:t>
            </a:r>
            <a:endParaRPr lang="en-US" sz="950" dirty="0"/>
          </a:p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3436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Suspend, ban, delete</a:t>
            </a:r>
            <a:endParaRPr lang="en-US" sz="950" dirty="0"/>
          </a:p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3436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 history</a:t>
            </a:r>
            <a:endParaRPr lang="en-US" sz="950" dirty="0"/>
          </a:p>
        </p:txBody>
      </p:sp>
      <p:sp>
        <p:nvSpPr>
          <p:cNvPr id="16" name="Shape 12"/>
          <p:cNvSpPr/>
          <p:nvPr/>
        </p:nvSpPr>
        <p:spPr>
          <a:xfrm>
            <a:off x="566928" y="3886200"/>
            <a:ext cx="5394960" cy="1920240"/>
          </a:xfrm>
          <a:prstGeom prst="roundRect">
            <a:avLst>
              <a:gd name="adj" fmla="val 4762"/>
            </a:avLst>
          </a:prstGeom>
          <a:solidFill>
            <a:srgbClr val="F7F7FB"/>
          </a:solidFill>
          <a:ln w="12700">
            <a:solidFill>
              <a:srgbClr val="E6E6F0"/>
            </a:solidFill>
            <a:prstDash val="solid"/>
          </a:ln>
          <a:effectLst>
            <a:outerShdw sx="100000" sy="100000" kx="0" ky="0" algn="bl" rotWithShape="0" blurRad="88900" dist="25400" dir="5400000">
              <a:srgbClr val="9A9AB5">
                <a:alpha val="2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822960" y="4142232"/>
            <a:ext cx="694944" cy="694944"/>
          </a:xfrm>
          <a:prstGeom prst="ellipse">
            <a:avLst/>
          </a:prstGeom>
          <a:solidFill>
            <a:srgbClr val="E4F4EC"/>
          </a:solidFill>
          <a:ln w="12700">
            <a:solidFill>
              <a:srgbClr val="2E9C68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2292" y="4371564"/>
            <a:ext cx="236281" cy="236281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1664208" y="420624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Moderation</a:t>
            </a:r>
            <a:endParaRPr lang="en-US" sz="1300" dirty="0"/>
          </a:p>
        </p:txBody>
      </p:sp>
      <p:sp>
        <p:nvSpPr>
          <p:cNvPr id="20" name="Text 15"/>
          <p:cNvSpPr txBox="1"/>
          <p:nvPr/>
        </p:nvSpPr>
        <p:spPr>
          <a:xfrm>
            <a:off x="841248" y="4846320"/>
            <a:ext cx="4846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3436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 queue</a:t>
            </a:r>
            <a:endParaRPr lang="en-US" sz="950" dirty="0"/>
          </a:p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3436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 review</a:t>
            </a:r>
            <a:endParaRPr lang="en-US" sz="950" dirty="0"/>
          </a:p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3436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Suspicious accounts &amp; content</a:t>
            </a:r>
            <a:endParaRPr lang="en-US" sz="950" dirty="0"/>
          </a:p>
        </p:txBody>
      </p:sp>
      <p:sp>
        <p:nvSpPr>
          <p:cNvPr id="21" name="Shape 16"/>
          <p:cNvSpPr/>
          <p:nvPr/>
        </p:nvSpPr>
        <p:spPr>
          <a:xfrm>
            <a:off x="6190488" y="3886200"/>
            <a:ext cx="5394960" cy="1920240"/>
          </a:xfrm>
          <a:prstGeom prst="roundRect">
            <a:avLst>
              <a:gd name="adj" fmla="val 4762"/>
            </a:avLst>
          </a:prstGeom>
          <a:solidFill>
            <a:srgbClr val="F7F7FB"/>
          </a:solidFill>
          <a:ln w="12700">
            <a:solidFill>
              <a:srgbClr val="E6E6F0"/>
            </a:solidFill>
            <a:prstDash val="solid"/>
          </a:ln>
          <a:effectLst>
            <a:outerShdw sx="100000" sy="100000" kx="0" ky="0" algn="bl" rotWithShape="0" blurRad="88900" dist="25400" dir="5400000">
              <a:srgbClr val="9A9AB5">
                <a:alpha val="22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6446520" y="4142232"/>
            <a:ext cx="694944" cy="694944"/>
          </a:xfrm>
          <a:prstGeom prst="ellipse">
            <a:avLst/>
          </a:prstGeom>
          <a:solidFill>
            <a:srgbClr val="F2E9F8"/>
          </a:solidFill>
          <a:ln w="12700">
            <a:solidFill>
              <a:srgbClr val="8A3FB5"/>
            </a:solidFill>
            <a:prstDash val="solid"/>
          </a:ln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75852" y="4371564"/>
            <a:ext cx="236281" cy="236281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7287768" y="420624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Subscription</a:t>
            </a:r>
            <a:endParaRPr lang="en-US" sz="1300" dirty="0"/>
          </a:p>
        </p:txBody>
      </p:sp>
      <p:sp>
        <p:nvSpPr>
          <p:cNvPr id="25" name="Text 19"/>
          <p:cNvSpPr txBox="1"/>
          <p:nvPr/>
        </p:nvSpPr>
        <p:spPr>
          <a:xfrm>
            <a:off x="6464808" y="4846320"/>
            <a:ext cx="4846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3436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Plans &amp; pricing</a:t>
            </a:r>
            <a:endParaRPr lang="en-US" sz="950" dirty="0"/>
          </a:p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3436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Subscriber list &amp; status</a:t>
            </a:r>
            <a:endParaRPr lang="en-US" sz="950" dirty="0"/>
          </a:p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3436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Payments</a:t>
            </a:r>
            <a:endParaRPr lang="en-US" sz="9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02336"/>
            <a:ext cx="1105783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E23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ARCHITECTURE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58368"/>
            <a:ext cx="11057839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F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schema, grouped by domain</a:t>
            </a:r>
            <a:endParaRPr lang="en-US" sz="29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6E71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MGS</a:t>
            </a:r>
            <a:pPr algn="l" indent="0" marL="0">
              <a:buNone/>
            </a:pPr>
            <a:r>
              <a:rPr lang="en-US" sz="850" dirty="0">
                <a:solidFill>
                  <a:srgbClr val="6E71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|   Dating Application — Technology &amp; Architecture Proposal</a:t>
            </a:r>
            <a:endParaRPr lang="en-US" sz="850" dirty="0"/>
          </a:p>
        </p:txBody>
      </p:sp>
      <p:sp>
        <p:nvSpPr>
          <p:cNvPr id="5" name="Text 3"/>
          <p:cNvSpPr txBox="1"/>
          <p:nvPr/>
        </p:nvSpPr>
        <p:spPr>
          <a:xfrm>
            <a:off x="10893247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E71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85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1783080"/>
            <a:ext cx="1965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23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 &amp; profile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715768" y="1783080"/>
            <a:ext cx="585216" cy="402336"/>
          </a:xfrm>
          <a:prstGeom prst="roundRect">
            <a:avLst>
              <a:gd name="adj" fmla="val 11364"/>
            </a:avLst>
          </a:prstGeom>
          <a:solidFill>
            <a:srgbClr val="FBE7EC"/>
          </a:solidFill>
          <a:ln w="9525">
            <a:solidFill>
              <a:srgbClr val="E23A63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715768" y="1783080"/>
            <a:ext cx="5852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34365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users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3392424" y="1783080"/>
            <a:ext cx="793699" cy="402336"/>
          </a:xfrm>
          <a:prstGeom prst="roundRect">
            <a:avLst>
              <a:gd name="adj" fmla="val 11364"/>
            </a:avLst>
          </a:prstGeom>
          <a:solidFill>
            <a:srgbClr val="FBE7EC"/>
          </a:solidFill>
          <a:ln w="9525">
            <a:solidFill>
              <a:srgbClr val="E23A6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392424" y="1783080"/>
            <a:ext cx="793699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34365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profiles</a:t>
            </a:r>
            <a:endParaRPr lang="en-US" sz="750" dirty="0"/>
          </a:p>
        </p:txBody>
      </p:sp>
      <p:sp>
        <p:nvSpPr>
          <p:cNvPr id="11" name="Shape 9"/>
          <p:cNvSpPr/>
          <p:nvPr/>
        </p:nvSpPr>
        <p:spPr>
          <a:xfrm>
            <a:off x="4277563" y="1783080"/>
            <a:ext cx="1210666" cy="402336"/>
          </a:xfrm>
          <a:prstGeom prst="roundRect">
            <a:avLst>
              <a:gd name="adj" fmla="val 11364"/>
            </a:avLst>
          </a:prstGeom>
          <a:solidFill>
            <a:srgbClr val="FBE7EC"/>
          </a:solidFill>
          <a:ln w="9525">
            <a:solidFill>
              <a:srgbClr val="E23A63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277563" y="1783080"/>
            <a:ext cx="121066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34365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profile_photos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5579669" y="1783080"/>
            <a:ext cx="1280160" cy="402336"/>
          </a:xfrm>
          <a:prstGeom prst="roundRect">
            <a:avLst>
              <a:gd name="adj" fmla="val 11364"/>
            </a:avLst>
          </a:prstGeom>
          <a:solidFill>
            <a:srgbClr val="FBE7EC"/>
          </a:solidFill>
          <a:ln w="9525">
            <a:solidFill>
              <a:srgbClr val="E23A63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579669" y="1783080"/>
            <a:ext cx="1280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34365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profile_prompts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6951269" y="1783080"/>
            <a:ext cx="1627632" cy="402336"/>
          </a:xfrm>
          <a:prstGeom prst="roundRect">
            <a:avLst>
              <a:gd name="adj" fmla="val 11364"/>
            </a:avLst>
          </a:prstGeom>
          <a:solidFill>
            <a:srgbClr val="FBE7EC"/>
          </a:solidFill>
          <a:ln w="9525">
            <a:solidFill>
              <a:srgbClr val="E23A63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951269" y="1783080"/>
            <a:ext cx="16276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34365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user_profile_prompts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8670341" y="1783080"/>
            <a:ext cx="863194" cy="402336"/>
          </a:xfrm>
          <a:prstGeom prst="roundRect">
            <a:avLst>
              <a:gd name="adj" fmla="val 11364"/>
            </a:avLst>
          </a:prstGeom>
          <a:solidFill>
            <a:srgbClr val="FBE7EC"/>
          </a:solidFill>
          <a:ln w="9525">
            <a:solidFill>
              <a:srgbClr val="E23A63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670341" y="1783080"/>
            <a:ext cx="86319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34365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interests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9624974" y="1783080"/>
            <a:ext cx="1210666" cy="402336"/>
          </a:xfrm>
          <a:prstGeom prst="roundRect">
            <a:avLst>
              <a:gd name="adj" fmla="val 11364"/>
            </a:avLst>
          </a:prstGeom>
          <a:solidFill>
            <a:srgbClr val="FBE7EC"/>
          </a:solidFill>
          <a:ln w="9525">
            <a:solidFill>
              <a:srgbClr val="E23A63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9624974" y="1783080"/>
            <a:ext cx="121066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34365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user_interests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2715768" y="2295144"/>
            <a:ext cx="1349654" cy="402336"/>
          </a:xfrm>
          <a:prstGeom prst="roundRect">
            <a:avLst>
              <a:gd name="adj" fmla="val 11364"/>
            </a:avLst>
          </a:prstGeom>
          <a:solidFill>
            <a:srgbClr val="FBE7EC"/>
          </a:solidFill>
          <a:ln w="9525">
            <a:solidFill>
              <a:srgbClr val="E23A63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2715768" y="2295144"/>
            <a:ext cx="134965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34365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user_preferences</a:t>
            </a:r>
            <a:endParaRPr lang="en-US" sz="750" dirty="0"/>
          </a:p>
        </p:txBody>
      </p:sp>
      <p:sp>
        <p:nvSpPr>
          <p:cNvPr id="23" name="Shape 21"/>
          <p:cNvSpPr/>
          <p:nvPr/>
        </p:nvSpPr>
        <p:spPr>
          <a:xfrm>
            <a:off x="4156862" y="2295144"/>
            <a:ext cx="1210666" cy="402336"/>
          </a:xfrm>
          <a:prstGeom prst="roundRect">
            <a:avLst>
              <a:gd name="adj" fmla="val 11364"/>
            </a:avLst>
          </a:prstGeom>
          <a:solidFill>
            <a:srgbClr val="FBE7EC"/>
          </a:solidFill>
          <a:ln w="9525">
            <a:solidFill>
              <a:srgbClr val="E23A63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4156862" y="2295144"/>
            <a:ext cx="121066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34365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user_locations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>
            <a:off x="5458968" y="2295144"/>
            <a:ext cx="1071677" cy="402336"/>
          </a:xfrm>
          <a:prstGeom prst="roundRect">
            <a:avLst>
              <a:gd name="adj" fmla="val 11364"/>
            </a:avLst>
          </a:prstGeom>
          <a:solidFill>
            <a:srgbClr val="FBE7EC"/>
          </a:solidFill>
          <a:ln w="9525">
            <a:solidFill>
              <a:srgbClr val="E23A63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5458968" y="2295144"/>
            <a:ext cx="1071677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34365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user_devices</a:t>
            </a:r>
            <a:endParaRPr lang="en-US" sz="750" dirty="0"/>
          </a:p>
        </p:txBody>
      </p:sp>
      <p:sp>
        <p:nvSpPr>
          <p:cNvPr id="27" name="Text 25"/>
          <p:cNvSpPr txBox="1"/>
          <p:nvPr/>
        </p:nvSpPr>
        <p:spPr>
          <a:xfrm>
            <a:off x="566928" y="2843784"/>
            <a:ext cx="1965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A5A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Discovery &amp; matching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2715768" y="2843784"/>
            <a:ext cx="654710" cy="402336"/>
          </a:xfrm>
          <a:prstGeom prst="roundRect">
            <a:avLst>
              <a:gd name="adj" fmla="val 11364"/>
            </a:avLst>
          </a:prstGeom>
          <a:solidFill>
            <a:srgbClr val="E9EBFB"/>
          </a:solidFill>
          <a:ln w="9525">
            <a:solidFill>
              <a:srgbClr val="4A5AD8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2715768" y="2843784"/>
            <a:ext cx="65471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34365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swipes</a:t>
            </a:r>
            <a:endParaRPr lang="en-US" sz="750" dirty="0"/>
          </a:p>
        </p:txBody>
      </p:sp>
      <p:sp>
        <p:nvSpPr>
          <p:cNvPr id="30" name="Shape 28"/>
          <p:cNvSpPr/>
          <p:nvPr/>
        </p:nvSpPr>
        <p:spPr>
          <a:xfrm>
            <a:off x="3461918" y="2843784"/>
            <a:ext cx="585216" cy="402336"/>
          </a:xfrm>
          <a:prstGeom prst="roundRect">
            <a:avLst>
              <a:gd name="adj" fmla="val 11364"/>
            </a:avLst>
          </a:prstGeom>
          <a:solidFill>
            <a:srgbClr val="E9EBFB"/>
          </a:solidFill>
          <a:ln w="9525">
            <a:solidFill>
              <a:srgbClr val="4A5AD8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3461918" y="2843784"/>
            <a:ext cx="5852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34365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likes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4138574" y="2843784"/>
            <a:ext cx="724205" cy="402336"/>
          </a:xfrm>
          <a:prstGeom prst="roundRect">
            <a:avLst>
              <a:gd name="adj" fmla="val 11364"/>
            </a:avLst>
          </a:prstGeom>
          <a:solidFill>
            <a:srgbClr val="E9EBFB"/>
          </a:solidFill>
          <a:ln w="9525">
            <a:solidFill>
              <a:srgbClr val="4A5AD8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4138574" y="2843784"/>
            <a:ext cx="72420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34365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matches</a:t>
            </a:r>
            <a:endParaRPr lang="en-US" sz="750" dirty="0"/>
          </a:p>
        </p:txBody>
      </p:sp>
      <p:sp>
        <p:nvSpPr>
          <p:cNvPr id="34" name="Shape 32"/>
          <p:cNvSpPr/>
          <p:nvPr/>
        </p:nvSpPr>
        <p:spPr>
          <a:xfrm>
            <a:off x="4954219" y="2843784"/>
            <a:ext cx="654710" cy="402336"/>
          </a:xfrm>
          <a:prstGeom prst="roundRect">
            <a:avLst>
              <a:gd name="adj" fmla="val 11364"/>
            </a:avLst>
          </a:prstGeom>
          <a:solidFill>
            <a:srgbClr val="E9EBFB"/>
          </a:solidFill>
          <a:ln w="9525">
            <a:solidFill>
              <a:srgbClr val="4A5AD8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4954219" y="2843784"/>
            <a:ext cx="65471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34365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boosts</a:t>
            </a:r>
            <a:endParaRPr lang="en-US" sz="750" dirty="0"/>
          </a:p>
        </p:txBody>
      </p:sp>
      <p:sp>
        <p:nvSpPr>
          <p:cNvPr id="36" name="Text 34"/>
          <p:cNvSpPr txBox="1"/>
          <p:nvPr/>
        </p:nvSpPr>
        <p:spPr>
          <a:xfrm>
            <a:off x="566928" y="3392424"/>
            <a:ext cx="1965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E9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Messaging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2715768" y="3392424"/>
            <a:ext cx="1141171" cy="402336"/>
          </a:xfrm>
          <a:prstGeom prst="roundRect">
            <a:avLst>
              <a:gd name="adj" fmla="val 11364"/>
            </a:avLst>
          </a:prstGeom>
          <a:solidFill>
            <a:srgbClr val="E2F3F3"/>
          </a:solidFill>
          <a:ln w="9525">
            <a:solidFill>
              <a:srgbClr val="0E9AA0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2715768" y="3392424"/>
            <a:ext cx="1141171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34365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conversations</a:t>
            </a:r>
            <a:endParaRPr lang="en-US" sz="750" dirty="0"/>
          </a:p>
        </p:txBody>
      </p:sp>
      <p:sp>
        <p:nvSpPr>
          <p:cNvPr id="39" name="Shape 37"/>
          <p:cNvSpPr/>
          <p:nvPr/>
        </p:nvSpPr>
        <p:spPr>
          <a:xfrm>
            <a:off x="3948379" y="3392424"/>
            <a:ext cx="793699" cy="402336"/>
          </a:xfrm>
          <a:prstGeom prst="roundRect">
            <a:avLst>
              <a:gd name="adj" fmla="val 11364"/>
            </a:avLst>
          </a:prstGeom>
          <a:solidFill>
            <a:srgbClr val="E2F3F3"/>
          </a:solidFill>
          <a:ln w="9525">
            <a:solidFill>
              <a:srgbClr val="0E9AA0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3948379" y="3392424"/>
            <a:ext cx="793699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34365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messages</a:t>
            </a:r>
            <a:endParaRPr lang="en-US" sz="750" dirty="0"/>
          </a:p>
        </p:txBody>
      </p:sp>
      <p:sp>
        <p:nvSpPr>
          <p:cNvPr id="41" name="Shape 39"/>
          <p:cNvSpPr/>
          <p:nvPr/>
        </p:nvSpPr>
        <p:spPr>
          <a:xfrm>
            <a:off x="4833518" y="3392424"/>
            <a:ext cx="1558138" cy="402336"/>
          </a:xfrm>
          <a:prstGeom prst="roundRect">
            <a:avLst>
              <a:gd name="adj" fmla="val 11364"/>
            </a:avLst>
          </a:prstGeom>
          <a:solidFill>
            <a:srgbClr val="E2F3F3"/>
          </a:solidFill>
          <a:ln w="9525">
            <a:solidFill>
              <a:srgbClr val="0E9AA0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4833518" y="3392424"/>
            <a:ext cx="155813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34365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message_attachments</a:t>
            </a:r>
            <a:endParaRPr lang="en-US" sz="750" dirty="0"/>
          </a:p>
        </p:txBody>
      </p:sp>
      <p:sp>
        <p:nvSpPr>
          <p:cNvPr id="43" name="Text 41"/>
          <p:cNvSpPr txBox="1"/>
          <p:nvPr/>
        </p:nvSpPr>
        <p:spPr>
          <a:xfrm>
            <a:off x="566928" y="3941064"/>
            <a:ext cx="1965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E9C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2715768" y="3941064"/>
            <a:ext cx="654710" cy="402336"/>
          </a:xfrm>
          <a:prstGeom prst="roundRect">
            <a:avLst>
              <a:gd name="adj" fmla="val 11364"/>
            </a:avLst>
          </a:prstGeom>
          <a:solidFill>
            <a:srgbClr val="E4F4EC"/>
          </a:solidFill>
          <a:ln w="9525">
            <a:solidFill>
              <a:srgbClr val="2E9C68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2715768" y="3941064"/>
            <a:ext cx="65471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34365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blocks</a:t>
            </a:r>
            <a:endParaRPr lang="en-US" sz="750" dirty="0"/>
          </a:p>
        </p:txBody>
      </p:sp>
      <p:sp>
        <p:nvSpPr>
          <p:cNvPr id="46" name="Shape 44"/>
          <p:cNvSpPr/>
          <p:nvPr/>
        </p:nvSpPr>
        <p:spPr>
          <a:xfrm>
            <a:off x="3461918" y="3941064"/>
            <a:ext cx="724205" cy="402336"/>
          </a:xfrm>
          <a:prstGeom prst="roundRect">
            <a:avLst>
              <a:gd name="adj" fmla="val 11364"/>
            </a:avLst>
          </a:prstGeom>
          <a:solidFill>
            <a:srgbClr val="E4F4EC"/>
          </a:solidFill>
          <a:ln w="9525">
            <a:solidFill>
              <a:srgbClr val="2E9C68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3461918" y="3941064"/>
            <a:ext cx="72420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34365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reports</a:t>
            </a:r>
            <a:endParaRPr lang="en-US" sz="750" dirty="0"/>
          </a:p>
        </p:txBody>
      </p:sp>
      <p:sp>
        <p:nvSpPr>
          <p:cNvPr id="48" name="Text 46"/>
          <p:cNvSpPr txBox="1"/>
          <p:nvPr/>
        </p:nvSpPr>
        <p:spPr>
          <a:xfrm>
            <a:off x="566928" y="4489704"/>
            <a:ext cx="1965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A3F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Monetisation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2715768" y="4489704"/>
            <a:ext cx="1141171" cy="402336"/>
          </a:xfrm>
          <a:prstGeom prst="roundRect">
            <a:avLst>
              <a:gd name="adj" fmla="val 11364"/>
            </a:avLst>
          </a:prstGeom>
          <a:solidFill>
            <a:srgbClr val="F2E9F8"/>
          </a:solidFill>
          <a:ln w="9525">
            <a:solidFill>
              <a:srgbClr val="8A3FB5"/>
            </a:solidFill>
            <a:prstDash val="solid"/>
          </a:ln>
        </p:spPr>
      </p:sp>
      <p:sp>
        <p:nvSpPr>
          <p:cNvPr id="50" name="Text 48"/>
          <p:cNvSpPr txBox="1"/>
          <p:nvPr/>
        </p:nvSpPr>
        <p:spPr>
          <a:xfrm>
            <a:off x="2715768" y="4489704"/>
            <a:ext cx="1141171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34365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subscriptions</a:t>
            </a:r>
            <a:endParaRPr lang="en-US" sz="750" dirty="0"/>
          </a:p>
        </p:txBody>
      </p:sp>
      <p:sp>
        <p:nvSpPr>
          <p:cNvPr id="51" name="Shape 49"/>
          <p:cNvSpPr/>
          <p:nvPr/>
        </p:nvSpPr>
        <p:spPr>
          <a:xfrm>
            <a:off x="3948379" y="4489704"/>
            <a:ext cx="1488643" cy="402336"/>
          </a:xfrm>
          <a:prstGeom prst="roundRect">
            <a:avLst>
              <a:gd name="adj" fmla="val 11364"/>
            </a:avLst>
          </a:prstGeom>
          <a:solidFill>
            <a:srgbClr val="F2E9F8"/>
          </a:solidFill>
          <a:ln w="9525">
            <a:solidFill>
              <a:srgbClr val="8A3FB5"/>
            </a:solidFill>
            <a:prstDash val="solid"/>
          </a:ln>
        </p:spPr>
      </p:sp>
      <p:sp>
        <p:nvSpPr>
          <p:cNvPr id="52" name="Text 50"/>
          <p:cNvSpPr txBox="1"/>
          <p:nvPr/>
        </p:nvSpPr>
        <p:spPr>
          <a:xfrm>
            <a:off x="3948379" y="4489704"/>
            <a:ext cx="1488643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34365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subscription_plans</a:t>
            </a:r>
            <a:endParaRPr lang="en-US" sz="750" dirty="0"/>
          </a:p>
        </p:txBody>
      </p:sp>
      <p:sp>
        <p:nvSpPr>
          <p:cNvPr id="53" name="Shape 51"/>
          <p:cNvSpPr/>
          <p:nvPr/>
        </p:nvSpPr>
        <p:spPr>
          <a:xfrm>
            <a:off x="5528462" y="4489704"/>
            <a:ext cx="793699" cy="402336"/>
          </a:xfrm>
          <a:prstGeom prst="roundRect">
            <a:avLst>
              <a:gd name="adj" fmla="val 11364"/>
            </a:avLst>
          </a:prstGeom>
          <a:solidFill>
            <a:srgbClr val="F2E9F8"/>
          </a:solidFill>
          <a:ln w="9525">
            <a:solidFill>
              <a:srgbClr val="8A3FB5"/>
            </a:solidFill>
            <a:prstDash val="solid"/>
          </a:ln>
        </p:spPr>
      </p:sp>
      <p:sp>
        <p:nvSpPr>
          <p:cNvPr id="54" name="Text 52"/>
          <p:cNvSpPr txBox="1"/>
          <p:nvPr/>
        </p:nvSpPr>
        <p:spPr>
          <a:xfrm>
            <a:off x="5528462" y="4489704"/>
            <a:ext cx="793699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34365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payments</a:t>
            </a:r>
            <a:endParaRPr lang="en-US" sz="750" dirty="0"/>
          </a:p>
        </p:txBody>
      </p:sp>
      <p:sp>
        <p:nvSpPr>
          <p:cNvPr id="55" name="Text 53"/>
          <p:cNvSpPr txBox="1"/>
          <p:nvPr/>
        </p:nvSpPr>
        <p:spPr>
          <a:xfrm>
            <a:off x="566928" y="5038344"/>
            <a:ext cx="1965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98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 &amp; system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2715768" y="5038344"/>
            <a:ext cx="1697126" cy="402336"/>
          </a:xfrm>
          <a:prstGeom prst="roundRect">
            <a:avLst>
              <a:gd name="adj" fmla="val 11364"/>
            </a:avLst>
          </a:prstGeom>
          <a:solidFill>
            <a:srgbClr val="FAF0E3"/>
          </a:solidFill>
          <a:ln w="9525">
            <a:solidFill>
              <a:srgbClr val="D9832A"/>
            </a:solidFill>
            <a:prstDash val="solid"/>
          </a:ln>
        </p:spPr>
      </p:sp>
      <p:sp>
        <p:nvSpPr>
          <p:cNvPr id="57" name="Text 55"/>
          <p:cNvSpPr txBox="1"/>
          <p:nvPr/>
        </p:nvSpPr>
        <p:spPr>
          <a:xfrm>
            <a:off x="2715768" y="5038344"/>
            <a:ext cx="169712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34365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verification_requests</a:t>
            </a:r>
            <a:endParaRPr lang="en-US" sz="750" dirty="0"/>
          </a:p>
        </p:txBody>
      </p:sp>
      <p:sp>
        <p:nvSpPr>
          <p:cNvPr id="58" name="Shape 56"/>
          <p:cNvSpPr/>
          <p:nvPr/>
        </p:nvSpPr>
        <p:spPr>
          <a:xfrm>
            <a:off x="4504334" y="5038344"/>
            <a:ext cx="1627632" cy="402336"/>
          </a:xfrm>
          <a:prstGeom prst="roundRect">
            <a:avLst>
              <a:gd name="adj" fmla="val 11364"/>
            </a:avLst>
          </a:prstGeom>
          <a:solidFill>
            <a:srgbClr val="FAF0E3"/>
          </a:solidFill>
          <a:ln w="9525">
            <a:solidFill>
              <a:srgbClr val="D9832A"/>
            </a:solidFill>
            <a:prstDash val="solid"/>
          </a:ln>
        </p:spPr>
      </p:sp>
      <p:sp>
        <p:nvSpPr>
          <p:cNvPr id="59" name="Text 57"/>
          <p:cNvSpPr txBox="1"/>
          <p:nvPr/>
        </p:nvSpPr>
        <p:spPr>
          <a:xfrm>
            <a:off x="4504334" y="5038344"/>
            <a:ext cx="16276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34365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verification_results</a:t>
            </a:r>
            <a:endParaRPr lang="en-US" sz="750" dirty="0"/>
          </a:p>
        </p:txBody>
      </p:sp>
      <p:sp>
        <p:nvSpPr>
          <p:cNvPr id="60" name="Shape 58"/>
          <p:cNvSpPr/>
          <p:nvPr/>
        </p:nvSpPr>
        <p:spPr>
          <a:xfrm>
            <a:off x="6223406" y="5038344"/>
            <a:ext cx="1141171" cy="402336"/>
          </a:xfrm>
          <a:prstGeom prst="roundRect">
            <a:avLst>
              <a:gd name="adj" fmla="val 11364"/>
            </a:avLst>
          </a:prstGeom>
          <a:solidFill>
            <a:srgbClr val="FAF0E3"/>
          </a:solidFill>
          <a:ln w="9525">
            <a:solidFill>
              <a:srgbClr val="D9832A"/>
            </a:solidFill>
            <a:prstDash val="solid"/>
          </a:ln>
        </p:spPr>
      </p:sp>
      <p:sp>
        <p:nvSpPr>
          <p:cNvPr id="61" name="Text 59"/>
          <p:cNvSpPr txBox="1"/>
          <p:nvPr/>
        </p:nvSpPr>
        <p:spPr>
          <a:xfrm>
            <a:off x="6223406" y="5038344"/>
            <a:ext cx="1141171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34365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notifications</a:t>
            </a:r>
            <a:endParaRPr lang="en-US" sz="750" dirty="0"/>
          </a:p>
        </p:txBody>
      </p:sp>
      <p:sp>
        <p:nvSpPr>
          <p:cNvPr id="62" name="Shape 60"/>
          <p:cNvSpPr/>
          <p:nvPr/>
        </p:nvSpPr>
        <p:spPr>
          <a:xfrm>
            <a:off x="566928" y="5605272"/>
            <a:ext cx="11055096" cy="749808"/>
          </a:xfrm>
          <a:prstGeom prst="roundRect">
            <a:avLst>
              <a:gd name="adj" fmla="val 12195"/>
            </a:avLst>
          </a:prstGeom>
          <a:solidFill>
            <a:srgbClr val="F7F7FB"/>
          </a:solidFill>
          <a:ln w="12700">
            <a:solidFill>
              <a:srgbClr val="E6E6F0"/>
            </a:solidFill>
            <a:prstDash val="solid"/>
          </a:ln>
          <a:effectLst>
            <a:outerShdw sx="100000" sy="100000" kx="0" ky="0" algn="bl" rotWithShape="0" blurRad="88900" dist="25400" dir="5400000">
              <a:srgbClr val="9A9AB5">
                <a:alpha val="22000"/>
              </a:srgbClr>
            </a:outerShdw>
          </a:effectLst>
        </p:spPr>
      </p:sp>
      <p:sp>
        <p:nvSpPr>
          <p:cNvPr id="63" name="Text 61"/>
          <p:cNvSpPr txBox="1"/>
          <p:nvPr/>
        </p:nvSpPr>
        <p:spPr>
          <a:xfrm>
            <a:off x="886968" y="5605272"/>
            <a:ext cx="104241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AI tables:   </a:t>
            </a:r>
            <a:pPr indent="0" marL="0">
              <a:buNone/>
            </a:pPr>
            <a:r>
              <a:rPr lang="en-US" sz="900" dirty="0">
                <a:solidFill>
                  <a:srgbClr val="34365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ai_profile_analysis  ·  compatibility_scores  ·  recommendation_history</a:t>
            </a:r>
            <a:endParaRPr lang="en-US" sz="1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02336"/>
            <a:ext cx="1105783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E23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ARCHITECTURE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58368"/>
            <a:ext cx="11057839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F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consistent REST surface</a:t>
            </a:r>
            <a:endParaRPr lang="en-US" sz="29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6E71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MGS</a:t>
            </a:r>
            <a:pPr algn="l" indent="0" marL="0">
              <a:buNone/>
            </a:pPr>
            <a:r>
              <a:rPr lang="en-US" sz="850" dirty="0">
                <a:solidFill>
                  <a:srgbClr val="6E71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|   Dating Application — Technology &amp; Architecture Proposal</a:t>
            </a:r>
            <a:endParaRPr lang="en-US" sz="850" dirty="0"/>
          </a:p>
        </p:txBody>
      </p:sp>
      <p:sp>
        <p:nvSpPr>
          <p:cNvPr id="5" name="Text 3"/>
          <p:cNvSpPr txBox="1"/>
          <p:nvPr/>
        </p:nvSpPr>
        <p:spPr>
          <a:xfrm>
            <a:off x="10893247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E71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85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18745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Endpoints — /api/v1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66928" y="2331720"/>
            <a:ext cx="2103120" cy="548640"/>
          </a:xfrm>
          <a:prstGeom prst="roundRect">
            <a:avLst>
              <a:gd name="adj" fmla="val 11667"/>
            </a:avLst>
          </a:prstGeom>
          <a:solidFill>
            <a:srgbClr val="E9EBFB"/>
          </a:solidFill>
          <a:ln w="9525">
            <a:solidFill>
              <a:srgbClr val="4A5AD8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66928" y="233172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4365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/auth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788920" y="2331720"/>
            <a:ext cx="2103120" cy="548640"/>
          </a:xfrm>
          <a:prstGeom prst="roundRect">
            <a:avLst>
              <a:gd name="adj" fmla="val 11667"/>
            </a:avLst>
          </a:prstGeom>
          <a:solidFill>
            <a:srgbClr val="E9EBFB"/>
          </a:solidFill>
          <a:ln w="9525">
            <a:solidFill>
              <a:srgbClr val="4A5AD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788920" y="233172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4365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/users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010912" y="2331720"/>
            <a:ext cx="2103120" cy="548640"/>
          </a:xfrm>
          <a:prstGeom prst="roundRect">
            <a:avLst>
              <a:gd name="adj" fmla="val 11667"/>
            </a:avLst>
          </a:prstGeom>
          <a:solidFill>
            <a:srgbClr val="E9EBFB"/>
          </a:solidFill>
          <a:ln w="9525">
            <a:solidFill>
              <a:srgbClr val="4A5AD8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010912" y="233172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4365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/profiles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7232904" y="2331720"/>
            <a:ext cx="2103120" cy="548640"/>
          </a:xfrm>
          <a:prstGeom prst="roundRect">
            <a:avLst>
              <a:gd name="adj" fmla="val 11667"/>
            </a:avLst>
          </a:prstGeom>
          <a:solidFill>
            <a:srgbClr val="E9EBFB"/>
          </a:solidFill>
          <a:ln w="9525">
            <a:solidFill>
              <a:srgbClr val="4A5AD8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232904" y="233172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4365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/interests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9454896" y="2331720"/>
            <a:ext cx="2103120" cy="548640"/>
          </a:xfrm>
          <a:prstGeom prst="roundRect">
            <a:avLst>
              <a:gd name="adj" fmla="val 11667"/>
            </a:avLst>
          </a:prstGeom>
          <a:solidFill>
            <a:srgbClr val="E9EBFB"/>
          </a:solidFill>
          <a:ln w="9525">
            <a:solidFill>
              <a:srgbClr val="4A5AD8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9454896" y="233172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4365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/prompts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66928" y="3044952"/>
            <a:ext cx="2103120" cy="548640"/>
          </a:xfrm>
          <a:prstGeom prst="roundRect">
            <a:avLst>
              <a:gd name="adj" fmla="val 11667"/>
            </a:avLst>
          </a:prstGeom>
          <a:solidFill>
            <a:srgbClr val="E9EBFB"/>
          </a:solidFill>
          <a:ln w="9525">
            <a:solidFill>
              <a:srgbClr val="4A5AD8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66928" y="3044952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4365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/discovery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788920" y="3044952"/>
            <a:ext cx="2103120" cy="548640"/>
          </a:xfrm>
          <a:prstGeom prst="roundRect">
            <a:avLst>
              <a:gd name="adj" fmla="val 11667"/>
            </a:avLst>
          </a:prstGeom>
          <a:solidFill>
            <a:srgbClr val="E9EBFB"/>
          </a:solidFill>
          <a:ln w="9525">
            <a:solidFill>
              <a:srgbClr val="4A5AD8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2788920" y="3044952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4365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/swipes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010912" y="3044952"/>
            <a:ext cx="2103120" cy="548640"/>
          </a:xfrm>
          <a:prstGeom prst="roundRect">
            <a:avLst>
              <a:gd name="adj" fmla="val 11667"/>
            </a:avLst>
          </a:prstGeom>
          <a:solidFill>
            <a:srgbClr val="E9EBFB"/>
          </a:solidFill>
          <a:ln w="9525">
            <a:solidFill>
              <a:srgbClr val="4A5AD8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5010912" y="3044952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4365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/matches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7232904" y="3044952"/>
            <a:ext cx="2103120" cy="548640"/>
          </a:xfrm>
          <a:prstGeom prst="roundRect">
            <a:avLst>
              <a:gd name="adj" fmla="val 11667"/>
            </a:avLst>
          </a:prstGeom>
          <a:solidFill>
            <a:srgbClr val="E9EBFB"/>
          </a:solidFill>
          <a:ln w="9525">
            <a:solidFill>
              <a:srgbClr val="4A5AD8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232904" y="3044952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4365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/chat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9454896" y="3044952"/>
            <a:ext cx="2103120" cy="548640"/>
          </a:xfrm>
          <a:prstGeom prst="roundRect">
            <a:avLst>
              <a:gd name="adj" fmla="val 11667"/>
            </a:avLst>
          </a:prstGeom>
          <a:solidFill>
            <a:srgbClr val="E9EBFB"/>
          </a:solidFill>
          <a:ln w="9525">
            <a:solidFill>
              <a:srgbClr val="4A5AD8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9454896" y="3044952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4365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/notifications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566928" y="3758184"/>
            <a:ext cx="2103120" cy="548640"/>
          </a:xfrm>
          <a:prstGeom prst="roundRect">
            <a:avLst>
              <a:gd name="adj" fmla="val 11667"/>
            </a:avLst>
          </a:prstGeom>
          <a:solidFill>
            <a:srgbClr val="E9EBFB"/>
          </a:solidFill>
          <a:ln w="9525">
            <a:solidFill>
              <a:srgbClr val="4A5AD8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566928" y="3758184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4365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/subscriptions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2788920" y="3758184"/>
            <a:ext cx="2103120" cy="548640"/>
          </a:xfrm>
          <a:prstGeom prst="roundRect">
            <a:avLst>
              <a:gd name="adj" fmla="val 11667"/>
            </a:avLst>
          </a:prstGeom>
          <a:solidFill>
            <a:srgbClr val="E9EBFB"/>
          </a:solidFill>
          <a:ln w="9525">
            <a:solidFill>
              <a:srgbClr val="4A5AD8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2788920" y="3758184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4365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/payments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5010912" y="3758184"/>
            <a:ext cx="2103120" cy="548640"/>
          </a:xfrm>
          <a:prstGeom prst="roundRect">
            <a:avLst>
              <a:gd name="adj" fmla="val 11667"/>
            </a:avLst>
          </a:prstGeom>
          <a:solidFill>
            <a:srgbClr val="E9EBFB"/>
          </a:solidFill>
          <a:ln w="9525">
            <a:solidFill>
              <a:srgbClr val="4A5AD8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5010912" y="3758184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4365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/verification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7232904" y="3758184"/>
            <a:ext cx="2103120" cy="548640"/>
          </a:xfrm>
          <a:prstGeom prst="roundRect">
            <a:avLst>
              <a:gd name="adj" fmla="val 11667"/>
            </a:avLst>
          </a:prstGeom>
          <a:solidFill>
            <a:srgbClr val="E9EBFB"/>
          </a:solidFill>
          <a:ln w="9525">
            <a:solidFill>
              <a:srgbClr val="4A5AD8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7232904" y="3758184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4365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/calls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9454896" y="3758184"/>
            <a:ext cx="2103120" cy="548640"/>
          </a:xfrm>
          <a:prstGeom prst="roundRect">
            <a:avLst>
              <a:gd name="adj" fmla="val 11667"/>
            </a:avLst>
          </a:prstGeom>
          <a:solidFill>
            <a:srgbClr val="E9EBFB"/>
          </a:solidFill>
          <a:ln w="9525">
            <a:solidFill>
              <a:srgbClr val="4A5AD8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9454896" y="3758184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4365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/safety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566928" y="4754880"/>
            <a:ext cx="11091672" cy="1051560"/>
          </a:xfrm>
          <a:prstGeom prst="roundRect">
            <a:avLst>
              <a:gd name="adj" fmla="val 8696"/>
            </a:avLst>
          </a:prstGeom>
          <a:solidFill>
            <a:srgbClr val="F7F7FB"/>
          </a:solidFill>
          <a:ln w="12700">
            <a:solidFill>
              <a:srgbClr val="E6E6F0"/>
            </a:solidFill>
            <a:prstDash val="solid"/>
          </a:ln>
          <a:effectLst>
            <a:outerShdw sx="100000" sy="100000" kx="0" ky="0" algn="bl" rotWithShape="0" blurRad="88900" dist="25400" dir="5400000">
              <a:srgbClr val="9A9AB5">
                <a:alpha val="22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877824" y="5065776"/>
            <a:ext cx="548640" cy="548640"/>
          </a:xfrm>
          <a:prstGeom prst="ellipse">
            <a:avLst/>
          </a:prstGeom>
          <a:solidFill>
            <a:srgbClr val="E4F4EC"/>
          </a:solidFill>
          <a:ln w="12700">
            <a:solidFill>
              <a:srgbClr val="2E9C68"/>
            </a:solidFill>
            <a:prstDash val="solid"/>
          </a:ln>
        </p:spPr>
      </p:sp>
      <p:pic>
        <p:nvPicPr>
          <p:cNvPr id="3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8875" y="5246827"/>
            <a:ext cx="186538" cy="186538"/>
          </a:xfrm>
          <a:prstGeom prst="rect">
            <a:avLst/>
          </a:prstGeom>
        </p:spPr>
      </p:pic>
      <p:sp>
        <p:nvSpPr>
          <p:cNvPr id="40" name="Text 37"/>
          <p:cNvSpPr txBox="1"/>
          <p:nvPr/>
        </p:nvSpPr>
        <p:spPr>
          <a:xfrm>
            <a:off x="1664208" y="4754880"/>
            <a:ext cx="96926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1F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endpoint applies:  </a:t>
            </a:r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3436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 · authorization · request validation · API resources · rate limiting · consistent error responses</a:t>
            </a:r>
            <a:endParaRPr lang="en-US" sz="10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02336"/>
            <a:ext cx="1105783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E23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PLAN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58368"/>
            <a:ext cx="11057839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F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phases, each tested before the next</a:t>
            </a:r>
            <a:endParaRPr lang="en-US" sz="29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6E71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MGS</a:t>
            </a:r>
            <a:pPr algn="l" indent="0" marL="0">
              <a:buNone/>
            </a:pPr>
            <a:r>
              <a:rPr lang="en-US" sz="850" dirty="0">
                <a:solidFill>
                  <a:srgbClr val="6E71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|   Dating Application — Technology &amp; Architecture Proposal</a:t>
            </a:r>
            <a:endParaRPr lang="en-US" sz="850" dirty="0"/>
          </a:p>
        </p:txBody>
      </p:sp>
      <p:sp>
        <p:nvSpPr>
          <p:cNvPr id="5" name="Text 3"/>
          <p:cNvSpPr txBox="1"/>
          <p:nvPr/>
        </p:nvSpPr>
        <p:spPr>
          <a:xfrm>
            <a:off x="10893247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E71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566928" y="1810512"/>
            <a:ext cx="566928" cy="566928"/>
          </a:xfrm>
          <a:prstGeom prst="ellipse">
            <a:avLst/>
          </a:prstGeom>
          <a:solidFill>
            <a:srgbClr val="E23A63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66928" y="181051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1435608" y="1755648"/>
            <a:ext cx="85953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1F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0 — Architecture &amp; Design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6E71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Requirements, UI/UX, DB design, API spec, security architecture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10253167" y="1901952"/>
            <a:ext cx="1371600" cy="420624"/>
          </a:xfrm>
          <a:prstGeom prst="roundRect">
            <a:avLst>
              <a:gd name="adj" fmla="val 21739"/>
            </a:avLst>
          </a:prstGeom>
          <a:solidFill>
            <a:srgbClr val="FBE7EC"/>
          </a:solidFill>
          <a:ln w="12700">
            <a:solidFill>
              <a:srgbClr val="E23A6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0253167" y="1901952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E23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3–5 wks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850392" y="2377440"/>
            <a:ext cx="0" cy="128016"/>
          </a:xfrm>
          <a:prstGeom prst="line">
            <a:avLst/>
          </a:prstGeom>
          <a:noFill/>
          <a:ln w="19050">
            <a:solidFill>
              <a:srgbClr val="E6E6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66928" y="2523744"/>
            <a:ext cx="566928" cy="566928"/>
          </a:xfrm>
          <a:prstGeom prst="ellipse">
            <a:avLst/>
          </a:prstGeom>
          <a:solidFill>
            <a:srgbClr val="0E9AA0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66928" y="2523744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1435608" y="2468880"/>
            <a:ext cx="85953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1F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— MVP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6E71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Auth, onboarding, profile, photos, prompts, discovery, like/pass, matching, chat, block/report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10253167" y="2615184"/>
            <a:ext cx="1371600" cy="420624"/>
          </a:xfrm>
          <a:prstGeom prst="roundRect">
            <a:avLst>
              <a:gd name="adj" fmla="val 21739"/>
            </a:avLst>
          </a:prstGeom>
          <a:solidFill>
            <a:srgbClr val="E2F3F3"/>
          </a:solidFill>
          <a:ln w="12700">
            <a:solidFill>
              <a:srgbClr val="0E9AA0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10253167" y="2615184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E9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6–8 wks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850392" y="3090672"/>
            <a:ext cx="0" cy="128016"/>
          </a:xfrm>
          <a:prstGeom prst="line">
            <a:avLst/>
          </a:prstGeom>
          <a:noFill/>
          <a:ln w="19050">
            <a:solidFill>
              <a:srgbClr val="E6E6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66928" y="3236976"/>
            <a:ext cx="566928" cy="566928"/>
          </a:xfrm>
          <a:prstGeom prst="ellipse">
            <a:avLst/>
          </a:prstGeom>
          <a:solidFill>
            <a:srgbClr val="4A5AD8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566928" y="323697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1435608" y="3182112"/>
            <a:ext cx="85953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1F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— Premium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6E71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Subscriptions, advanced filters, unlimited likes, boost, unmatched messaging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10253167" y="3328416"/>
            <a:ext cx="1371600" cy="420624"/>
          </a:xfrm>
          <a:prstGeom prst="roundRect">
            <a:avLst>
              <a:gd name="adj" fmla="val 21739"/>
            </a:avLst>
          </a:prstGeom>
          <a:solidFill>
            <a:srgbClr val="E9EBFB"/>
          </a:solidFill>
          <a:ln w="12700">
            <a:solidFill>
              <a:srgbClr val="4A5AD8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10253167" y="3328416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4A5A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3–4 wks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850392" y="3803904"/>
            <a:ext cx="0" cy="128016"/>
          </a:xfrm>
          <a:prstGeom prst="line">
            <a:avLst/>
          </a:prstGeom>
          <a:noFill/>
          <a:ln w="19050">
            <a:solidFill>
              <a:srgbClr val="E6E6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66928" y="3950208"/>
            <a:ext cx="566928" cy="566928"/>
          </a:xfrm>
          <a:prstGeom prst="ellipse">
            <a:avLst/>
          </a:prstGeom>
          <a:solidFill>
            <a:srgbClr val="D9832A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566928" y="395020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26" name="Text 24"/>
          <p:cNvSpPr txBox="1"/>
          <p:nvPr/>
        </p:nvSpPr>
        <p:spPr>
          <a:xfrm>
            <a:off x="1435608" y="3895344"/>
            <a:ext cx="85953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1F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 — Communication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6E71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notes, GIFs, photo sharing, voice &amp; video calls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10253167" y="4041648"/>
            <a:ext cx="1371600" cy="420624"/>
          </a:xfrm>
          <a:prstGeom prst="roundRect">
            <a:avLst>
              <a:gd name="adj" fmla="val 21739"/>
            </a:avLst>
          </a:prstGeom>
          <a:solidFill>
            <a:srgbClr val="FAF0E3"/>
          </a:solidFill>
          <a:ln w="12700">
            <a:solidFill>
              <a:srgbClr val="D9832A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10253167" y="4041648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D98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2–3 wks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850392" y="4517136"/>
            <a:ext cx="0" cy="128016"/>
          </a:xfrm>
          <a:prstGeom prst="line">
            <a:avLst/>
          </a:prstGeom>
          <a:noFill/>
          <a:ln w="19050">
            <a:solidFill>
              <a:srgbClr val="E6E6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66928" y="4663440"/>
            <a:ext cx="566928" cy="566928"/>
          </a:xfrm>
          <a:prstGeom prst="ellipse">
            <a:avLst/>
          </a:prstGeom>
          <a:solidFill>
            <a:srgbClr val="8A3FB5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566928" y="46634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32" name="Text 30"/>
          <p:cNvSpPr txBox="1"/>
          <p:nvPr/>
        </p:nvSpPr>
        <p:spPr>
          <a:xfrm>
            <a:off x="1435608" y="4608576"/>
            <a:ext cx="85953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1F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 — AI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6E71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 verification, compatibility scoring, smart recommendations, AI icebreakers</a:t>
            </a:r>
            <a:endParaRPr lang="en-US" sz="1250" dirty="0"/>
          </a:p>
        </p:txBody>
      </p:sp>
      <p:sp>
        <p:nvSpPr>
          <p:cNvPr id="33" name="Shape 31"/>
          <p:cNvSpPr/>
          <p:nvPr/>
        </p:nvSpPr>
        <p:spPr>
          <a:xfrm>
            <a:off x="10253167" y="4754880"/>
            <a:ext cx="1371600" cy="420624"/>
          </a:xfrm>
          <a:prstGeom prst="roundRect">
            <a:avLst>
              <a:gd name="adj" fmla="val 21739"/>
            </a:avLst>
          </a:prstGeom>
          <a:solidFill>
            <a:srgbClr val="F2E9F8"/>
          </a:solidFill>
          <a:ln w="12700">
            <a:solidFill>
              <a:srgbClr val="8A3FB5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10253167" y="4754880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8A3F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3–4 wks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850392" y="5230368"/>
            <a:ext cx="0" cy="128016"/>
          </a:xfrm>
          <a:prstGeom prst="line">
            <a:avLst/>
          </a:prstGeom>
          <a:noFill/>
          <a:ln w="19050">
            <a:solidFill>
              <a:srgbClr val="E6E6F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566928" y="5376672"/>
            <a:ext cx="566928" cy="566928"/>
          </a:xfrm>
          <a:prstGeom prst="ellipse">
            <a:avLst/>
          </a:prstGeom>
          <a:solidFill>
            <a:srgbClr val="2E9C68"/>
          </a:solidFill>
          <a:ln/>
        </p:spPr>
      </p:sp>
      <p:sp>
        <p:nvSpPr>
          <p:cNvPr id="37" name="Text 35"/>
          <p:cNvSpPr txBox="1"/>
          <p:nvPr/>
        </p:nvSpPr>
        <p:spPr>
          <a:xfrm>
            <a:off x="566928" y="537667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38" name="Text 36"/>
          <p:cNvSpPr txBox="1"/>
          <p:nvPr/>
        </p:nvSpPr>
        <p:spPr>
          <a:xfrm>
            <a:off x="1435608" y="5321808"/>
            <a:ext cx="85953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1F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5 — Production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6E71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audit, performance testing, store prep, deployment, monitoring, backup, analytics</a:t>
            </a:r>
            <a:endParaRPr lang="en-US" sz="1250" dirty="0"/>
          </a:p>
        </p:txBody>
      </p:sp>
      <p:sp>
        <p:nvSpPr>
          <p:cNvPr id="39" name="Shape 37"/>
          <p:cNvSpPr/>
          <p:nvPr/>
        </p:nvSpPr>
        <p:spPr>
          <a:xfrm>
            <a:off x="10253167" y="5468112"/>
            <a:ext cx="1371600" cy="420624"/>
          </a:xfrm>
          <a:prstGeom prst="roundRect">
            <a:avLst>
              <a:gd name="adj" fmla="val 21739"/>
            </a:avLst>
          </a:prstGeom>
          <a:solidFill>
            <a:srgbClr val="E4F4EC"/>
          </a:solidFill>
          <a:ln w="12700">
            <a:solidFill>
              <a:srgbClr val="2E9C68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10253167" y="5468112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E9C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3–4 wks</a:t>
            </a:r>
            <a:endParaRPr lang="en-US" sz="950" dirty="0"/>
          </a:p>
        </p:txBody>
      </p:sp>
      <p:sp>
        <p:nvSpPr>
          <p:cNvPr id="41" name="Text 39"/>
          <p:cNvSpPr txBox="1"/>
          <p:nvPr/>
        </p:nvSpPr>
        <p:spPr>
          <a:xfrm>
            <a:off x="566928" y="6144768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E71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Indicative per-phase effort — see the next slide for the full breakdown.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02336"/>
            <a:ext cx="1105783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E23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TIMELINE &amp; EFFORT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58368"/>
            <a:ext cx="11057839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F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initial planning estimate</a:t>
            </a:r>
            <a:endParaRPr lang="en-US" sz="29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6E71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MGS</a:t>
            </a:r>
            <a:pPr algn="l" indent="0" marL="0">
              <a:buNone/>
            </a:pPr>
            <a:r>
              <a:rPr lang="en-US" sz="850" dirty="0">
                <a:solidFill>
                  <a:srgbClr val="6E71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|   Dating Application — Technology &amp; Architecture Proposal</a:t>
            </a:r>
            <a:endParaRPr lang="en-US" sz="850" dirty="0"/>
          </a:p>
        </p:txBody>
      </p:sp>
      <p:sp>
        <p:nvSpPr>
          <p:cNvPr id="5" name="Text 3"/>
          <p:cNvSpPr txBox="1"/>
          <p:nvPr/>
        </p:nvSpPr>
        <p:spPr>
          <a:xfrm>
            <a:off x="10893247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E71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850" dirty="0"/>
          </a:p>
        </p:txBody>
      </p:sp>
      <p:graphicFrame>
        <p:nvGraphicFramePr>
          <p:cNvPr id="2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828800"/>
          <a:ext cx="6583680" cy="914400"/>
        </p:xfrm>
        <a:graphic>
          <a:graphicData uri="http://schemas.openxmlformats.org/drawingml/2006/table">
            <a:tbl>
              <a:tblPr/>
              <a:tblGrid>
                <a:gridCol w="4206240"/>
                <a:gridCol w="2377440"/>
              </a:tblGrid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Phase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6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1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Estimated duration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6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138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436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Requirements + UI/UX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6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3436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2–3 weeks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6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B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436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Architecture + Database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6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3436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1–2 weeks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6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436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MVP development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6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3436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6–8 weeks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6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B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436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Premium features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6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3436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3–4 weeks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6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436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Communication / calls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6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3436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2–3 weeks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6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B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436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 features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6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3436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3–4 weeks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6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436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Testing &amp; security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6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3436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2–3 weeks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6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B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436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Deployment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6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3436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week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6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7406640" y="1828800"/>
            <a:ext cx="4206240" cy="1920240"/>
          </a:xfrm>
          <a:prstGeom prst="roundRect">
            <a:avLst>
              <a:gd name="adj" fmla="val 4762"/>
            </a:avLst>
          </a:prstGeom>
          <a:solidFill>
            <a:srgbClr val="FBE7EC"/>
          </a:solidFill>
          <a:ln w="12700">
            <a:solidFill>
              <a:srgbClr val="FBE7EC"/>
            </a:solidFill>
            <a:prstDash val="solid"/>
          </a:ln>
          <a:effectLst>
            <a:outerShdw sx="100000" sy="100000" kx="0" ky="0" algn="bl" rotWithShape="0" blurRad="88900" dist="25400" dir="5400000">
              <a:srgbClr val="9A9AB5">
                <a:alpha val="22000"/>
              </a:srgbClr>
            </a:outerShdw>
          </a:effectLst>
        </p:spPr>
      </p:sp>
      <p:sp>
        <p:nvSpPr>
          <p:cNvPr id="8" name="Text 5"/>
          <p:cNvSpPr txBox="1"/>
          <p:nvPr/>
        </p:nvSpPr>
        <p:spPr>
          <a:xfrm>
            <a:off x="7406640" y="1965960"/>
            <a:ext cx="4206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E23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20–28</a:t>
            </a:r>
            <a:endParaRPr lang="en-US" sz="4000" dirty="0"/>
          </a:p>
        </p:txBody>
      </p:sp>
      <p:sp>
        <p:nvSpPr>
          <p:cNvPr id="9" name="Text 6"/>
          <p:cNvSpPr txBox="1"/>
          <p:nvPr/>
        </p:nvSpPr>
        <p:spPr>
          <a:xfrm>
            <a:off x="7406640" y="292608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436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total, end to end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7406640" y="3977640"/>
            <a:ext cx="4206240" cy="1920240"/>
          </a:xfrm>
          <a:prstGeom prst="roundRect">
            <a:avLst>
              <a:gd name="adj" fmla="val 4762"/>
            </a:avLst>
          </a:prstGeom>
          <a:solidFill>
            <a:srgbClr val="F7F7FB"/>
          </a:solidFill>
          <a:ln w="12700">
            <a:solidFill>
              <a:srgbClr val="E6E6F0"/>
            </a:solidFill>
            <a:prstDash val="solid"/>
          </a:ln>
          <a:effectLst>
            <a:outerShdw sx="100000" sy="100000" kx="0" ky="0" algn="bl" rotWithShape="0" blurRad="88900" dist="25400" dir="5400000">
              <a:srgbClr val="9A9AB5">
                <a:alpha val="22000"/>
              </a:srgbClr>
            </a:outerShdw>
          </a:effectLst>
        </p:spPr>
      </p:sp>
      <p:sp>
        <p:nvSpPr>
          <p:cNvPr id="11" name="Text 8"/>
          <p:cNvSpPr txBox="1"/>
          <p:nvPr/>
        </p:nvSpPr>
        <p:spPr>
          <a:xfrm>
            <a:off x="7635240" y="4160520"/>
            <a:ext cx="37490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1F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 fixed commitment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3436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duration is set after the client confirms scope, UI/UX, integrations and subscription requirements.</a:t>
            </a:r>
            <a:endParaRPr lang="en-US" sz="11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02336"/>
            <a:ext cx="1105783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E23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WE START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58368"/>
            <a:ext cx="11057839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F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decisions required</a:t>
            </a:r>
            <a:endParaRPr lang="en-US" sz="29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6E71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MGS</a:t>
            </a:r>
            <a:pPr algn="l" indent="0" marL="0">
              <a:buNone/>
            </a:pPr>
            <a:r>
              <a:rPr lang="en-US" sz="850" dirty="0">
                <a:solidFill>
                  <a:srgbClr val="6E71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|   Dating Application — Technology &amp; Architecture Proposal</a:t>
            </a:r>
            <a:endParaRPr lang="en-US" sz="850" dirty="0"/>
          </a:p>
        </p:txBody>
      </p:sp>
      <p:sp>
        <p:nvSpPr>
          <p:cNvPr id="5" name="Text 3"/>
          <p:cNvSpPr txBox="1"/>
          <p:nvPr/>
        </p:nvSpPr>
        <p:spPr>
          <a:xfrm>
            <a:off x="10893247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E71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566928" y="1783080"/>
            <a:ext cx="3611880" cy="1815084"/>
          </a:xfrm>
          <a:prstGeom prst="roundRect">
            <a:avLst>
              <a:gd name="adj" fmla="val 5038"/>
            </a:avLst>
          </a:prstGeom>
          <a:solidFill>
            <a:srgbClr val="F7F7FB"/>
          </a:solidFill>
          <a:ln w="12700">
            <a:solidFill>
              <a:srgbClr val="E6E6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68096" y="1956816"/>
            <a:ext cx="118872" cy="118872"/>
          </a:xfrm>
          <a:prstGeom prst="roundRect">
            <a:avLst>
              <a:gd name="adj" fmla="val 23077"/>
            </a:avLst>
          </a:prstGeom>
          <a:solidFill>
            <a:srgbClr val="E23A63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87552" y="1883664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E23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841248" y="2221992"/>
            <a:ext cx="3154680" cy="1303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3436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Exact target niche / community</a:t>
            </a:r>
            <a:endParaRPr lang="en-US" sz="9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3436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Brand name</a:t>
            </a:r>
            <a:endParaRPr lang="en-US" sz="9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3436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Countries for initial launch</a:t>
            </a:r>
            <a:endParaRPr lang="en-US" sz="9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3436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Age restrictions</a:t>
            </a:r>
            <a:endParaRPr lang="en-US" sz="9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3436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Relationship categories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566928" y="3726180"/>
            <a:ext cx="3611880" cy="1815084"/>
          </a:xfrm>
          <a:prstGeom prst="roundRect">
            <a:avLst>
              <a:gd name="adj" fmla="val 5038"/>
            </a:avLst>
          </a:prstGeom>
          <a:solidFill>
            <a:srgbClr val="F7F7FB"/>
          </a:solidFill>
          <a:ln w="12700">
            <a:solidFill>
              <a:srgbClr val="E6E6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68096" y="3899916"/>
            <a:ext cx="118872" cy="118872"/>
          </a:xfrm>
          <a:prstGeom prst="roundRect">
            <a:avLst>
              <a:gd name="adj" fmla="val 23077"/>
            </a:avLst>
          </a:prstGeom>
          <a:solidFill>
            <a:srgbClr val="0E9AA0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987552" y="3826764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E9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MATCHING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841248" y="4165092"/>
            <a:ext cx="3154680" cy="1303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3436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 Gender options</a:t>
            </a:r>
            <a:endParaRPr lang="en-US" sz="9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3436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 Age range</a:t>
            </a:r>
            <a:endParaRPr lang="en-US" sz="9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3436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  Distance range</a:t>
            </a:r>
            <a:endParaRPr lang="en-US" sz="9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3436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  Matching criteria</a:t>
            </a:r>
            <a:endParaRPr lang="en-US" sz="9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3436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  Advanced filters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343400" y="1783080"/>
            <a:ext cx="3611880" cy="1815084"/>
          </a:xfrm>
          <a:prstGeom prst="roundRect">
            <a:avLst>
              <a:gd name="adj" fmla="val 5038"/>
            </a:avLst>
          </a:prstGeom>
          <a:solidFill>
            <a:srgbClr val="F7F7FB"/>
          </a:solidFill>
          <a:ln w="12700">
            <a:solidFill>
              <a:srgbClr val="E6E6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44568" y="1956816"/>
            <a:ext cx="118872" cy="118872"/>
          </a:xfrm>
          <a:prstGeom prst="roundRect">
            <a:avLst>
              <a:gd name="adj" fmla="val 23077"/>
            </a:avLst>
          </a:prstGeom>
          <a:solidFill>
            <a:srgbClr val="0E9AA0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4764024" y="1883664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E9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4617720" y="2221992"/>
            <a:ext cx="3154680" cy="1303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3436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  Number of subscription plans</a:t>
            </a:r>
            <a:endParaRPr lang="en-US" sz="9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3436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12.  Pricing</a:t>
            </a:r>
            <a:endParaRPr lang="en-US" sz="9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3436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13.  Premium benefits</a:t>
            </a:r>
            <a:endParaRPr lang="en-US" sz="9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3436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14.  Boost system</a:t>
            </a:r>
            <a:endParaRPr lang="en-US" sz="9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3436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15.  Unmatched-messaging rules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343400" y="3726180"/>
            <a:ext cx="3611880" cy="1815084"/>
          </a:xfrm>
          <a:prstGeom prst="roundRect">
            <a:avLst>
              <a:gd name="adj" fmla="val 5038"/>
            </a:avLst>
          </a:prstGeom>
          <a:solidFill>
            <a:srgbClr val="F7F7FB"/>
          </a:solidFill>
          <a:ln w="12700">
            <a:solidFill>
              <a:srgbClr val="E6E6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544568" y="3899916"/>
            <a:ext cx="118872" cy="118872"/>
          </a:xfrm>
          <a:prstGeom prst="roundRect">
            <a:avLst>
              <a:gd name="adj" fmla="val 23077"/>
            </a:avLst>
          </a:prstGeom>
          <a:solidFill>
            <a:srgbClr val="4A5AD8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4764024" y="3826764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4A5A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COMMUNICATION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4617720" y="4165092"/>
            <a:ext cx="3154680" cy="1303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3436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16.  Voice notes?</a:t>
            </a:r>
            <a:endParaRPr lang="en-US" sz="9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3436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17.  GIFs?</a:t>
            </a:r>
            <a:endParaRPr lang="en-US" sz="9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3436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18.  Photo sharing?</a:t>
            </a:r>
            <a:endParaRPr lang="en-US" sz="9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3436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19.  Voice calls?</a:t>
            </a:r>
            <a:endParaRPr lang="en-US" sz="9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3436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20.  Video calls?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8119872" y="1783080"/>
            <a:ext cx="3611880" cy="1293876"/>
          </a:xfrm>
          <a:prstGeom prst="roundRect">
            <a:avLst>
              <a:gd name="adj" fmla="val 7067"/>
            </a:avLst>
          </a:prstGeom>
          <a:solidFill>
            <a:srgbClr val="F7F7FB"/>
          </a:solidFill>
          <a:ln w="12700">
            <a:solidFill>
              <a:srgbClr val="E6E6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321040" y="1956816"/>
            <a:ext cx="118872" cy="118872"/>
          </a:xfrm>
          <a:prstGeom prst="roundRect">
            <a:avLst>
              <a:gd name="adj" fmla="val 23077"/>
            </a:avLst>
          </a:prstGeom>
          <a:solidFill>
            <a:srgbClr val="4A5AD8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8540496" y="1883664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4A5A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</a:t>
            </a:r>
            <a:endParaRPr lang="en-US" sz="1000" dirty="0"/>
          </a:p>
        </p:txBody>
      </p:sp>
      <p:sp>
        <p:nvSpPr>
          <p:cNvPr id="25" name="Text 23"/>
          <p:cNvSpPr txBox="1"/>
          <p:nvPr/>
        </p:nvSpPr>
        <p:spPr>
          <a:xfrm>
            <a:off x="8394192" y="2221992"/>
            <a:ext cx="3154680" cy="7818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3436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21.  AI verification?</a:t>
            </a:r>
            <a:endParaRPr lang="en-US" sz="9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3436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22.  Manual verification?</a:t>
            </a:r>
            <a:endParaRPr lang="en-US" sz="9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3436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23.  ID verification?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8119872" y="3204972"/>
            <a:ext cx="3611880" cy="1293876"/>
          </a:xfrm>
          <a:prstGeom prst="roundRect">
            <a:avLst>
              <a:gd name="adj" fmla="val 7067"/>
            </a:avLst>
          </a:prstGeom>
          <a:solidFill>
            <a:srgbClr val="F7F7FB"/>
          </a:solidFill>
          <a:ln w="12700">
            <a:solidFill>
              <a:srgbClr val="E6E6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321040" y="3378708"/>
            <a:ext cx="118872" cy="118872"/>
          </a:xfrm>
          <a:prstGeom prst="roundRect">
            <a:avLst>
              <a:gd name="adj" fmla="val 23077"/>
            </a:avLst>
          </a:prstGeom>
          <a:solidFill>
            <a:srgbClr val="D9832A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8540496" y="3305556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D98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endParaRPr lang="en-US" sz="1000" dirty="0"/>
          </a:p>
        </p:txBody>
      </p:sp>
      <p:sp>
        <p:nvSpPr>
          <p:cNvPr id="29" name="Text 27"/>
          <p:cNvSpPr txBox="1"/>
          <p:nvPr/>
        </p:nvSpPr>
        <p:spPr>
          <a:xfrm>
            <a:off x="8394192" y="3643884"/>
            <a:ext cx="3154680" cy="7818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3436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24.  AI compatibility score?</a:t>
            </a:r>
            <a:endParaRPr lang="en-US" sz="9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3436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25.  AI icebreakers?</a:t>
            </a:r>
            <a:endParaRPr lang="en-US" sz="9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3436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26.  AI profile assistance?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8119872" y="4626864"/>
            <a:ext cx="3611880" cy="1554480"/>
          </a:xfrm>
          <a:prstGeom prst="roundRect">
            <a:avLst>
              <a:gd name="adj" fmla="val 5882"/>
            </a:avLst>
          </a:prstGeom>
          <a:solidFill>
            <a:srgbClr val="F7F7FB"/>
          </a:solidFill>
          <a:ln w="12700">
            <a:solidFill>
              <a:srgbClr val="E6E6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321040" y="4800600"/>
            <a:ext cx="118872" cy="118872"/>
          </a:xfrm>
          <a:prstGeom prst="roundRect">
            <a:avLst>
              <a:gd name="adj" fmla="val 23077"/>
            </a:avLst>
          </a:prstGeom>
          <a:solidFill>
            <a:srgbClr val="8A3FB5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8540496" y="4727448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8A3F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</a:t>
            </a:r>
            <a:endParaRPr lang="en-US" sz="1000" dirty="0"/>
          </a:p>
        </p:txBody>
      </p:sp>
      <p:sp>
        <p:nvSpPr>
          <p:cNvPr id="33" name="Text 31"/>
          <p:cNvSpPr txBox="1"/>
          <p:nvPr/>
        </p:nvSpPr>
        <p:spPr>
          <a:xfrm>
            <a:off x="8394192" y="5065776"/>
            <a:ext cx="3154680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3436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27.  Payment gateway</a:t>
            </a:r>
            <a:endParaRPr lang="en-US" sz="9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3436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28.  Store subscription strategy</a:t>
            </a:r>
            <a:endParaRPr lang="en-US" sz="9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3436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29.  Admin users</a:t>
            </a:r>
            <a:endParaRPr lang="en-US" sz="9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3436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30.  Launch date</a:t>
            </a:r>
            <a:endParaRPr lang="en-US" sz="950" dirty="0"/>
          </a:p>
        </p:txBody>
      </p:sp>
      <p:sp>
        <p:nvSpPr>
          <p:cNvPr id="34" name="Text 32"/>
          <p:cNvSpPr txBox="1"/>
          <p:nvPr/>
        </p:nvSpPr>
        <p:spPr>
          <a:xfrm>
            <a:off x="566928" y="62179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E71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items in total — grouped for a single sign-off session.</a:t>
            </a:r>
            <a:endParaRPr lang="en-US" sz="9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1F21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alphaModFix amt="16000"/>
          </a:blip>
          <a:stretch>
            <a:fillRect/>
          </a:stretch>
        </p:blipFill>
        <p:spPr>
          <a:xfrm>
            <a:off x="8686800" y="1920240"/>
            <a:ext cx="5486400" cy="54864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66928" y="2788920"/>
            <a:ext cx="402336" cy="402336"/>
          </a:xfrm>
          <a:prstGeom prst="ellipse">
            <a:avLst/>
          </a:prstGeom>
          <a:solidFill>
            <a:srgbClr val="E23A63"/>
          </a:solidFill>
          <a:ln/>
        </p:spPr>
      </p:sp>
      <p:sp>
        <p:nvSpPr>
          <p:cNvPr id="4" name="Text 1"/>
          <p:cNvSpPr txBox="1"/>
          <p:nvPr/>
        </p:nvSpPr>
        <p:spPr>
          <a:xfrm>
            <a:off x="1133856" y="274320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MGS</a:t>
            </a:r>
            <a:endParaRPr lang="en-US" sz="1300" dirty="0"/>
          </a:p>
        </p:txBody>
      </p:sp>
      <p:sp>
        <p:nvSpPr>
          <p:cNvPr id="5" name="Text 2"/>
          <p:cNvSpPr txBox="1"/>
          <p:nvPr/>
        </p:nvSpPr>
        <p:spPr>
          <a:xfrm>
            <a:off x="566928" y="3200400"/>
            <a:ext cx="10058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5400" dirty="0"/>
          </a:p>
        </p:txBody>
      </p:sp>
      <p:sp>
        <p:nvSpPr>
          <p:cNvPr id="6" name="Text 3"/>
          <p:cNvSpPr txBox="1"/>
          <p:nvPr/>
        </p:nvSpPr>
        <p:spPr>
          <a:xfrm>
            <a:off x="566928" y="443484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9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Dating Application — Technology &amp; Architecture Proposal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29</Slides>
  <Notes>29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</vt:vector>
  </TitlesOfParts>
  <Company>MGS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Dating Application — Technology &amp; Architecture Proposal</dc:title>
  <dc:subject>PptxGenJS Presentation</dc:subject>
  <dc:creator>MGS</dc:creator>
  <cp:lastModifiedBy>MGS</cp:lastModifiedBy>
  <cp:revision>1</cp:revision>
  <dcterms:created xsi:type="dcterms:W3CDTF">2026-09-04T04:32:23Z</dcterms:created>
  <dcterms:modified xsi:type="dcterms:W3CDTF">2026-09-04T04:32:23Z</dcterms:modified>
</cp:coreProperties>
</file>